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10"/>
  </p:notesMasterIdLst>
  <p:sldIdLst>
    <p:sldId id="317" r:id="rId2"/>
    <p:sldId id="316" r:id="rId3"/>
    <p:sldId id="266" r:id="rId4"/>
    <p:sldId id="282" r:id="rId5"/>
    <p:sldId id="281" r:id="rId6"/>
    <p:sldId id="264" r:id="rId7"/>
    <p:sldId id="276" r:id="rId8"/>
    <p:sldId id="28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3"/>
    <p:restoredTop sz="92409"/>
  </p:normalViewPr>
  <p:slideViewPr>
    <p:cSldViewPr snapToGrid="0" snapToObjects="1">
      <p:cViewPr varScale="1">
        <p:scale>
          <a:sx n="109" d="100"/>
          <a:sy n="109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4/29/22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github.com/bitcoin" TargetMode="External"/><Relationship Id="rId7" Type="http://schemas.openxmlformats.org/officeDocument/2006/relationships/hyperlink" Target="https://bitcoincore.org/en/downloa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itcoin.org/en/choose-your-wallet" TargetMode="External"/><Relationship Id="rId5" Type="http://schemas.openxmlformats.org/officeDocument/2006/relationships/hyperlink" Target="https://bitcoin.org/" TargetMode="External"/><Relationship Id="rId4" Type="http://schemas.openxmlformats.org/officeDocument/2006/relationships/hyperlink" Target="https://bitcoincore.org/" TargetMode="External"/><Relationship Id="rId9" Type="http://schemas.openxmlformats.org/officeDocument/2006/relationships/hyperlink" Target="https://bitcoin.org/en/choose-your-wallet?step=5&amp;platform=mac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iphi.io/en/blog/software-wallet-analysi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taMask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s://metamask.io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trezor.io/" TargetMode="External"/><Relationship Id="rId7" Type="http://schemas.openxmlformats.org/officeDocument/2006/relationships/image" Target="../media/image20.png"/><Relationship Id="rId2" Type="http://schemas.openxmlformats.org/officeDocument/2006/relationships/hyperlink" Target="https://www.ledger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hyperlink" Target="https://safepal.io/" TargetMode="External"/><Relationship Id="rId4" Type="http://schemas.openxmlformats.org/officeDocument/2006/relationships/hyperlink" Target="https://www.getarculus.com/" TargetMode="External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E0788A-9EBD-7E93-0696-EF176F522B85}"/>
              </a:ext>
            </a:extLst>
          </p:cNvPr>
          <p:cNvSpPr txBox="1"/>
          <p:nvPr/>
        </p:nvSpPr>
        <p:spPr>
          <a:xfrm>
            <a:off x="2250831" y="2708030"/>
            <a:ext cx="7233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/>
              <a:t>Crypto Wallets</a:t>
            </a:r>
          </a:p>
        </p:txBody>
      </p:sp>
    </p:spTree>
    <p:extLst>
      <p:ext uri="{BB962C8B-B14F-4D97-AF65-F5344CB8AC3E}">
        <p14:creationId xmlns:p14="http://schemas.microsoft.com/office/powerpoint/2010/main" val="246954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75C187-42F0-97C5-A7D3-9794D52E83B8}"/>
              </a:ext>
            </a:extLst>
          </p:cNvPr>
          <p:cNvSpPr txBox="1"/>
          <p:nvPr/>
        </p:nvSpPr>
        <p:spPr>
          <a:xfrm>
            <a:off x="101600" y="822960"/>
            <a:ext cx="4348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https://github.com/bitcoin</a:t>
            </a:r>
            <a:r>
              <a:rPr lang="en-US" sz="1400"/>
              <a:t> – bitcoin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https://bitcoincore.org/</a:t>
            </a:r>
            <a:r>
              <a:rPr lang="en-US" sz="1400"/>
              <a:t> - downloadable binaries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5"/>
              </a:rPr>
              <a:t>https://bitcoin.org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https://bitcoin.org/en/choose-your-wallet</a:t>
            </a:r>
            <a:r>
              <a:rPr lang="en-US" sz="1400"/>
              <a:t>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7D106-328D-1E16-FF20-B27EE1128845}"/>
              </a:ext>
            </a:extLst>
          </p:cNvPr>
          <p:cNvSpPr txBox="1"/>
          <p:nvPr/>
        </p:nvSpPr>
        <p:spPr>
          <a:xfrm>
            <a:off x="0" y="0"/>
            <a:ext cx="267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Bitcoin Wallets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65DC5-E2D9-F61B-A567-16E87971217E}"/>
              </a:ext>
            </a:extLst>
          </p:cNvPr>
          <p:cNvSpPr txBox="1"/>
          <p:nvPr/>
        </p:nvSpPr>
        <p:spPr>
          <a:xfrm>
            <a:off x="196950" y="2305615"/>
            <a:ext cx="58990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send/receive bitcoin on bitcoin network you need a wallet. </a:t>
            </a:r>
            <a:br>
              <a:rPr lang="en-US" sz="1400"/>
            </a:br>
            <a:r>
              <a:rPr lang="en-US" sz="1400"/>
              <a:t>Bitcoin provides its own wallet called "</a:t>
            </a: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". </a:t>
            </a:r>
            <a:br>
              <a:rPr lang="en-US" sz="1400"/>
            </a:br>
            <a:r>
              <a:rPr lang="en-US" sz="1400"/>
              <a:t>You can download it from:</a:t>
            </a:r>
            <a:br>
              <a:rPr lang="en-US" sz="1400"/>
            </a:br>
            <a:r>
              <a:rPr lang="en-US" sz="1400"/>
              <a:t>     </a:t>
            </a:r>
            <a:r>
              <a:rPr lang="en-US" sz="1400">
                <a:hlinkClick r:id="rId7"/>
              </a:rPr>
              <a:t>https://bitcoincore.org/en/download/</a:t>
            </a:r>
            <a:endParaRPr lang="en-US" sz="1400"/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is an application that provides a personal Bitcoin wallet and allows a user to send and receive bitcoins.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is a </a:t>
            </a:r>
            <a:r>
              <a:rPr lang="en-US" sz="1400" b="1">
                <a:solidFill>
                  <a:srgbClr val="00B050"/>
                </a:solidFill>
              </a:rPr>
              <a:t>full Bitcoin client</a:t>
            </a:r>
            <a:r>
              <a:rPr lang="en-US" sz="1400"/>
              <a:t> and can download the whole bitcoin blockchain from the beginning of times (~200 GB).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nodes build the backbone of the network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Bitcoin Core</a:t>
            </a:r>
            <a:r>
              <a:rPr lang="en-US" sz="1400"/>
              <a:t> offers high levels of security, privacy, and stability. </a:t>
            </a:r>
            <a:br>
              <a:rPr lang="en-US" sz="1400"/>
            </a:br>
            <a:r>
              <a:rPr lang="en-US" sz="1400"/>
              <a:t>However, it has fewer features and it takes a lot of space and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92002-0C3B-CB92-51EB-BAFE3187F79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2482" y="1019908"/>
            <a:ext cx="5867918" cy="5735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2A9575-F217-4A40-7E1E-C40A76B5548A}"/>
              </a:ext>
            </a:extLst>
          </p:cNvPr>
          <p:cNvSpPr txBox="1"/>
          <p:nvPr/>
        </p:nvSpPr>
        <p:spPr>
          <a:xfrm>
            <a:off x="7405858" y="292387"/>
            <a:ext cx="383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Choose your wallet – on bitcoin.org:</a:t>
            </a:r>
          </a:p>
          <a:p>
            <a:r>
              <a:rPr lang="en-US" sz="1000">
                <a:hlinkClick r:id="rId9"/>
              </a:rPr>
              <a:t>https://bitcoin.org/en/choose-your-wallet?step=5&amp;platform=mac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1834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507CB-39E8-0348-90FA-E4E4971266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6537" y="1069741"/>
            <a:ext cx="11358925" cy="4718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475CF-2613-4840-95C2-352246822EC8}"/>
              </a:ext>
            </a:extLst>
          </p:cNvPr>
          <p:cNvSpPr txBox="1"/>
          <p:nvPr/>
        </p:nvSpPr>
        <p:spPr>
          <a:xfrm>
            <a:off x="2547257" y="68416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F0B1C-221D-B845-9C05-E49E881FC13D}"/>
              </a:ext>
            </a:extLst>
          </p:cNvPr>
          <p:cNvSpPr txBox="1"/>
          <p:nvPr/>
        </p:nvSpPr>
        <p:spPr>
          <a:xfrm>
            <a:off x="3885288" y="5991263"/>
            <a:ext cx="382733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Analysis done by </a:t>
            </a:r>
            <a:r>
              <a:rPr lang="en-US" sz="1400" dirty="0" err="1"/>
              <a:t>Veriphi</a:t>
            </a:r>
            <a:r>
              <a:rPr lang="en-US" sz="1400" dirty="0"/>
              <a:t>: </a:t>
            </a:r>
            <a:br>
              <a:rPr lang="en-US" dirty="0"/>
            </a:br>
            <a:r>
              <a:rPr lang="en-US" sz="1200" dirty="0"/>
              <a:t>.. </a:t>
            </a:r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www.veriphi.io</a:t>
            </a:r>
            <a:r>
              <a:rPr lang="en-US" sz="1200" dirty="0">
                <a:hlinkClick r:id="rId3"/>
              </a:rPr>
              <a:t>/</a:t>
            </a:r>
            <a:r>
              <a:rPr lang="en-US" sz="1200" dirty="0" err="1">
                <a:hlinkClick r:id="rId3"/>
              </a:rPr>
              <a:t>en</a:t>
            </a:r>
            <a:r>
              <a:rPr lang="en-US" sz="1200" dirty="0">
                <a:hlinkClick r:id="rId3"/>
              </a:rPr>
              <a:t>/blog/software-wallet-analysis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398E17-E066-E0FC-7BD7-020BC9A6F35C}"/>
              </a:ext>
            </a:extLst>
          </p:cNvPr>
          <p:cNvSpPr txBox="1"/>
          <p:nvPr/>
        </p:nvSpPr>
        <p:spPr>
          <a:xfrm>
            <a:off x="98854" y="0"/>
            <a:ext cx="4349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Wallet Comparisons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D4B5B-6802-2D92-635D-5C5EB1559385}"/>
              </a:ext>
            </a:extLst>
          </p:cNvPr>
          <p:cNvSpPr txBox="1"/>
          <p:nvPr/>
        </p:nvSpPr>
        <p:spPr>
          <a:xfrm>
            <a:off x="10309813" y="645117"/>
            <a:ext cx="89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Worst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CD484-5760-B321-64A1-BC13B89A02B9}"/>
              </a:ext>
            </a:extLst>
          </p:cNvPr>
          <p:cNvSpPr txBox="1"/>
          <p:nvPr/>
        </p:nvSpPr>
        <p:spPr>
          <a:xfrm>
            <a:off x="2190897" y="678071"/>
            <a:ext cx="89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52297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43F1-39FC-B446-BCF9-38C04967543B}"/>
              </a:ext>
            </a:extLst>
          </p:cNvPr>
          <p:cNvSpPr txBox="1"/>
          <p:nvPr/>
        </p:nvSpPr>
        <p:spPr>
          <a:xfrm>
            <a:off x="2" y="1"/>
            <a:ext cx="4930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Types of Crypto Wallets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DA55C-C2D6-A2D4-DB7A-8AA34B531775}"/>
              </a:ext>
            </a:extLst>
          </p:cNvPr>
          <p:cNvSpPr txBox="1"/>
          <p:nvPr/>
        </p:nvSpPr>
        <p:spPr>
          <a:xfrm>
            <a:off x="269632" y="1777272"/>
            <a:ext cx="31880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Desktop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Mobile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Browser plugin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Hardware (usb,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Paper (address, keys, QR-code)</a:t>
            </a:r>
          </a:p>
        </p:txBody>
      </p:sp>
      <p:pic>
        <p:nvPicPr>
          <p:cNvPr id="4" name="Picture 32" descr="17 Best Hardware Wallets In 2022!">
            <a:extLst>
              <a:ext uri="{FF2B5EF4-FFF2-40B4-BE49-F238E27FC236}">
                <a16:creationId xmlns:a16="http://schemas.microsoft.com/office/drawing/2014/main" id="{DE0B52E5-6D68-44E1-2AD8-0F0F79C55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37084" y="2602025"/>
            <a:ext cx="1766393" cy="132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1715C1-CDFA-5BFA-A877-9C3C0C2EB98B}"/>
              </a:ext>
            </a:extLst>
          </p:cNvPr>
          <p:cNvSpPr txBox="1"/>
          <p:nvPr/>
        </p:nvSpPr>
        <p:spPr>
          <a:xfrm>
            <a:off x="253314" y="4158460"/>
            <a:ext cx="442371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Hot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Connected to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be accessed online or through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More susceptible to hacking attacks</a:t>
            </a:r>
          </a:p>
          <a:p>
            <a:endParaRPr lang="en-US" sz="1400"/>
          </a:p>
          <a:p>
            <a:r>
              <a:rPr lang="en-US" b="1">
                <a:solidFill>
                  <a:srgbClr val="00B050"/>
                </a:solidFill>
              </a:rPr>
              <a:t>Cold Wallets: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Wallets that has to be connected to computer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Also called "offline" wallets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Loosing it or forgetting passwords are biggest risks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813DE-ACF4-04AA-7FC5-B259CD6DA664}"/>
              </a:ext>
            </a:extLst>
          </p:cNvPr>
          <p:cNvSpPr txBox="1"/>
          <p:nvPr/>
        </p:nvSpPr>
        <p:spPr>
          <a:xfrm>
            <a:off x="269632" y="668215"/>
            <a:ext cx="381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There are many different blockchain networks.</a:t>
            </a:r>
          </a:p>
          <a:p>
            <a:r>
              <a:rPr lang="en-US" sz="1400"/>
              <a:t>They have their own wallets.</a:t>
            </a:r>
          </a:p>
          <a:p>
            <a:r>
              <a:rPr lang="en-US" sz="1400"/>
              <a:t>There are different types of wallets.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D5DD3-7BCB-F4CB-C716-7DD6BDFC66F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9050" y="1406879"/>
            <a:ext cx="886387" cy="83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6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843F1-39FC-B446-BCF9-38C04967543B}"/>
              </a:ext>
            </a:extLst>
          </p:cNvPr>
          <p:cNvSpPr txBox="1"/>
          <p:nvPr/>
        </p:nvSpPr>
        <p:spPr>
          <a:xfrm>
            <a:off x="2" y="1"/>
            <a:ext cx="4841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Wallet – address, keys, signing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DA55C-C2D6-A2D4-DB7A-8AA34B531775}"/>
              </a:ext>
            </a:extLst>
          </p:cNvPr>
          <p:cNvSpPr txBox="1"/>
          <p:nvPr/>
        </p:nvSpPr>
        <p:spPr>
          <a:xfrm>
            <a:off x="185351" y="1025611"/>
            <a:ext cx="113187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Bitcoin address and keys:</a:t>
            </a:r>
          </a:p>
          <a:p>
            <a:r>
              <a:rPr lang="en-US" sz="1400"/>
              <a:t>.. https://www.dummies.com/article/business-careers-money/personal-finance/cryptocurrency/bitcoin-public-private-keys-223627/</a:t>
            </a:r>
          </a:p>
          <a:p>
            <a:endParaRPr lang="en-US" sz="1400"/>
          </a:p>
          <a:p>
            <a:r>
              <a:rPr lang="en-US" sz="1400"/>
              <a:t>Explanation: </a:t>
            </a:r>
          </a:p>
          <a:p>
            <a:r>
              <a:rPr lang="en-US" sz="1400"/>
              <a:t>.. private key</a:t>
            </a:r>
          </a:p>
          <a:p>
            <a:r>
              <a:rPr lang="en-US" sz="1400"/>
              <a:t>.. public key (256 bits)</a:t>
            </a:r>
          </a:p>
          <a:p>
            <a:r>
              <a:rPr lang="en-US" sz="1400"/>
              <a:t>.. wallet address (hashed public key, 160 bits)</a:t>
            </a:r>
          </a:p>
          <a:p>
            <a:endParaRPr lang="en-US" sz="1400"/>
          </a:p>
          <a:p>
            <a:r>
              <a:rPr lang="en-US" sz="1400"/>
              <a:t>Signing a message with your bitcoin address</a:t>
            </a:r>
          </a:p>
          <a:p>
            <a:r>
              <a:rPr lang="en-US" sz="1400"/>
              <a:t>.. https://academy.bit2me.com/en/firmar-mensajes-bitcoin/</a:t>
            </a:r>
          </a:p>
          <a:p>
            <a:endParaRPr lang="en-US" sz="1400"/>
          </a:p>
          <a:p>
            <a:r>
              <a:rPr lang="en-US" sz="1400"/>
              <a:t>Most of the encryption in modern cryptocurrencies are built on elliptic curve cryptography rather than RSA, </a:t>
            </a:r>
          </a:p>
          <a:p>
            <a:r>
              <a:rPr lang="en-US" sz="1400"/>
              <a:t>especially in the generation of signatures in bitcoin which requires ECDSA.</a:t>
            </a:r>
          </a:p>
          <a:p>
            <a:r>
              <a:rPr lang="en-US" sz="1400"/>
              <a:t>.. https://www.forbes.com/sites/rogerhuang/2020/12/21/heres-why-quantum-computing-will-not-break-cryptocurrencies/?sh=6d34a72a167b</a:t>
            </a:r>
          </a:p>
          <a:p>
            <a:endParaRPr lang="en-US" sz="1400"/>
          </a:p>
          <a:p>
            <a:r>
              <a:rPr lang="en-US" sz="1400" dirty="0"/>
              <a:t>Elliptical Digital Signature Algorithm</a:t>
            </a:r>
            <a:endParaRPr lang="en-US" sz="1400"/>
          </a:p>
          <a:p>
            <a:r>
              <a:rPr lang="en-US" sz="1400"/>
              <a:t>.. </a:t>
            </a:r>
            <a:r>
              <a:rPr lang="en-US" sz="1400" dirty="0"/>
              <a:t>https://en.wikipedia.org/wiki/</a:t>
            </a:r>
            <a:r>
              <a:rPr lang="en-US" sz="1400" dirty="0" err="1"/>
              <a:t>Elliptic_Curve_Digital_Signature_Algorithm</a:t>
            </a:r>
            <a:endParaRPr lang="en-US" sz="1400" dirty="0"/>
          </a:p>
          <a:p>
            <a:endParaRPr lang="en-US" sz="1400"/>
          </a:p>
          <a:p>
            <a:r>
              <a:rPr lang="en-US" sz="1400"/>
              <a:t>”Burning Coins”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2708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814F-0488-4942-8BF6-DC490A8C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Public vs Private Key</a:t>
            </a:r>
          </a:p>
        </p:txBody>
      </p:sp>
      <p:pic>
        <p:nvPicPr>
          <p:cNvPr id="5" name="Graphic 4" descr="Old Key with solid fill">
            <a:extLst>
              <a:ext uri="{FF2B5EF4-FFF2-40B4-BE49-F238E27FC236}">
                <a16:creationId xmlns:a16="http://schemas.microsoft.com/office/drawing/2014/main" id="{6FC820C6-7F2A-1649-AA6A-0DE2E659E5F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2339" y="2147332"/>
            <a:ext cx="538166" cy="538166"/>
          </a:xfrm>
          <a:prstGeom prst="rect">
            <a:avLst/>
          </a:prstGeom>
        </p:spPr>
      </p:pic>
      <p:pic>
        <p:nvPicPr>
          <p:cNvPr id="6" name="Graphic 5" descr="Old Key outline">
            <a:extLst>
              <a:ext uri="{FF2B5EF4-FFF2-40B4-BE49-F238E27FC236}">
                <a16:creationId xmlns:a16="http://schemas.microsoft.com/office/drawing/2014/main" id="{416A130C-B6D0-0C47-87B6-7BE24CE1B65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5892" y="2147332"/>
            <a:ext cx="538166" cy="53816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B2A087-0A52-9440-9E45-F31E5F61784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070505" y="2416415"/>
            <a:ext cx="119538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Graphic 7" descr="Mailbox with solid fill">
            <a:extLst>
              <a:ext uri="{FF2B5EF4-FFF2-40B4-BE49-F238E27FC236}">
                <a16:creationId xmlns:a16="http://schemas.microsoft.com/office/drawing/2014/main" id="{D9E3BCAF-D57D-2E44-9402-8F77AAD0E88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0756" y="3258072"/>
            <a:ext cx="430719" cy="430719"/>
          </a:xfrm>
          <a:prstGeom prst="rect">
            <a:avLst/>
          </a:prstGeom>
        </p:spPr>
      </p:pic>
      <p:pic>
        <p:nvPicPr>
          <p:cNvPr id="9" name="Graphic 8" descr="Employee badge outline">
            <a:extLst>
              <a:ext uri="{FF2B5EF4-FFF2-40B4-BE49-F238E27FC236}">
                <a16:creationId xmlns:a16="http://schemas.microsoft.com/office/drawing/2014/main" id="{C9353079-AB35-E14A-9C24-0DB177CD6FE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8730" y="3257137"/>
            <a:ext cx="431654" cy="43165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31E980-EEA0-AD45-9DC8-2EE705A20563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7796116" y="2685498"/>
            <a:ext cx="5306" cy="5725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CBDA0D-2E00-4849-9D6D-DD0446FA7BC4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9534975" y="2685498"/>
            <a:ext cx="9582" cy="5716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63089A5-F958-7E4B-B562-F7C474EDDB06}"/>
              </a:ext>
            </a:extLst>
          </p:cNvPr>
          <p:cNvSpPr txBox="1"/>
          <p:nvPr/>
        </p:nvSpPr>
        <p:spPr>
          <a:xfrm>
            <a:off x="7496094" y="1690688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AE619-26D9-534C-BDD3-B2FDD674062E}"/>
              </a:ext>
            </a:extLst>
          </p:cNvPr>
          <p:cNvSpPr txBox="1"/>
          <p:nvPr/>
        </p:nvSpPr>
        <p:spPr>
          <a:xfrm>
            <a:off x="9117232" y="1695590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800A6-7E7C-2345-9A41-61EADE78D4DC}"/>
              </a:ext>
            </a:extLst>
          </p:cNvPr>
          <p:cNvSpPr txBox="1"/>
          <p:nvPr/>
        </p:nvSpPr>
        <p:spPr>
          <a:xfrm>
            <a:off x="7244489" y="3796238"/>
            <a:ext cx="1103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“Address”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121F2A-6C02-9548-B423-89AB267A0D46}"/>
              </a:ext>
            </a:extLst>
          </p:cNvPr>
          <p:cNvSpPr txBox="1"/>
          <p:nvPr/>
        </p:nvSpPr>
        <p:spPr>
          <a:xfrm>
            <a:off x="8852864" y="3828776"/>
            <a:ext cx="136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“House Key”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1AC64-BFA1-184A-BA49-BF2D2BB4C6CE}"/>
              </a:ext>
            </a:extLst>
          </p:cNvPr>
          <p:cNvSpPr txBox="1"/>
          <p:nvPr/>
        </p:nvSpPr>
        <p:spPr>
          <a:xfrm>
            <a:off x="671991" y="2039167"/>
            <a:ext cx="56509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Symmetric vs Asymmetric 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Private key enables send &amp; Public key enables receiving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Public key generates from private key. No vice versa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112EFC-66A8-7147-9611-1CE15DBED304}"/>
              </a:ext>
            </a:extLst>
          </p:cNvPr>
          <p:cNvSpPr txBox="1"/>
          <p:nvPr/>
        </p:nvSpPr>
        <p:spPr>
          <a:xfrm>
            <a:off x="1759147" y="4557009"/>
            <a:ext cx="456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01-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Malte sends 1 BTC to Martin</a:t>
            </a:r>
            <a:r>
              <a:rPr lang="en-US" dirty="0"/>
              <a:t>-</a:t>
            </a:r>
            <a:r>
              <a:rPr lang="en-US" dirty="0">
                <a:solidFill>
                  <a:srgbClr val="C00000"/>
                </a:solidFill>
              </a:rPr>
              <a:t>473ms22akkq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5F7D46-66E7-EE4E-8FFA-91BB1BC6089F}"/>
              </a:ext>
            </a:extLst>
          </p:cNvPr>
          <p:cNvCxnSpPr/>
          <p:nvPr/>
        </p:nvCxnSpPr>
        <p:spPr>
          <a:xfrm flipV="1">
            <a:off x="1759147" y="4926341"/>
            <a:ext cx="174584" cy="784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4761E8-67C6-D843-AD68-63B980694FC9}"/>
              </a:ext>
            </a:extLst>
          </p:cNvPr>
          <p:cNvCxnSpPr/>
          <p:nvPr/>
        </p:nvCxnSpPr>
        <p:spPr>
          <a:xfrm flipV="1">
            <a:off x="3612630" y="4926341"/>
            <a:ext cx="119921" cy="784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662B9F-7BC2-CE48-903B-F00807619D59}"/>
              </a:ext>
            </a:extLst>
          </p:cNvPr>
          <p:cNvCxnSpPr/>
          <p:nvPr/>
        </p:nvCxnSpPr>
        <p:spPr>
          <a:xfrm flipV="1">
            <a:off x="5411450" y="4926341"/>
            <a:ext cx="119921" cy="784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98E2C6-E805-C24D-9AB6-A71DC5C08D63}"/>
              </a:ext>
            </a:extLst>
          </p:cNvPr>
          <p:cNvSpPr txBox="1"/>
          <p:nvPr/>
        </p:nvSpPr>
        <p:spPr>
          <a:xfrm>
            <a:off x="744738" y="5895918"/>
            <a:ext cx="1777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Unique identifier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693D81-F26A-2F4C-B366-C8BE792D3410}"/>
              </a:ext>
            </a:extLst>
          </p:cNvPr>
          <p:cNvSpPr txBox="1"/>
          <p:nvPr/>
        </p:nvSpPr>
        <p:spPr>
          <a:xfrm>
            <a:off x="3077296" y="5921115"/>
            <a:ext cx="124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transaction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B25983-DCCF-8C44-9508-E19A15A8DC5E}"/>
              </a:ext>
            </a:extLst>
          </p:cNvPr>
          <p:cNvSpPr txBox="1"/>
          <p:nvPr/>
        </p:nvSpPr>
        <p:spPr>
          <a:xfrm>
            <a:off x="4850855" y="5921115"/>
            <a:ext cx="762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stamp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A55EA8-940B-C142-8619-CFD889578CDB}"/>
              </a:ext>
            </a:extLst>
          </p:cNvPr>
          <p:cNvCxnSpPr>
            <a:cxnSpLocks/>
          </p:cNvCxnSpPr>
          <p:nvPr/>
        </p:nvCxnSpPr>
        <p:spPr>
          <a:xfrm>
            <a:off x="5662572" y="6107854"/>
            <a:ext cx="4334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1F6604F-6D88-974C-8C4E-6AA69DA5E0AB}"/>
              </a:ext>
            </a:extLst>
          </p:cNvPr>
          <p:cNvSpPr txBox="1"/>
          <p:nvPr/>
        </p:nvSpPr>
        <p:spPr>
          <a:xfrm>
            <a:off x="6322897" y="5955880"/>
            <a:ext cx="2936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PrivateKey</a:t>
            </a:r>
            <a:r>
              <a:rPr lang="en-US" dirty="0"/>
              <a:t>(UID + transaction)</a:t>
            </a:r>
          </a:p>
        </p:txBody>
      </p:sp>
      <p:pic>
        <p:nvPicPr>
          <p:cNvPr id="29" name="Graphic 28" descr="Old Key with solid fill">
            <a:extLst>
              <a:ext uri="{FF2B5EF4-FFF2-40B4-BE49-F238E27FC236}">
                <a16:creationId xmlns:a16="http://schemas.microsoft.com/office/drawing/2014/main" id="{2333B70C-50DE-2E44-A79B-EB013737E8A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5096" y="5173086"/>
            <a:ext cx="538166" cy="538166"/>
          </a:xfrm>
          <a:prstGeom prst="rect">
            <a:avLst/>
          </a:prstGeom>
        </p:spPr>
      </p:pic>
      <p:pic>
        <p:nvPicPr>
          <p:cNvPr id="30" name="Graphic 29" descr="Users with solid fill">
            <a:extLst>
              <a:ext uri="{FF2B5EF4-FFF2-40B4-BE49-F238E27FC236}">
                <a16:creationId xmlns:a16="http://schemas.microsoft.com/office/drawing/2014/main" id="{C948B39E-ECC7-034B-9C00-D1AA6BDD56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92114" y="5041480"/>
            <a:ext cx="914400" cy="91440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AD8ED7-F7DD-6440-A712-E200BAD56D09}"/>
              </a:ext>
            </a:extLst>
          </p:cNvPr>
          <p:cNvCxnSpPr>
            <a:cxnSpLocks/>
            <a:stCxn id="29" idx="2"/>
            <a:endCxn id="27" idx="3"/>
          </p:cNvCxnSpPr>
          <p:nvPr/>
        </p:nvCxnSpPr>
        <p:spPr>
          <a:xfrm flipH="1">
            <a:off x="9259150" y="5711252"/>
            <a:ext cx="815029" cy="429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669DC17-CE2B-E64C-9935-706CD126CDD5}"/>
              </a:ext>
            </a:extLst>
          </p:cNvPr>
          <p:cNvSpPr txBox="1"/>
          <p:nvPr/>
        </p:nvSpPr>
        <p:spPr>
          <a:xfrm rot="19843804">
            <a:off x="9548549" y="5851623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validate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7094D4-C58C-9844-B226-17B63D0EE261}"/>
              </a:ext>
            </a:extLst>
          </p:cNvPr>
          <p:cNvSpPr txBox="1"/>
          <p:nvPr/>
        </p:nvSpPr>
        <p:spPr>
          <a:xfrm>
            <a:off x="934192" y="4014653"/>
            <a:ext cx="305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transaction structure: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4C86D8-5894-2840-86B0-7D72E9B55C91}"/>
              </a:ext>
            </a:extLst>
          </p:cNvPr>
          <p:cNvCxnSpPr>
            <a:cxnSpLocks/>
          </p:cNvCxnSpPr>
          <p:nvPr/>
        </p:nvCxnSpPr>
        <p:spPr>
          <a:xfrm flipV="1">
            <a:off x="9534974" y="852974"/>
            <a:ext cx="0" cy="5681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FFA514-D14B-A948-AB40-1F8EA2A13B00}"/>
              </a:ext>
            </a:extLst>
          </p:cNvPr>
          <p:cNvCxnSpPr>
            <a:cxnSpLocks/>
          </p:cNvCxnSpPr>
          <p:nvPr/>
        </p:nvCxnSpPr>
        <p:spPr>
          <a:xfrm flipV="1">
            <a:off x="7786080" y="852974"/>
            <a:ext cx="0" cy="5681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1C089D3-CA54-AB41-BFD4-CE556B55C9B2}"/>
              </a:ext>
            </a:extLst>
          </p:cNvPr>
          <p:cNvSpPr txBox="1"/>
          <p:nvPr/>
        </p:nvSpPr>
        <p:spPr>
          <a:xfrm>
            <a:off x="7469358" y="462017"/>
            <a:ext cx="653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6DFD0B-2435-194A-AC9E-D5FE3D84EEF6}"/>
              </a:ext>
            </a:extLst>
          </p:cNvPr>
          <p:cNvSpPr txBox="1"/>
          <p:nvPr/>
        </p:nvSpPr>
        <p:spPr>
          <a:xfrm>
            <a:off x="9208218" y="434263"/>
            <a:ext cx="70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DE0C2A-7806-324F-BD36-6751C0204289}"/>
              </a:ext>
            </a:extLst>
          </p:cNvPr>
          <p:cNvSpPr txBox="1"/>
          <p:nvPr/>
        </p:nvSpPr>
        <p:spPr>
          <a:xfrm>
            <a:off x="8418579" y="6447147"/>
            <a:ext cx="3803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02-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Malte sends 1 BTC to Martin-</a:t>
            </a:r>
            <a:r>
              <a:rPr lang="en-US" sz="1400" dirty="0">
                <a:solidFill>
                  <a:srgbClr val="C00000"/>
                </a:solidFill>
              </a:rPr>
              <a:t>df3mfssfak7dfd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D5B8D-BE4D-BB41-ABFF-EFE774092AF5}"/>
              </a:ext>
            </a:extLst>
          </p:cNvPr>
          <p:cNvSpPr txBox="1"/>
          <p:nvPr/>
        </p:nvSpPr>
        <p:spPr>
          <a:xfrm>
            <a:off x="6754809" y="161226"/>
            <a:ext cx="54409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2"/>
              </a:rPr>
              <a:t>https://metamask.io/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https://en.wikipedia.org/wiki/MetaMask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 software cryptocurrency wallet for Etherium blockchain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 secure browser extension or mobile app </a:t>
            </a:r>
            <a:br>
              <a:rPr lang="en-US" sz="1400"/>
            </a:br>
            <a:r>
              <a:rPr lang="en-US" sz="1400"/>
              <a:t>(iOS, Android)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Allows to interact with decentralized applications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Since 2016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More than 20 Mln users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Developed by ConsenSys - a blockchain software technology company founded by </a:t>
            </a:r>
            <a:r>
              <a:rPr lang="en-US" sz="1400" b="1">
                <a:solidFill>
                  <a:srgbClr val="0070C0"/>
                </a:solidFill>
              </a:rPr>
              <a:t>Joseph Lubin</a:t>
            </a:r>
            <a:r>
              <a:rPr lang="en-US" sz="1400"/>
              <a:t> with headquarters in Brooklyn, New York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 cannot be stored on MetaMask, but you can store a "Wrapped Bitcoin" (WBTC) – which is an ERC-20 token that represents Bitcoin on the Ethereum blockchain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D177C-95D2-6D49-ABE7-6DD29457A006}"/>
              </a:ext>
            </a:extLst>
          </p:cNvPr>
          <p:cNvSpPr txBox="1"/>
          <p:nvPr/>
        </p:nvSpPr>
        <p:spPr>
          <a:xfrm>
            <a:off x="-23443" y="1"/>
            <a:ext cx="2157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MetaMask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82DCE-4D06-3D4E-A1E4-19542DA67CA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1308" y="161226"/>
            <a:ext cx="1443357" cy="1355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A3DE9F-6EE5-A747-B064-3CB275CD999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2691" y="161226"/>
            <a:ext cx="1811892" cy="2353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060BD8-457B-0F41-9E84-E2B164D8C94E}"/>
              </a:ext>
            </a:extLst>
          </p:cNvPr>
          <p:cNvSpPr txBox="1"/>
          <p:nvPr/>
        </p:nvSpPr>
        <p:spPr>
          <a:xfrm>
            <a:off x="3865113" y="2514603"/>
            <a:ext cx="2310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 </a:t>
            </a:r>
            <a:r>
              <a:rPr lang="en-US" sz="1400" b="1">
                <a:solidFill>
                  <a:srgbClr val="0070C0"/>
                </a:solidFill>
              </a:rPr>
              <a:t>Joseph Lubin</a:t>
            </a:r>
            <a:endParaRPr lang="en-US" sz="1400"/>
          </a:p>
          <a:p>
            <a:pPr algn="ctr"/>
            <a:r>
              <a:rPr lang="en-US" sz="1400"/>
              <a:t>ConsenSys</a:t>
            </a:r>
          </a:p>
          <a:p>
            <a:pPr algn="ctr"/>
            <a:r>
              <a:rPr lang="en-US" sz="1400"/>
              <a:t>Brooklyn, New York</a:t>
            </a:r>
          </a:p>
        </p:txBody>
      </p:sp>
      <p:pic>
        <p:nvPicPr>
          <p:cNvPr id="1032" name="Picture 8" descr="MetaMask – Get this Extension for 🦊 Firefox (en-US)">
            <a:extLst>
              <a:ext uri="{FF2B5EF4-FFF2-40B4-BE49-F238E27FC236}">
                <a16:creationId xmlns:a16="http://schemas.microsoft.com/office/drawing/2014/main" id="{2D8924E9-3506-C949-A240-5CF490D28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97" y="1758016"/>
            <a:ext cx="3766817" cy="235337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629FB8-3D9E-CA44-9067-60F4B592AA5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536" y="4481654"/>
            <a:ext cx="3645952" cy="21064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72CAD9-D640-5044-99D2-CF1C8DF2F0A2}"/>
              </a:ext>
            </a:extLst>
          </p:cNvPr>
          <p:cNvSpPr txBox="1"/>
          <p:nvPr/>
        </p:nvSpPr>
        <p:spPr>
          <a:xfrm>
            <a:off x="10738" y="588610"/>
            <a:ext cx="246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A software cryptocurrency wallet for Etherium blockchain</a:t>
            </a:r>
          </a:p>
        </p:txBody>
      </p:sp>
    </p:spTree>
    <p:extLst>
      <p:ext uri="{BB962C8B-B14F-4D97-AF65-F5344CB8AC3E}">
        <p14:creationId xmlns:p14="http://schemas.microsoft.com/office/powerpoint/2010/main" val="365747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1D3C3A-6600-6447-9C42-BB332A743826}"/>
              </a:ext>
            </a:extLst>
          </p:cNvPr>
          <p:cNvSpPr txBox="1"/>
          <p:nvPr/>
        </p:nvSpPr>
        <p:spPr>
          <a:xfrm>
            <a:off x="1" y="120415"/>
            <a:ext cx="376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Best Hardware Wallet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B3421-15B2-F64D-B4D9-A2655D111DC8}"/>
              </a:ext>
            </a:extLst>
          </p:cNvPr>
          <p:cNvSpPr txBox="1"/>
          <p:nvPr/>
        </p:nvSpPr>
        <p:spPr>
          <a:xfrm>
            <a:off x="3971716" y="1717899"/>
            <a:ext cx="42485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Ledger Noan X - </a:t>
            </a:r>
            <a:r>
              <a:rPr lang="en-US" sz="1400">
                <a:hlinkClick r:id="rId2"/>
              </a:rPr>
              <a:t>https://www.ledger.com</a:t>
            </a:r>
            <a:r>
              <a:rPr lang="en-US" sz="1400"/>
              <a:t> –</a:t>
            </a:r>
            <a:br>
              <a:rPr lang="en-US" sz="1400"/>
            </a:br>
            <a:br>
              <a:rPr lang="en-US" sz="1400"/>
            </a:br>
            <a:r>
              <a:rPr lang="en-US" sz="1400"/>
              <a:t>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Trezor - </a:t>
            </a:r>
            <a:r>
              <a:rPr lang="en-US" sz="1400">
                <a:hlinkClick r:id="rId3"/>
              </a:rPr>
              <a:t>https://trezor.io</a:t>
            </a:r>
            <a:r>
              <a:rPr lang="en-US" sz="1400"/>
              <a:t> – 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Arculus - </a:t>
            </a:r>
            <a:r>
              <a:rPr lang="en-US" sz="1400">
                <a:hlinkClick r:id="rId4"/>
              </a:rPr>
              <a:t>https://www.getarculus.com</a:t>
            </a:r>
            <a:r>
              <a:rPr lang="en-US" sz="1400"/>
              <a:t> –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SafePal - </a:t>
            </a:r>
            <a:r>
              <a:rPr lang="en-US" sz="1400">
                <a:hlinkClick r:id="rId5"/>
              </a:rPr>
              <a:t>https://safepal.io</a:t>
            </a:r>
            <a:r>
              <a:rPr lang="en-US" sz="1400"/>
              <a:t> -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092FA-C9EC-9A42-8AF8-4A2E15786CF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128242" y="562388"/>
            <a:ext cx="1258880" cy="2574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926C88-FAFB-8944-BB3B-C61F2995F0F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3438" y="2058425"/>
            <a:ext cx="1041095" cy="1676568"/>
          </a:xfrm>
          <a:prstGeom prst="rect">
            <a:avLst/>
          </a:prstGeom>
        </p:spPr>
      </p:pic>
      <p:pic>
        <p:nvPicPr>
          <p:cNvPr id="1026" name="Picture 2" descr="Cold Storage Wallet to Secure Your Crypto | Meet Arculus">
            <a:extLst>
              <a:ext uri="{FF2B5EF4-FFF2-40B4-BE49-F238E27FC236}">
                <a16:creationId xmlns:a16="http://schemas.microsoft.com/office/drawing/2014/main" id="{77FFEF9A-863D-624D-9498-4BB97AC6C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14721" y="2896709"/>
            <a:ext cx="1741765" cy="145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fePal Crypto Hardware Wallet(Official) | The best wallet to protect your  assets">
            <a:extLst>
              <a:ext uri="{FF2B5EF4-FFF2-40B4-BE49-F238E27FC236}">
                <a16:creationId xmlns:a16="http://schemas.microsoft.com/office/drawing/2014/main" id="{26AC31D8-2196-A043-BAFF-554D7C635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2224" y="4056480"/>
            <a:ext cx="1883521" cy="145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851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2862</TotalTime>
  <Words>683</Words>
  <Application>Microsoft Macintosh PowerPoint</Application>
  <PresentationFormat>Widescreen</PresentationFormat>
  <Paragraphs>103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Public vs Private Key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267</cp:revision>
  <dcterms:modified xsi:type="dcterms:W3CDTF">2022-04-30T01:04:51Z</dcterms:modified>
</cp:coreProperties>
</file>