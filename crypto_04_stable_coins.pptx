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3"/>
  </p:notesMasterIdLst>
  <p:sldIdLst>
    <p:sldId id="320" r:id="rId2"/>
    <p:sldId id="316" r:id="rId3"/>
    <p:sldId id="274" r:id="rId4"/>
    <p:sldId id="319" r:id="rId5"/>
    <p:sldId id="326" r:id="rId6"/>
    <p:sldId id="318" r:id="rId7"/>
    <p:sldId id="309" r:id="rId8"/>
    <p:sldId id="310" r:id="rId9"/>
    <p:sldId id="311" r:id="rId10"/>
    <p:sldId id="312" r:id="rId11"/>
    <p:sldId id="307" r:id="rId12"/>
    <p:sldId id="321" r:id="rId13"/>
    <p:sldId id="313" r:id="rId14"/>
    <p:sldId id="314" r:id="rId15"/>
    <p:sldId id="308" r:id="rId16"/>
    <p:sldId id="315" r:id="rId17"/>
    <p:sldId id="322" r:id="rId18"/>
    <p:sldId id="323" r:id="rId19"/>
    <p:sldId id="324" r:id="rId20"/>
    <p:sldId id="325" r:id="rId21"/>
    <p:sldId id="32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24"/>
    <p:restoredTop sz="92354"/>
  </p:normalViewPr>
  <p:slideViewPr>
    <p:cSldViewPr snapToGrid="0" snapToObjects="1">
      <p:cViewPr varScale="1">
        <p:scale>
          <a:sx n="135" d="100"/>
          <a:sy n="135" d="100"/>
        </p:scale>
        <p:origin x="1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5/17/22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5/17/22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5/17/22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5/17/22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5/17/22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5/17/22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5/17/22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weforum.org/agenda/2022/03/where-is-cryptocurrency-regulation-heading/"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9.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10.png"/><Relationship Id="rId4" Type="http://schemas.openxmlformats.org/officeDocument/2006/relationships/hyperlink" Target="https://www.bitfinex.com/"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hyperlink" Target="https://en.wikipedia.org/wiki/Binanc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9.png"/><Relationship Id="rId7" Type="http://schemas.openxmlformats.org/officeDocument/2006/relationships/hyperlink" Target="https://www.youtube.com/watch?v=aJHBphV5W-g" TargetMode="External"/><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hyperlink" Target="https://cryptohunter.store/how-luna-collapsed/" TargetMode="External"/><Relationship Id="rId5" Type="http://schemas.openxmlformats.org/officeDocument/2006/relationships/hyperlink" Target="https://medium.com/alpha-beta-blog/stablecoins-hyperinflation-73c3d65122f" TargetMode="External"/><Relationship Id="rId4" Type="http://schemas.openxmlformats.org/officeDocument/2006/relationships/hyperlink" Target="https://medium.com/alpha-beta-blog/the-terrausd-stablecoin-lunacy-explained-cd290e326b47"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hyperlink" Target="https://twitter.com/freddieraynolds/status/1463960623402913797" TargetMode="External"/><Relationship Id="rId1" Type="http://schemas.openxmlformats.org/officeDocument/2006/relationships/slideLayout" Target="../slideLayouts/slideLayout7.xml"/><Relationship Id="rId4" Type="http://schemas.openxmlformats.org/officeDocument/2006/relationships/hyperlink" Target="https://twitter.com/FreddieRaynol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21740580"/>
              </p:ext>
            </p:extLst>
          </p:nvPr>
        </p:nvGraphicFramePr>
        <p:xfrm>
          <a:off x="5966710" y="593962"/>
          <a:ext cx="6082417" cy="4095220"/>
        </p:xfrm>
        <a:graphic>
          <a:graphicData uri="http://schemas.openxmlformats.org/drawingml/2006/table">
            <a:tbl>
              <a:tblPr firstRow="1">
                <a:tableStyleId>{E8B1032C-EA38-4F05-BA0D-38AFFFC7BED3}</a:tableStyleId>
              </a:tblPr>
              <a:tblGrid>
                <a:gridCol w="1348490">
                  <a:extLst>
                    <a:ext uri="{9D8B030D-6E8A-4147-A177-3AD203B41FA5}">
                      <a16:colId xmlns:a16="http://schemas.microsoft.com/office/drawing/2014/main" val="2982074288"/>
                    </a:ext>
                  </a:extLst>
                </a:gridCol>
                <a:gridCol w="660400">
                  <a:extLst>
                    <a:ext uri="{9D8B030D-6E8A-4147-A177-3AD203B41FA5}">
                      <a16:colId xmlns:a16="http://schemas.microsoft.com/office/drawing/2014/main" val="1493870040"/>
                    </a:ext>
                  </a:extLst>
                </a:gridCol>
                <a:gridCol w="863600">
                  <a:extLst>
                    <a:ext uri="{9D8B030D-6E8A-4147-A177-3AD203B41FA5}">
                      <a16:colId xmlns:a16="http://schemas.microsoft.com/office/drawing/2014/main" val="1003406525"/>
                    </a:ext>
                  </a:extLst>
                </a:gridCol>
                <a:gridCol w="2400300">
                  <a:extLst>
                    <a:ext uri="{9D8B030D-6E8A-4147-A177-3AD203B41FA5}">
                      <a16:colId xmlns:a16="http://schemas.microsoft.com/office/drawing/2014/main" val="572861281"/>
                    </a:ext>
                  </a:extLst>
                </a:gridCol>
                <a:gridCol w="809627">
                  <a:extLst>
                    <a:ext uri="{9D8B030D-6E8A-4147-A177-3AD203B41FA5}">
                      <a16:colId xmlns:a16="http://schemas.microsoft.com/office/drawing/2014/main" val="3767544795"/>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Price 5/13/22</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76</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51</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17.5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b="1" u="none" strike="noStrike">
                          <a:solidFill>
                            <a:schemeClr val="bg1">
                              <a:lumMod val="75000"/>
                            </a:schemeClr>
                          </a:solidFill>
                          <a:effectLst/>
                        </a:rPr>
                        <a:t>TerraUSD / UST</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ctr" fontAlgn="b"/>
                      <a:r>
                        <a:rPr lang="en-US" sz="1400" b="1" i="0" u="none" strike="noStrike">
                          <a:solidFill>
                            <a:schemeClr val="bg1">
                              <a:lumMod val="75000"/>
                            </a:schemeClr>
                          </a:solidFill>
                          <a:effectLst/>
                          <a:latin typeface="Helvetica" pitchFamily="2" charset="0"/>
                        </a:rPr>
                        <a:t>18.4</a:t>
                      </a:r>
                    </a:p>
                  </a:txBody>
                  <a:tcPr marL="12700" marR="12700" marT="12700" marB="0" anchor="ctr"/>
                </a:tc>
                <a:tc>
                  <a:txBody>
                    <a:bodyPr/>
                    <a:lstStyle/>
                    <a:p>
                      <a:pPr algn="l" fontAlgn="b"/>
                      <a:r>
                        <a:rPr lang="en-US" sz="1400" b="1" u="none" strike="noStrike">
                          <a:solidFill>
                            <a:schemeClr val="bg1">
                              <a:lumMod val="75000"/>
                            </a:schemeClr>
                          </a:solidFill>
                          <a:effectLst/>
                        </a:rPr>
                        <a:t>Alternative</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Ethereum</a:t>
                      </a: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0.16, Halted</a:t>
                      </a: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0.28</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5919386" y="269450"/>
            <a:ext cx="2974357" cy="307777"/>
          </a:xfrm>
          <a:prstGeom prst="rect">
            <a:avLst/>
          </a:prstGeom>
          <a:noFill/>
        </p:spPr>
        <p:txBody>
          <a:bodyPr wrap="square" rtlCol="0">
            <a:spAutoFit/>
          </a:bodyPr>
          <a:lstStyle/>
          <a:p>
            <a:r>
              <a:rPr lang="en-US" sz="1400" b="1">
                <a:solidFill>
                  <a:srgbClr val="00B050"/>
                </a:solidFill>
              </a:rPr>
              <a:t>In Green – US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B7BAD7-4524-9434-5B8C-CA57AF1161E2}"/>
              </a:ext>
            </a:extLst>
          </p:cNvPr>
          <p:cNvSpPr txBox="1"/>
          <p:nvPr/>
        </p:nvSpPr>
        <p:spPr>
          <a:xfrm>
            <a:off x="279133" y="1766093"/>
            <a:ext cx="3822967" cy="3108543"/>
          </a:xfrm>
          <a:prstGeom prst="rect">
            <a:avLst/>
          </a:prstGeom>
          <a:solidFill>
            <a:schemeClr val="accent4">
              <a:lumMod val="20000"/>
              <a:lumOff val="80000"/>
            </a:schemeClr>
          </a:solidFill>
        </p:spPr>
        <p:txBody>
          <a:bodyPr wrap="square" rtlCol="0">
            <a:spAutoFit/>
          </a:bodyPr>
          <a:lstStyle/>
          <a:p>
            <a:r>
              <a:rPr lang="en-US" sz="1400"/>
              <a:t>World Economic Forum (March 2022):</a:t>
            </a:r>
          </a:p>
          <a:p>
            <a:endParaRPr lang="en-US" sz="1400"/>
          </a:p>
          <a:p>
            <a:pPr marL="285750" indent="-285750">
              <a:buFont typeface="Arial" panose="020B0604020202020204" pitchFamily="34" charset="0"/>
              <a:buChar char="•"/>
            </a:pPr>
            <a:r>
              <a:rPr lang="en-US" sz="1400"/>
              <a:t>The total market cap of digital currencies is $1.7 trillion and over $90 billion worth is traded every day.</a:t>
            </a:r>
          </a:p>
          <a:p>
            <a:pPr marL="285750" indent="-285750">
              <a:buFont typeface="Arial" panose="020B0604020202020204" pitchFamily="34" charset="0"/>
              <a:buChar char="•"/>
            </a:pPr>
            <a:r>
              <a:rPr lang="en-US" sz="1400"/>
              <a:t>Analysts have warned that the industry is so large it could have macroeconomic consequences if mismanaged.</a:t>
            </a:r>
          </a:p>
          <a:p>
            <a:pPr marL="285750" indent="-285750">
              <a:buFont typeface="Arial" panose="020B0604020202020204" pitchFamily="34" charset="0"/>
              <a:buChar char="•"/>
            </a:pPr>
            <a:r>
              <a:rPr lang="en-US" sz="1400"/>
              <a:t>Piecemeal approaches to cryptocurrency regulation must be replaced by a globally coordinated framework.</a:t>
            </a:r>
          </a:p>
          <a:p>
            <a:endParaRPr lang="en-US" sz="1400"/>
          </a:p>
          <a:p>
            <a:r>
              <a:rPr lang="en-US" sz="1400">
                <a:hlinkClick r:id="rId2"/>
              </a:rPr>
              <a:t>https://www.weforum.org/agenda/2022/03/where-is-cryptocurrency-regulation-heading/</a:t>
            </a:r>
            <a:endParaRPr lang="en-US" sz="1400"/>
          </a:p>
        </p:txBody>
      </p:sp>
      <p:pic>
        <p:nvPicPr>
          <p:cNvPr id="3" name="Picture 2">
            <a:extLst>
              <a:ext uri="{FF2B5EF4-FFF2-40B4-BE49-F238E27FC236}">
                <a16:creationId xmlns:a16="http://schemas.microsoft.com/office/drawing/2014/main" id="{9EB4F70E-FA78-57F0-AAF8-2F7C58DC26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6524" y="2702936"/>
            <a:ext cx="3900375" cy="2603500"/>
          </a:xfrm>
          <a:prstGeom prst="rect">
            <a:avLst/>
          </a:prstGeom>
        </p:spPr>
      </p:pic>
      <p:sp>
        <p:nvSpPr>
          <p:cNvPr id="4" name="TextBox 3">
            <a:extLst>
              <a:ext uri="{FF2B5EF4-FFF2-40B4-BE49-F238E27FC236}">
                <a16:creationId xmlns:a16="http://schemas.microsoft.com/office/drawing/2014/main" id="{F8FBCD17-5011-0B74-699B-21A6C6D89D44}"/>
              </a:ext>
            </a:extLst>
          </p:cNvPr>
          <p:cNvSpPr txBox="1"/>
          <p:nvPr/>
        </p:nvSpPr>
        <p:spPr>
          <a:xfrm>
            <a:off x="6718300" y="443567"/>
            <a:ext cx="4648200" cy="1754326"/>
          </a:xfrm>
          <a:prstGeom prst="rect">
            <a:avLst/>
          </a:prstGeom>
          <a:noFill/>
        </p:spPr>
        <p:txBody>
          <a:bodyPr wrap="square" rtlCol="0">
            <a:spAutoFit/>
          </a:bodyPr>
          <a:lstStyle/>
          <a:p>
            <a:r>
              <a:rPr lang="en-US"/>
              <a:t>TerraUSD is (was?) one of the largest player in Stable Coin group with market cap $18.4 Bln.</a:t>
            </a:r>
            <a:br>
              <a:rPr lang="en-US"/>
            </a:br>
            <a:br>
              <a:rPr lang="en-US"/>
            </a:br>
            <a:r>
              <a:rPr lang="en-US"/>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807907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2893100"/>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Fiat-collateralized Stablecoins</a:t>
            </a:r>
          </a:p>
          <a:p>
            <a:pPr marL="285750" indent="-285750">
              <a:buFont typeface="Arial" panose="020B0604020202020204" pitchFamily="34" charset="0"/>
              <a:buChar char="•"/>
            </a:pPr>
            <a:r>
              <a:rPr lang="en-US" sz="1400"/>
              <a:t>Tether - USDT</a:t>
            </a:r>
          </a:p>
          <a:p>
            <a:pPr marL="285750" indent="-285750">
              <a:buFont typeface="Arial" panose="020B0604020202020204" pitchFamily="34" charset="0"/>
              <a:buChar char="•"/>
            </a:pPr>
            <a:r>
              <a:rPr lang="en-US" sz="1400"/>
              <a:t>TrustToken - TrueUSD</a:t>
            </a:r>
          </a:p>
          <a:p>
            <a:pPr marL="285750" indent="-285750">
              <a:buFont typeface="Arial" panose="020B0604020202020204" pitchFamily="34" charset="0"/>
              <a:buChar char="•"/>
            </a:pPr>
            <a:r>
              <a:rPr lang="en-US" sz="1400"/>
              <a:t>Circle - USDC</a:t>
            </a:r>
          </a:p>
          <a:p>
            <a:pPr marL="285750" indent="-285750">
              <a:buFont typeface="Arial" panose="020B0604020202020204" pitchFamily="34" charset="0"/>
              <a:buChar char="•"/>
            </a:pPr>
            <a:r>
              <a:rPr lang="en-US" sz="1400"/>
              <a:t>Stably</a:t>
            </a:r>
          </a:p>
          <a:p>
            <a:pPr marL="285750" indent="-285750">
              <a:buFont typeface="Arial" panose="020B0604020202020204" pitchFamily="34" charset="0"/>
              <a:buChar char="•"/>
            </a:pPr>
            <a:r>
              <a:rPr lang="en-US" sz="1400"/>
              <a:t>AAA Reserve</a:t>
            </a:r>
          </a:p>
          <a:p>
            <a:pPr marL="285750" indent="-285750">
              <a:buFont typeface="Arial" panose="020B0604020202020204" pitchFamily="34" charset="0"/>
              <a:buChar char="•"/>
            </a:pPr>
            <a:r>
              <a:rPr lang="en-US" sz="1400"/>
              <a:t>X8X</a:t>
            </a:r>
          </a:p>
          <a:p>
            <a:pPr marL="285750" indent="-285750">
              <a:buFont typeface="Arial" panose="020B0604020202020204" pitchFamily="34" charset="0"/>
              <a:buChar char="•"/>
            </a:pPr>
            <a:r>
              <a:rPr lang="en-US" sz="1400"/>
              <a:t>Globcoin</a:t>
            </a:r>
          </a:p>
          <a:p>
            <a:pPr marL="285750" indent="-285750">
              <a:buFont typeface="Arial" panose="020B0604020202020204" pitchFamily="34" charset="0"/>
              <a:buChar char="•"/>
            </a:pPr>
            <a:r>
              <a:rPr lang="en-US" sz="1400"/>
              <a:t>Stasis</a:t>
            </a:r>
          </a:p>
          <a:p>
            <a:pPr marL="285750" indent="-285750">
              <a:buFont typeface="Arial" panose="020B0604020202020204" pitchFamily="34" charset="0"/>
              <a:buChar char="•"/>
            </a:pPr>
            <a:r>
              <a:rPr lang="en-US" sz="1400"/>
              <a:t>Stronghold</a:t>
            </a:r>
          </a:p>
          <a:p>
            <a:pPr marL="285750" indent="-285750">
              <a:buFont typeface="Arial" panose="020B0604020202020204" pitchFamily="34" charset="0"/>
              <a:buChar char="•"/>
            </a:pPr>
            <a:r>
              <a:rPr lang="en-US" sz="1400" b="1">
                <a:solidFill>
                  <a:srgbClr val="00B050"/>
                </a:solidFill>
              </a:rPr>
              <a:t>Binance USD / BUSD</a:t>
            </a:r>
            <a:endParaRPr lang="en-US" sz="1400" b="1" i="1">
              <a:solidFill>
                <a:srgbClr val="00B050"/>
              </a:solidFill>
              <a:latin typeface="Helvetica" pitchFamily="2" charset="0"/>
            </a:endParaRPr>
          </a:p>
          <a:p>
            <a:pPr marL="285750" indent="-285750">
              <a:buFont typeface="Arial" panose="020B0604020202020204" pitchFamily="34" charset="0"/>
              <a:buChar char="•"/>
            </a:pPr>
            <a:r>
              <a:rPr lang="en-US" sz="1400" b="1">
                <a:solidFill>
                  <a:srgbClr val="00B050"/>
                </a:solidFill>
              </a:rPr>
              <a:t>Gemini Dollar</a:t>
            </a:r>
          </a:p>
          <a:p>
            <a:pPr marL="285750" indent="-285750">
              <a:buFont typeface="Arial" panose="020B0604020202020204" pitchFamily="34" charset="0"/>
              <a:buChar char="•"/>
            </a:pPr>
            <a:r>
              <a:rPr lang="en-US" sz="1400" b="1">
                <a:solidFill>
                  <a:srgbClr val="00B050"/>
                </a:solidFill>
              </a:rPr>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5913374" y="2555415"/>
            <a:ext cx="3289300" cy="1384995"/>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Crypto-collateralized Stablecoins</a:t>
            </a:r>
          </a:p>
          <a:p>
            <a:pPr marL="285750" indent="-285750">
              <a:buFont typeface="Arial" panose="020B0604020202020204" pitchFamily="34" charset="0"/>
              <a:buChar char="•"/>
            </a:pPr>
            <a:r>
              <a:rPr lang="en-US" sz="1400"/>
              <a:t>Bitshares BitUSD</a:t>
            </a:r>
          </a:p>
          <a:p>
            <a:pPr marL="285750" indent="-285750">
              <a:buFont typeface="Arial" panose="020B0604020202020204" pitchFamily="34" charset="0"/>
              <a:buChar char="•"/>
            </a:pPr>
            <a:r>
              <a:rPr lang="en-US" sz="1400"/>
              <a:t>MakerDAO - DAI</a:t>
            </a:r>
          </a:p>
          <a:p>
            <a:pPr marL="285750" indent="-285750">
              <a:buFont typeface="Arial" panose="020B0604020202020204" pitchFamily="34" charset="0"/>
              <a:buChar char="•"/>
            </a:pPr>
            <a:r>
              <a:rPr lang="en-US" sz="1400"/>
              <a:t>Sweetbridge</a:t>
            </a:r>
          </a:p>
          <a:p>
            <a:pPr marL="285750" indent="-285750">
              <a:buFont typeface="Arial" panose="020B0604020202020204" pitchFamily="34" charset="0"/>
              <a:buChar char="•"/>
            </a:pPr>
            <a:r>
              <a:rPr lang="en-US" sz="1400"/>
              <a:t>Havven - NUSD</a:t>
            </a:r>
          </a:p>
          <a:p>
            <a:pPr marL="285750" indent="-285750">
              <a:buFont typeface="Arial" panose="020B0604020202020204" pitchFamily="34" charset="0"/>
              <a:buChar char="•"/>
            </a:pPr>
            <a:r>
              <a:rPr lang="en-US" sz="1400"/>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5913374" y="1037630"/>
            <a:ext cx="3289300" cy="1384995"/>
          </a:xfrm>
          <a:prstGeom prst="rect">
            <a:avLst/>
          </a:prstGeom>
          <a:solidFill>
            <a:schemeClr val="accent4">
              <a:lumMod val="20000"/>
              <a:lumOff val="80000"/>
            </a:schemeClr>
          </a:solidFill>
          <a:ln>
            <a:solidFill>
              <a:schemeClr val="accent1"/>
            </a:solidFill>
          </a:ln>
        </p:spPr>
        <p:txBody>
          <a:bodyPr wrap="square" rtlCol="0">
            <a:spAutoFit/>
          </a:bodyPr>
          <a:lstStyle>
            <a:defPPr>
              <a:defRPr lang="en-US"/>
            </a:defPPr>
            <a:lvl1pPr>
              <a:defRPr b="1">
                <a:solidFill>
                  <a:srgbClr val="FF0000"/>
                </a:solidFill>
              </a:defRPr>
            </a:lvl1pPr>
          </a:lstStyle>
          <a:p>
            <a:r>
              <a:rPr lang="en-US" sz="1400"/>
              <a:t>Algorithmic Supply Stablecoins</a:t>
            </a:r>
          </a:p>
          <a:p>
            <a:r>
              <a:rPr lang="en-US" sz="1400">
                <a:solidFill>
                  <a:srgbClr val="00B0F0"/>
                </a:solidFill>
              </a:rPr>
              <a:t>(Ponzi Schemes ?)</a:t>
            </a:r>
          </a:p>
          <a:p>
            <a:pPr marL="285750" indent="-285750">
              <a:buFont typeface="Arial" panose="020B0604020202020204" pitchFamily="34" charset="0"/>
              <a:buChar char="•"/>
            </a:pPr>
            <a:r>
              <a:rPr lang="en-US" sz="1400" b="0">
                <a:solidFill>
                  <a:schemeClr val="tx1"/>
                </a:solidFill>
              </a:rPr>
              <a:t>Basis</a:t>
            </a:r>
          </a:p>
          <a:p>
            <a:pPr marL="285750" indent="-285750">
              <a:buFont typeface="Arial" panose="020B0604020202020204" pitchFamily="34" charset="0"/>
              <a:buChar char="•"/>
            </a:pPr>
            <a:r>
              <a:rPr lang="en-US" sz="1400" b="0">
                <a:solidFill>
                  <a:schemeClr val="tx1"/>
                </a:solidFill>
              </a:rPr>
              <a:t>Fragments</a:t>
            </a:r>
          </a:p>
          <a:p>
            <a:pPr marL="285750" indent="-285750">
              <a:buFont typeface="Arial" panose="020B0604020202020204" pitchFamily="34" charset="0"/>
              <a:buChar char="•"/>
            </a:pPr>
            <a:r>
              <a:rPr lang="en-US" sz="1400" b="0">
                <a:solidFill>
                  <a:schemeClr val="tx1"/>
                </a:solidFill>
              </a:rPr>
              <a:t>Carbon</a:t>
            </a:r>
          </a:p>
          <a:p>
            <a:pPr marL="285750" indent="-285750">
              <a:buFont typeface="Arial" panose="020B0604020202020204" pitchFamily="34" charset="0"/>
              <a:buChar char="•"/>
            </a:pPr>
            <a:r>
              <a:rPr lang="en-US" sz="1400"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5913374" y="5380751"/>
            <a:ext cx="3289300" cy="954107"/>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Hybrid Stablecoin Models</a:t>
            </a:r>
          </a:p>
          <a:p>
            <a:pPr marL="285750" indent="-285750">
              <a:buFont typeface="Arial" panose="020B0604020202020204" pitchFamily="34" charset="0"/>
              <a:buChar char="•"/>
            </a:pPr>
            <a:r>
              <a:rPr lang="en-US" sz="1400"/>
              <a:t>Reserve</a:t>
            </a:r>
          </a:p>
          <a:p>
            <a:pPr marL="285750" indent="-285750">
              <a:buFont typeface="Arial" panose="020B0604020202020204" pitchFamily="34" charset="0"/>
              <a:buChar char="•"/>
            </a:pPr>
            <a:r>
              <a:rPr lang="en-US" sz="1400"/>
              <a:t>Saga</a:t>
            </a:r>
          </a:p>
          <a:p>
            <a:pPr marL="285750" indent="-285750">
              <a:buFont typeface="Arial" panose="020B0604020202020204" pitchFamily="34" charset="0"/>
              <a:buChar char="•"/>
            </a:pPr>
            <a:r>
              <a:rPr lang="en-US" sz="1400"/>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5913374" y="4074510"/>
            <a:ext cx="3289300" cy="1169551"/>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Alternative Stablecoin Models</a:t>
            </a:r>
          </a:p>
          <a:p>
            <a:pPr marL="285750" indent="-285750">
              <a:buFont typeface="Arial" panose="020B0604020202020204" pitchFamily="34" charset="0"/>
              <a:buChar char="•"/>
            </a:pPr>
            <a:r>
              <a:rPr lang="en-US" sz="1400"/>
              <a:t>Phi</a:t>
            </a:r>
          </a:p>
          <a:p>
            <a:pPr marL="285750" indent="-285750">
              <a:buFont typeface="Arial" panose="020B0604020202020204" pitchFamily="34" charset="0"/>
              <a:buChar char="•"/>
            </a:pPr>
            <a:r>
              <a:rPr lang="en-US" sz="1400"/>
              <a:t>Stableunit</a:t>
            </a:r>
          </a:p>
          <a:p>
            <a:pPr marL="285750" indent="-285750">
              <a:buFont typeface="Arial" panose="020B0604020202020204" pitchFamily="34" charset="0"/>
              <a:buChar char="•"/>
            </a:pPr>
            <a:r>
              <a:rPr lang="en-US" sz="1400"/>
              <a:t>Terra Money </a:t>
            </a:r>
            <a:r>
              <a:rPr lang="en-US" sz="1400" b="1">
                <a:solidFill>
                  <a:srgbClr val="00B0F0"/>
                </a:solidFill>
              </a:rPr>
              <a:t>(Ponzi Scheme)</a:t>
            </a:r>
          </a:p>
          <a:p>
            <a:pPr marL="285750" indent="-285750">
              <a:buFont typeface="Arial" panose="020B0604020202020204" pitchFamily="34" charset="0"/>
              <a:buChar char="•"/>
            </a:pPr>
            <a:r>
              <a:rPr lang="en-US" sz="1400"/>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229696"/>
            <a:ext cx="3289300" cy="954107"/>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Metal-backed Stablecoins</a:t>
            </a:r>
          </a:p>
          <a:p>
            <a:r>
              <a:rPr lang="en-US" sz="1400" b="1">
                <a:solidFill>
                  <a:srgbClr val="00B0F0"/>
                </a:solidFill>
              </a:rPr>
              <a:t>Gold, commodity, Real Estate, ...</a:t>
            </a:r>
          </a:p>
          <a:p>
            <a:pPr marL="285750" indent="-285750">
              <a:buFont typeface="Arial" panose="020B0604020202020204" pitchFamily="34" charset="0"/>
              <a:buChar char="•"/>
            </a:pPr>
            <a:r>
              <a:rPr lang="en-US" sz="1400"/>
              <a:t>Digix Global</a:t>
            </a:r>
          </a:p>
          <a:p>
            <a:pPr marL="285750" indent="-285750">
              <a:buFont typeface="Arial" panose="020B0604020202020204" pitchFamily="34" charset="0"/>
              <a:buChar char="•"/>
            </a:pPr>
            <a:r>
              <a:rPr lang="en-US" sz="1400"/>
              <a:t>HelloGold</a:t>
            </a:r>
          </a:p>
        </p:txBody>
      </p:sp>
    </p:spTree>
    <p:extLst>
      <p:ext uri="{BB962C8B-B14F-4D97-AF65-F5344CB8AC3E}">
        <p14:creationId xmlns:p14="http://schemas.microsoft.com/office/powerpoint/2010/main" val="379505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694630"/>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847857" y="196447"/>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101600" y="659154"/>
            <a:ext cx="8078572" cy="2031325"/>
          </a:xfrm>
          <a:prstGeom prst="rect">
            <a:avLst/>
          </a:prstGeom>
          <a:solidFill>
            <a:schemeClr val="accent4">
              <a:lumMod val="20000"/>
              <a:lumOff val="80000"/>
            </a:schemeClr>
          </a:solidFill>
          <a:ln>
            <a:solidFill>
              <a:schemeClr val="accent1"/>
            </a:solidFill>
          </a:ln>
        </p:spPr>
        <p:txBody>
          <a:bodyPr wrap="square" rtlCol="0">
            <a:spAutoFit/>
          </a:bodyPr>
          <a:lstStyle/>
          <a:p>
            <a:pPr marL="285750" indent="-285750">
              <a:buFont typeface="Arial" panose="020B0604020202020204" pitchFamily="34" charset="0"/>
              <a:buChar char="•"/>
            </a:pPr>
            <a:r>
              <a:rPr lang="en-US" sz="1400" b="1">
                <a:solidFill>
                  <a:srgbClr val="00B050"/>
                </a:solidFill>
              </a:rPr>
              <a:t>UST</a:t>
            </a:r>
            <a:r>
              <a:rPr lang="en-US" sz="1400"/>
              <a:t> (</a:t>
            </a:r>
            <a:r>
              <a:rPr lang="en-US" sz="1400" b="1">
                <a:solidFill>
                  <a:srgbClr val="00B050"/>
                </a:solidFill>
              </a:rPr>
              <a:t>TerraUSD</a:t>
            </a:r>
            <a:r>
              <a:rPr lang="en-US" sz="1400"/>
              <a:t>) was one of the largest player in Stable Coin group with market cap </a:t>
            </a:r>
            <a:r>
              <a:rPr lang="en-US" sz="1400" b="1">
                <a:solidFill>
                  <a:srgbClr val="00B050"/>
                </a:solidFill>
              </a:rPr>
              <a:t>$18.4 Bln</a:t>
            </a:r>
          </a:p>
          <a:p>
            <a:pPr marL="285750" indent="-285750">
              <a:buFont typeface="Arial" panose="020B0604020202020204" pitchFamily="34" charset="0"/>
              <a:buChar char="•"/>
            </a:pPr>
            <a:r>
              <a:rPr lang="en-US" sz="1400"/>
              <a:t>UST was pegged to $1 USD – but without any actual cash reserve</a:t>
            </a:r>
          </a:p>
          <a:p>
            <a:pPr marL="285750" indent="-285750">
              <a:buFont typeface="Arial" panose="020B0604020202020204" pitchFamily="34" charset="0"/>
              <a:buChar char="•"/>
            </a:pPr>
            <a:r>
              <a:rPr lang="en-US" sz="1400"/>
              <a:t>It was basically a </a:t>
            </a:r>
            <a:r>
              <a:rPr lang="en-US" sz="1400" b="1">
                <a:solidFill>
                  <a:srgbClr val="00B050"/>
                </a:solidFill>
              </a:rPr>
              <a:t>Ponzi scheme</a:t>
            </a:r>
            <a:r>
              <a:rPr lang="en-US" sz="1400"/>
              <a:t>. </a:t>
            </a:r>
          </a:p>
          <a:p>
            <a:pPr marL="285750" indent="-285750">
              <a:buFont typeface="Arial" panose="020B0604020202020204" pitchFamily="34" charset="0"/>
              <a:buChar char="•"/>
            </a:pPr>
            <a:r>
              <a:rPr lang="en-US" sz="1400"/>
              <a:t>UST was an algorithmic stablecoin regulating price by regulating the supply of UST. </a:t>
            </a:r>
          </a:p>
          <a:p>
            <a:pPr marL="285750" indent="-285750">
              <a:buFont typeface="Arial" panose="020B0604020202020204" pitchFamily="34" charset="0"/>
              <a:buChar char="•"/>
            </a:pPr>
            <a:r>
              <a:rPr lang="en-US" sz="1400"/>
              <a:t>UST was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was minted by burning UST and other algorithmic stablecoins that Terra supports</a:t>
            </a:r>
          </a:p>
          <a:p>
            <a:pPr marL="285750" indent="-285750">
              <a:buFont typeface="Arial" panose="020B0604020202020204" pitchFamily="34" charset="0"/>
              <a:buChar char="•"/>
            </a:pPr>
            <a:r>
              <a:rPr lang="en-US" sz="1400"/>
              <a:t>Terra platform was developed by Singapore-based </a:t>
            </a:r>
            <a:r>
              <a:rPr lang="en-US" sz="1400" b="1">
                <a:solidFill>
                  <a:srgbClr val="00B050"/>
                </a:solidFill>
              </a:rPr>
              <a:t>Terraform Labs</a:t>
            </a:r>
            <a:r>
              <a:rPr lang="en-US" sz="1400"/>
              <a:t> owned by </a:t>
            </a:r>
            <a:r>
              <a:rPr lang="en-US" sz="1400" b="1">
                <a:solidFill>
                  <a:srgbClr val="00B050"/>
                </a:solidFill>
              </a:rPr>
              <a:t>Do Kwon</a:t>
            </a:r>
          </a:p>
          <a:p>
            <a:pPr marL="285750" indent="-285750">
              <a:buFont typeface="Arial" panose="020B0604020202020204" pitchFamily="34" charset="0"/>
              <a:buChar char="•"/>
            </a:pPr>
            <a:r>
              <a:rPr lang="en-US" sz="1400"/>
              <a:t>May 10, 2022 - Crypto project Terra is buying billions in bitcoin to support UST</a:t>
            </a:r>
          </a:p>
          <a:p>
            <a:pPr marL="285750" indent="-285750">
              <a:buFont typeface="Arial" panose="020B0604020202020204" pitchFamily="34" charset="0"/>
              <a:buChar char="•"/>
            </a:pPr>
            <a:r>
              <a:rPr lang="en-US" sz="1400"/>
              <a:t>May 13 – the price dropped to $0.16, and the network was halted</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903246" y="90312"/>
            <a:ext cx="1211867" cy="1181380"/>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1743967" y="2799008"/>
            <a:ext cx="1774156" cy="307777"/>
          </a:xfrm>
          <a:prstGeom prst="rect">
            <a:avLst/>
          </a:prstGeom>
          <a:noFill/>
        </p:spPr>
        <p:txBody>
          <a:bodyPr wrap="square" rtlCol="0">
            <a:spAutoFit/>
          </a:bodyPr>
          <a:lstStyle/>
          <a:p>
            <a:r>
              <a:rPr lang="en-US" sz="1400"/>
              <a:t>May 10-13-16, 2022</a:t>
            </a:r>
          </a:p>
        </p:txBody>
      </p:sp>
      <p:sp>
        <p:nvSpPr>
          <p:cNvPr id="9" name="TextBox 8">
            <a:extLst>
              <a:ext uri="{FF2B5EF4-FFF2-40B4-BE49-F238E27FC236}">
                <a16:creationId xmlns:a16="http://schemas.microsoft.com/office/drawing/2014/main" id="{51A54925-25C7-E8BE-30FC-B8BA4ADC1296}"/>
              </a:ext>
            </a:extLst>
          </p:cNvPr>
          <p:cNvSpPr txBox="1"/>
          <p:nvPr/>
        </p:nvSpPr>
        <p:spPr>
          <a:xfrm>
            <a:off x="8757249" y="1560028"/>
            <a:ext cx="2543053" cy="1015663"/>
          </a:xfrm>
          <a:prstGeom prst="rect">
            <a:avLst/>
          </a:prstGeom>
          <a:noFill/>
        </p:spPr>
        <p:txBody>
          <a:bodyPr wrap="square" rtlCol="0">
            <a:spAutoFit/>
          </a:bodyPr>
          <a:lstStyle/>
          <a:p>
            <a:pPr algn="ctr"/>
            <a:r>
              <a:rPr lang="en-US" b="1">
                <a:solidFill>
                  <a:srgbClr val="00B050"/>
                </a:solidFill>
              </a:rPr>
              <a:t>Do Kwon</a:t>
            </a:r>
            <a:br>
              <a:rPr lang="en-US" sz="1400"/>
            </a:br>
            <a:r>
              <a:rPr lang="en-US" sz="1400"/>
              <a:t>Founder/CEO of Terraform Labs</a:t>
            </a:r>
            <a:br>
              <a:rPr lang="en-US" sz="1400"/>
            </a:br>
            <a:r>
              <a:rPr lang="en-US" sz="1400"/>
              <a:t>Owner of Terra (LUNA)</a:t>
            </a:r>
            <a:br>
              <a:rPr lang="en-US" sz="1400"/>
            </a:br>
            <a:r>
              <a:rPr lang="en-US" sz="1400"/>
              <a:t>Singapore, South Korea</a:t>
            </a:r>
          </a:p>
        </p:txBody>
      </p:sp>
      <p:pic>
        <p:nvPicPr>
          <p:cNvPr id="3" name="Picture 2">
            <a:extLst>
              <a:ext uri="{FF2B5EF4-FFF2-40B4-BE49-F238E27FC236}">
                <a16:creationId xmlns:a16="http://schemas.microsoft.com/office/drawing/2014/main" id="{5B8D2B3A-DC79-6CF4-7702-9AA1D5F77AF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367174" y="118763"/>
            <a:ext cx="1321492" cy="1441265"/>
          </a:xfrm>
          <a:prstGeom prst="rect">
            <a:avLst/>
          </a:prstGeom>
        </p:spPr>
      </p:pic>
      <p:sp>
        <p:nvSpPr>
          <p:cNvPr id="6" name="TextBox 5">
            <a:extLst>
              <a:ext uri="{FF2B5EF4-FFF2-40B4-BE49-F238E27FC236}">
                <a16:creationId xmlns:a16="http://schemas.microsoft.com/office/drawing/2014/main" id="{D2016BD0-AF08-9846-CF24-A75494A47ABB}"/>
              </a:ext>
            </a:extLst>
          </p:cNvPr>
          <p:cNvSpPr txBox="1"/>
          <p:nvPr/>
        </p:nvSpPr>
        <p:spPr>
          <a:xfrm>
            <a:off x="9266267" y="2799008"/>
            <a:ext cx="2810038" cy="3046988"/>
          </a:xfrm>
          <a:prstGeom prst="rect">
            <a:avLst/>
          </a:prstGeom>
          <a:solidFill>
            <a:schemeClr val="accent6">
              <a:lumMod val="20000"/>
              <a:lumOff val="80000"/>
            </a:schemeClr>
          </a:solidFill>
        </p:spPr>
        <p:txBody>
          <a:bodyPr wrap="square" rtlCol="0">
            <a:spAutoFit/>
          </a:bodyPr>
          <a:lstStyle/>
          <a:p>
            <a:pPr marL="171450" indent="-171450">
              <a:buFont typeface="Arial" panose="020B0604020202020204" pitchFamily="34" charset="0"/>
              <a:buChar char="•"/>
            </a:pPr>
            <a:r>
              <a:rPr lang="en-US" sz="1200"/>
              <a:t>Tony Yiu – "The TerraUSD Stablecoin Lunacy Explained" - </a:t>
            </a:r>
            <a:r>
              <a:rPr lang="en-US" sz="1200">
                <a:hlinkClick r:id="rId4"/>
              </a:rPr>
              <a:t>https://medium.com/alpha-beta-blog/the-terrausd-stablecoin-lunacy-explained-cd290e326b47</a:t>
            </a:r>
            <a:endParaRPr lang="en-US" sz="1200"/>
          </a:p>
          <a:p>
            <a:pPr marL="171450" indent="-171450">
              <a:buFont typeface="Arial" panose="020B0604020202020204" pitchFamily="34" charset="0"/>
              <a:buChar char="•"/>
            </a:pPr>
            <a:r>
              <a:rPr lang="en-US" sz="1200"/>
              <a:t>"Stablecoins = Hyperinflation?" - </a:t>
            </a:r>
            <a:r>
              <a:rPr lang="en-US" sz="1200">
                <a:hlinkClick r:id="rId5"/>
              </a:rPr>
              <a:t>https://medium.com/alpha-beta-blog/stablecoins-hyperinflation-73c3d65122f</a:t>
            </a:r>
            <a:r>
              <a:rPr lang="en-US" sz="1200"/>
              <a:t> </a:t>
            </a:r>
          </a:p>
          <a:p>
            <a:pPr marL="171450" indent="-171450">
              <a:buFont typeface="Arial" panose="020B0604020202020204" pitchFamily="34" charset="0"/>
              <a:buChar char="•"/>
            </a:pPr>
            <a:r>
              <a:rPr lang="en-US" sz="1200"/>
              <a:t>How Luna Collapsed - </a:t>
            </a:r>
            <a:r>
              <a:rPr lang="en-US" sz="1200">
                <a:hlinkClick r:id="rId6"/>
              </a:rPr>
              <a:t>https://cryptohunter.store/how-luna-collapsed/</a:t>
            </a:r>
            <a:r>
              <a:rPr lang="en-US" sz="1200"/>
              <a:t> </a:t>
            </a:r>
          </a:p>
          <a:p>
            <a:pPr marL="171450" indent="-171450">
              <a:buFont typeface="Arial" panose="020B0604020202020204" pitchFamily="34" charset="0"/>
              <a:buChar char="•"/>
            </a:pPr>
            <a:r>
              <a:rPr lang="en-US" sz="1200"/>
              <a:t>Meet Luna, The $60 Billion Crypto Ponzi - </a:t>
            </a:r>
            <a:r>
              <a:rPr lang="en-US" sz="1200">
                <a:hlinkClick r:id="rId7"/>
              </a:rPr>
              <a:t>https://www.youtube.com/watch?v=aJHBphV5W-g</a:t>
            </a:r>
            <a:endParaRPr lang="en-US" sz="1200"/>
          </a:p>
        </p:txBody>
      </p:sp>
      <p:pic>
        <p:nvPicPr>
          <p:cNvPr id="10" name="Picture 9">
            <a:extLst>
              <a:ext uri="{FF2B5EF4-FFF2-40B4-BE49-F238E27FC236}">
                <a16:creationId xmlns:a16="http://schemas.microsoft.com/office/drawing/2014/main" id="{486E4BE0-A28D-59D1-A303-24B1F77BC308}"/>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115695" y="3106785"/>
            <a:ext cx="3355944" cy="2031325"/>
          </a:xfrm>
          <a:prstGeom prst="rect">
            <a:avLst/>
          </a:prstGeom>
        </p:spPr>
      </p:pic>
      <p:sp>
        <p:nvSpPr>
          <p:cNvPr id="11" name="TextBox 10">
            <a:extLst>
              <a:ext uri="{FF2B5EF4-FFF2-40B4-BE49-F238E27FC236}">
                <a16:creationId xmlns:a16="http://schemas.microsoft.com/office/drawing/2014/main" id="{C5C07B79-4FD8-8BF1-91BE-63DFB35B594A}"/>
              </a:ext>
            </a:extLst>
          </p:cNvPr>
          <p:cNvSpPr txBox="1"/>
          <p:nvPr/>
        </p:nvSpPr>
        <p:spPr>
          <a:xfrm>
            <a:off x="3649817" y="2799008"/>
            <a:ext cx="5484756" cy="3754874"/>
          </a:xfrm>
          <a:prstGeom prst="rect">
            <a:avLst/>
          </a:prstGeom>
          <a:solidFill>
            <a:schemeClr val="accent2">
              <a:lumMod val="20000"/>
              <a:lumOff val="80000"/>
            </a:schemeClr>
          </a:solidFill>
          <a:ln>
            <a:solidFill>
              <a:schemeClr val="accent1"/>
            </a:solidFill>
          </a:ln>
        </p:spPr>
        <p:txBody>
          <a:bodyPr wrap="square" rtlCol="0">
            <a:spAutoFit/>
          </a:bodyPr>
          <a:lstStyle/>
          <a:p>
            <a:r>
              <a:rPr lang="en-US" sz="1400" b="1">
                <a:solidFill>
                  <a:srgbClr val="FF0000"/>
                </a:solidFill>
              </a:rPr>
              <a:t>How has Luna collapsed. Was it an attack or natural event?</a:t>
            </a:r>
          </a:p>
          <a:p>
            <a:pPr marL="285750" indent="-285750">
              <a:buFont typeface="Arial" panose="020B0604020202020204" pitchFamily="34" charset="0"/>
              <a:buChar char="•"/>
            </a:pPr>
            <a:r>
              <a:rPr lang="en-US" sz="1400"/>
              <a:t>Some believe that Luna/Terra was a pyramid scheme and should've collapsed – it was just a matter of time. One of the theories is that it was prompted by an attack: Citadel hedge fund secretly gotten a hundred thousand bitcoin loan (approx $3 Bln) from Gemini, and they destroyed Luna with it using </a:t>
            </a:r>
            <a:r>
              <a:rPr lang="en-US" sz="1400" b="1">
                <a:solidFill>
                  <a:srgbClr val="FF0000"/>
                </a:solidFill>
              </a:rPr>
              <a:t>Freddie Reynolds</a:t>
            </a:r>
            <a:r>
              <a:rPr lang="en-US" sz="1400"/>
              <a:t>'s approach.</a:t>
            </a:r>
          </a:p>
          <a:p>
            <a:pPr marL="285750" indent="-285750">
              <a:buFont typeface="Arial" panose="020B0604020202020204" pitchFamily="34" charset="0"/>
              <a:buChar char="•"/>
            </a:pPr>
            <a:r>
              <a:rPr lang="en-US" sz="1400"/>
              <a:t>On Nov 25 2021, </a:t>
            </a:r>
            <a:r>
              <a:rPr lang="en-US" sz="1400" b="1">
                <a:solidFill>
                  <a:srgbClr val="FF0000"/>
                </a:solidFill>
              </a:rPr>
              <a:t>Freddie Reynolds</a:t>
            </a:r>
            <a:r>
              <a:rPr lang="en-US" sz="1400"/>
              <a:t> posted on Twitter how Luna could be crashed using approach similar to how George Soros broke the British Pound in 1992. </a:t>
            </a:r>
          </a:p>
          <a:p>
            <a:pPr marL="285750" indent="-285750">
              <a:buFont typeface="Arial" panose="020B0604020202020204" pitchFamily="34" charset="0"/>
              <a:buChar char="•"/>
            </a:pPr>
            <a:r>
              <a:rPr lang="en-US" sz="1400"/>
              <a:t>Soros made a short sale of $10 Bln worth of pounds sterling in a way that would become immensely profitable for him if the pound fell below certain level. Soros made $1 Bln profit.</a:t>
            </a:r>
          </a:p>
          <a:p>
            <a:pPr marL="285750" indent="-285750">
              <a:buFont typeface="Arial" panose="020B0604020202020204" pitchFamily="34" charset="0"/>
              <a:buChar char="•"/>
            </a:pPr>
            <a:r>
              <a:rPr lang="en-US" sz="1400" b="1">
                <a:solidFill>
                  <a:srgbClr val="FF0000"/>
                </a:solidFill>
              </a:rPr>
              <a:t>Freddie</a:t>
            </a:r>
            <a:r>
              <a:rPr lang="en-US" sz="1400"/>
              <a:t> explained that if you just had $1 Bln dollars, you could make $50 Mln, and repeat it until Luna falls apart (see next slide).</a:t>
            </a:r>
          </a:p>
          <a:p>
            <a:pPr marL="285750" indent="-285750">
              <a:buFont typeface="Arial" panose="020B0604020202020204" pitchFamily="34" charset="0"/>
              <a:buChar char="•"/>
            </a:pPr>
            <a:r>
              <a:rPr lang="en-US" sz="1400" b="1">
                <a:solidFill>
                  <a:srgbClr val="FF0000"/>
                </a:solidFill>
              </a:rPr>
              <a:t>Do Kwon</a:t>
            </a:r>
            <a:r>
              <a:rPr lang="en-US" sz="1400"/>
              <a:t> didn't protect Luna against this attack. He acted arrogantly, calling his critics poor, and even made multi-million dollar bet that UST will grow in 2022. </a:t>
            </a:r>
          </a:p>
        </p:txBody>
      </p:sp>
    </p:spTree>
    <p:extLst>
      <p:ext uri="{BB962C8B-B14F-4D97-AF65-F5344CB8AC3E}">
        <p14:creationId xmlns:p14="http://schemas.microsoft.com/office/powerpoint/2010/main" val="41485811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F27A46-1754-A020-269B-0BFE7B57D55B}"/>
              </a:ext>
            </a:extLst>
          </p:cNvPr>
          <p:cNvSpPr txBox="1"/>
          <p:nvPr/>
        </p:nvSpPr>
        <p:spPr>
          <a:xfrm>
            <a:off x="185352" y="523220"/>
            <a:ext cx="5152768" cy="307777"/>
          </a:xfrm>
          <a:prstGeom prst="rect">
            <a:avLst/>
          </a:prstGeom>
          <a:noFill/>
        </p:spPr>
        <p:txBody>
          <a:bodyPr wrap="square" rtlCol="0">
            <a:spAutoFit/>
          </a:bodyPr>
          <a:lstStyle/>
          <a:p>
            <a:r>
              <a:rPr lang="en-US" sz="1400">
                <a:hlinkClick r:id="rId2"/>
              </a:rPr>
              <a:t>https://twitter.com/freddieraynolds/status/1463960623402913797</a:t>
            </a:r>
            <a:endParaRPr lang="en-US" sz="1400"/>
          </a:p>
        </p:txBody>
      </p:sp>
      <p:sp>
        <p:nvSpPr>
          <p:cNvPr id="3" name="TextBox 2">
            <a:extLst>
              <a:ext uri="{FF2B5EF4-FFF2-40B4-BE49-F238E27FC236}">
                <a16:creationId xmlns:a16="http://schemas.microsoft.com/office/drawing/2014/main" id="{5371190A-F2EA-BCB9-62E4-F624F6C0D392}"/>
              </a:ext>
            </a:extLst>
          </p:cNvPr>
          <p:cNvSpPr txBox="1"/>
          <p:nvPr/>
        </p:nvSpPr>
        <p:spPr>
          <a:xfrm>
            <a:off x="185352" y="1084158"/>
            <a:ext cx="7797113" cy="5478423"/>
          </a:xfrm>
          <a:prstGeom prst="rect">
            <a:avLst/>
          </a:prstGeom>
          <a:solidFill>
            <a:schemeClr val="accent4">
              <a:lumMod val="20000"/>
              <a:lumOff val="80000"/>
            </a:schemeClr>
          </a:solidFill>
        </p:spPr>
        <p:txBody>
          <a:bodyPr wrap="square" rtlCol="0">
            <a:spAutoFit/>
          </a:bodyPr>
          <a:lstStyle/>
          <a:p>
            <a:r>
              <a:rPr lang="en-US" sz="1400" b="1">
                <a:solidFill>
                  <a:srgbClr val="FF0000"/>
                </a:solidFill>
              </a:rPr>
              <a:t>Twitter post by @FreddieRaynolds, Nov 25, 2021</a:t>
            </a:r>
          </a:p>
          <a:p>
            <a:r>
              <a:rPr lang="en-US" sz="1400"/>
              <a:t>A few weeks ago I responded to @tbr90’s tweet with a brief outline of how a wealthy attacker could not only break @terra_money, but profit heavily doing it with a Soros style Black Wednesday attack.  Below I provide a detailed breadown...   ~$1B capital needed.</a:t>
            </a:r>
          </a:p>
          <a:p>
            <a:pPr marL="342900" indent="-342900">
              <a:buFont typeface="+mj-lt"/>
              <a:buAutoNum type="arabicPeriod"/>
            </a:pPr>
            <a:endParaRPr lang="en-US" sz="1400"/>
          </a:p>
          <a:p>
            <a:pPr marL="342900" indent="-342900">
              <a:buFont typeface="+mj-lt"/>
              <a:buAutoNum type="arabicPeriod"/>
            </a:pPr>
            <a:r>
              <a:rPr lang="en-US" sz="1400"/>
              <a:t>Long $100M of $LUNA. PnL impact: $0. Net PnL: $0</a:t>
            </a:r>
          </a:p>
          <a:p>
            <a:pPr marL="342900" indent="-342900">
              <a:buFont typeface="+mj-lt"/>
              <a:buAutoNum type="arabicPeriod"/>
            </a:pPr>
            <a:r>
              <a:rPr lang="en-US" sz="1400"/>
              <a:t>Purchase $100k of $LUNA and immediately withdraw from exchange and swap to $UST using the Terra seigniorage mechanism. Fee is 0.5%. Repeat 10,000 times (use a bot) so you accumulate 500M UST for ~$502.5M. PnL impact: -$2.5M. Net PnL: -$2.5M</a:t>
            </a:r>
          </a:p>
          <a:p>
            <a:pPr marL="342900" indent="-342900">
              <a:buFont typeface="+mj-lt"/>
              <a:buAutoNum type="arabicPeriod"/>
            </a:pPr>
            <a:r>
              <a:rPr lang="en-US" sz="1400"/>
              <a:t>Sell your initial $100M $LUNA from step 1. Since there has been $500M of $LUNA market bought in step 2 looking at the current order books/PA I think a reasonable estimate here is +30% or $30M profit. PnL impact: +$30M. Net PnL: +$27.5M</a:t>
            </a:r>
          </a:p>
          <a:p>
            <a:pPr marL="342900" indent="-342900">
              <a:buFont typeface="+mj-lt"/>
              <a:buAutoNum type="arabicPeriod"/>
            </a:pPr>
            <a:r>
              <a:rPr lang="en-US" sz="1400"/>
              <a:t>Deposit $200M worth of bETH on @Anchor_Protocol and take a loan out for 100M $UST. PnL impact: $0. Net PnL: +$27.5M</a:t>
            </a:r>
          </a:p>
          <a:p>
            <a:pPr marL="342900" indent="-342900">
              <a:buFont typeface="+mj-lt"/>
              <a:buAutoNum type="arabicPeriod"/>
            </a:pPr>
            <a:r>
              <a:rPr lang="en-US" sz="1400"/>
              <a:t>Short $100M of $LUNA. PnL impact: $0. Net PnL: +$27.5M</a:t>
            </a:r>
          </a:p>
          <a:p>
            <a:pPr marL="342900" indent="-342900">
              <a:buFont typeface="+mj-lt"/>
              <a:buAutoNum type="arabicPeriod"/>
            </a:pPr>
            <a:r>
              <a:rPr lang="en-US" sz="1400"/>
              <a:t>In $100k chunks use seignorage again to convert 500M $UST (step 2) and 100M $UST (step 4) to $LUNA. After each conversion dump the $LUNA. Conversion fee 0.5% and the rate limit means this step will take a week. 600M UST sold for ~$597M. PnL impact: -$3M. Net PnL: +$24.5M</a:t>
            </a:r>
          </a:p>
          <a:p>
            <a:pPr marL="342900" indent="-342900">
              <a:buFont typeface="+mj-lt"/>
              <a:buAutoNum type="arabicPeriod"/>
            </a:pPr>
            <a:r>
              <a:rPr lang="en-US" sz="1400"/>
              <a:t>Close the $LUNA short from step 5. Since there has been $600M of $LUNA market sold in step 6 I think a reasonable estimate here is -30% for $LUNA price or $30M profit. PnL: $30M. Net PnL: +$54.5M</a:t>
            </a:r>
          </a:p>
          <a:p>
            <a:pPr marL="342900" indent="-342900">
              <a:buFont typeface="+mj-lt"/>
              <a:buAutoNum type="arabicPeriod"/>
            </a:pPr>
            <a:r>
              <a:rPr lang="en-US" sz="1400"/>
              <a:t>Payback loan from step 4 and reclaim your bETH. PnL: $0M. Net PnL: +$54.5M</a:t>
            </a:r>
          </a:p>
          <a:p>
            <a:pPr marL="342900" indent="-342900">
              <a:buFont typeface="+mj-lt"/>
              <a:buAutoNum type="arabicPeriod"/>
            </a:pPr>
            <a:r>
              <a:rPr lang="en-US" sz="1400"/>
              <a:t>Repeat. After a few iterations the protocol will collapse at step 6. </a:t>
            </a:r>
            <a:br>
              <a:rPr lang="en-US" sz="1400"/>
            </a:br>
            <a:r>
              <a:rPr lang="en-US" sz="1400"/>
              <a:t>Many #Lunatics assume that $LUNA can never have a value of 0.  This is only true if the future circulating supply of $LUNA isn’t ∞ but above process leads to ∞ $LUNA being minted…</a:t>
            </a:r>
          </a:p>
        </p:txBody>
      </p:sp>
      <p:sp>
        <p:nvSpPr>
          <p:cNvPr id="4" name="TextBox 3">
            <a:extLst>
              <a:ext uri="{FF2B5EF4-FFF2-40B4-BE49-F238E27FC236}">
                <a16:creationId xmlns:a16="http://schemas.microsoft.com/office/drawing/2014/main" id="{F3E90E3D-AFC2-5D63-9E85-0D711AD3A93D}"/>
              </a:ext>
            </a:extLst>
          </p:cNvPr>
          <p:cNvSpPr txBox="1"/>
          <p:nvPr/>
        </p:nvSpPr>
        <p:spPr>
          <a:xfrm>
            <a:off x="0" y="0"/>
            <a:ext cx="6471130" cy="523220"/>
          </a:xfrm>
          <a:prstGeom prst="rect">
            <a:avLst/>
          </a:prstGeom>
          <a:noFill/>
        </p:spPr>
        <p:txBody>
          <a:bodyPr wrap="none" rtlCol="0">
            <a:spAutoFit/>
          </a:bodyPr>
          <a:lstStyle/>
          <a:p>
            <a:r>
              <a:rPr lang="en-US" sz="2800" b="1"/>
              <a:t>Freddie Raynolds protocol to destroy Luna</a:t>
            </a:r>
          </a:p>
        </p:txBody>
      </p:sp>
      <p:pic>
        <p:nvPicPr>
          <p:cNvPr id="1026" name="Picture 2" descr="Image">
            <a:extLst>
              <a:ext uri="{FF2B5EF4-FFF2-40B4-BE49-F238E27FC236}">
                <a16:creationId xmlns:a16="http://schemas.microsoft.com/office/drawing/2014/main" id="{440E2023-9EEC-B900-F2E5-4DA5D832D60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245811" y="227423"/>
            <a:ext cx="1713470" cy="171347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A508F75-DAB0-F6FA-7133-FBF59FAEA76F}"/>
              </a:ext>
            </a:extLst>
          </p:cNvPr>
          <p:cNvSpPr txBox="1"/>
          <p:nvPr/>
        </p:nvSpPr>
        <p:spPr>
          <a:xfrm>
            <a:off x="10107827" y="2014151"/>
            <a:ext cx="1989438" cy="369332"/>
          </a:xfrm>
          <a:prstGeom prst="rect">
            <a:avLst/>
          </a:prstGeom>
          <a:noFill/>
        </p:spPr>
        <p:txBody>
          <a:bodyPr wrap="square" rtlCol="0">
            <a:spAutoFit/>
          </a:bodyPr>
          <a:lstStyle/>
          <a:p>
            <a:r>
              <a:rPr lang="en-US">
                <a:hlinkClick r:id="rId4"/>
              </a:rPr>
              <a:t>@FreddieRaynolds</a:t>
            </a:r>
          </a:p>
        </p:txBody>
      </p:sp>
    </p:spTree>
    <p:extLst>
      <p:ext uri="{BB962C8B-B14F-4D97-AF65-F5344CB8AC3E}">
        <p14:creationId xmlns:p14="http://schemas.microsoft.com/office/powerpoint/2010/main" val="184893685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2856</TotalTime>
  <Words>5533</Words>
  <Application>Microsoft Macintosh PowerPoint</Application>
  <PresentationFormat>Widescreen</PresentationFormat>
  <Paragraphs>402</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239</cp:revision>
  <dcterms:modified xsi:type="dcterms:W3CDTF">2022-05-17T21:41:06Z</dcterms:modified>
</cp:coreProperties>
</file>