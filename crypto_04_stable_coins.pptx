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14"/>
  </p:notesMasterIdLst>
  <p:sldIdLst>
    <p:sldId id="274" r:id="rId2"/>
    <p:sldId id="316" r:id="rId3"/>
    <p:sldId id="309" r:id="rId4"/>
    <p:sldId id="317" r:id="rId5"/>
    <p:sldId id="310" r:id="rId6"/>
    <p:sldId id="315" r:id="rId7"/>
    <p:sldId id="311" r:id="rId8"/>
    <p:sldId id="312" r:id="rId9"/>
    <p:sldId id="307" r:id="rId10"/>
    <p:sldId id="313" r:id="rId11"/>
    <p:sldId id="314" r:id="rId12"/>
    <p:sldId id="308"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61"/>
    <p:restoredTop sz="92312"/>
  </p:normalViewPr>
  <p:slideViewPr>
    <p:cSldViewPr snapToGrid="0" snapToObjects="1">
      <p:cViewPr varScale="1">
        <p:scale>
          <a:sx n="112" d="100"/>
          <a:sy n="112" d="100"/>
        </p:scale>
        <p:origin x="224"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5/8/22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5/8/22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5/8/22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5/8/22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5/8/22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5/8/22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5/8/22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cointelegraph.com/explained/how-stablecoins-stay-stable-explained"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4" Type="http://schemas.openxmlformats.org/officeDocument/2006/relationships/hyperlink" Target="https://www.benzinga.com/money/how-do-stablecoins-make-money/"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5.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6.png"/><Relationship Id="rId4" Type="http://schemas.openxmlformats.org/officeDocument/2006/relationships/hyperlink" Target="https://www.bitfinex.com/"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hyperlink" Target="https://en.wikipedia.org/wiki/Binance"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1615610736"/>
              </p:ext>
            </p:extLst>
          </p:nvPr>
        </p:nvGraphicFramePr>
        <p:xfrm>
          <a:off x="6195060" y="164266"/>
          <a:ext cx="5854066" cy="2479460"/>
        </p:xfrm>
        <a:graphic>
          <a:graphicData uri="http://schemas.openxmlformats.org/drawingml/2006/table">
            <a:tbl>
              <a:tblPr firstRow="1">
                <a:tableStyleId>{E8B1032C-EA38-4F05-BA0D-38AFFFC7BED3}</a:tableStyleId>
              </a:tblPr>
              <a:tblGrid>
                <a:gridCol w="2102680">
                  <a:extLst>
                    <a:ext uri="{9D8B030D-6E8A-4147-A177-3AD203B41FA5}">
                      <a16:colId xmlns:a16="http://schemas.microsoft.com/office/drawing/2014/main" val="2982074288"/>
                    </a:ext>
                  </a:extLst>
                </a:gridCol>
                <a:gridCol w="861871">
                  <a:extLst>
                    <a:ext uri="{9D8B030D-6E8A-4147-A177-3AD203B41FA5}">
                      <a16:colId xmlns:a16="http://schemas.microsoft.com/office/drawing/2014/main" val="1493870040"/>
                    </a:ext>
                  </a:extLst>
                </a:gridCol>
                <a:gridCol w="1142775">
                  <a:extLst>
                    <a:ext uri="{9D8B030D-6E8A-4147-A177-3AD203B41FA5}">
                      <a16:colId xmlns:a16="http://schemas.microsoft.com/office/drawing/2014/main" val="1003406525"/>
                    </a:ext>
                  </a:extLst>
                </a:gridCol>
                <a:gridCol w="1746740">
                  <a:extLst>
                    <a:ext uri="{9D8B030D-6E8A-4147-A177-3AD203B41FA5}">
                      <a16:colId xmlns:a16="http://schemas.microsoft.com/office/drawing/2014/main" val="572861281"/>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u="none" strike="noStrike">
                          <a:effectLst/>
                        </a:rPr>
                        <a:t>Binance USD / BUSD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Fiat USD</a:t>
                      </a: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a:t>
                      </a: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u="none" strike="noStrike">
                          <a:effectLst/>
                        </a:rPr>
                        <a:t>TerraUSD / UST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0000"/>
                          </a:solidFill>
                          <a:effectLst/>
                          <a:latin typeface="Helvetica" pitchFamily="2" charset="0"/>
                        </a:rPr>
                        <a:t>3</a:t>
                      </a:r>
                    </a:p>
                  </a:txBody>
                  <a:tcPr marL="12700" marR="12700" marT="12700" marB="0" anchor="ctr"/>
                </a:tc>
                <a:tc>
                  <a:txBody>
                    <a:bodyPr/>
                    <a:lstStyle/>
                    <a:p>
                      <a:pPr algn="l" fontAlgn="b"/>
                      <a:r>
                        <a:rPr lang="en-US" sz="1400" u="none" strike="noStrike">
                          <a:effectLst/>
                        </a:rPr>
                        <a:t>Alternative</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6189044" y="3089370"/>
            <a:ext cx="5336933" cy="1323439"/>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br>
              <a:rPr lang="en-US" sz="1400"/>
            </a:b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How Stable Coins Stay Stable?</a:t>
            </a:r>
            <a:br>
              <a:rPr lang="en-US" sz="1400"/>
            </a:br>
            <a:r>
              <a:rPr lang="en-US" sz="1200"/>
              <a:t>- </a:t>
            </a:r>
            <a:r>
              <a:rPr lang="en-US" sz="1200">
                <a:hlinkClick r:id="rId3"/>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br>
              <a:rPr lang="en-US" sz="1400"/>
            </a:br>
            <a:r>
              <a:rPr lang="en-US" sz="1200"/>
              <a:t> - </a:t>
            </a:r>
            <a:r>
              <a:rPr lang="en-US" sz="1200">
                <a:hlinkClick r:id="rId4"/>
              </a:rPr>
              <a:t>https://www.benzinga.com/money/how-do-stablecoins-make-money/</a:t>
            </a:r>
            <a:endParaRPr lang="en-US" sz="1200"/>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6124754"/>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a:p>
            <a:pPr marL="285750" indent="-285750">
              <a:buFont typeface="Arial" panose="020B0604020202020204" pitchFamily="34" charset="0"/>
              <a:buChar char="•"/>
            </a:pPr>
            <a:r>
              <a:rPr lang="en-US" sz="1400" b="1">
                <a:solidFill>
                  <a:srgbClr val="FF0000"/>
                </a:solidFill>
              </a:rPr>
              <a:t>Centralised stablecoins</a:t>
            </a:r>
            <a:r>
              <a:rPr lang="en-US" sz="1400"/>
              <a:t> – hold collateral is off-chain. Centralised stablecoins are issued by banks or other issuing entities. These entities make money through lending and investing, in a manner similar to traditional banks. Only a fraction of deposits are backed by physical cash on hand that can be withdrawn by investors.</a:t>
            </a:r>
          </a:p>
          <a:p>
            <a:pPr marL="285750" indent="-285750">
              <a:buFont typeface="Arial" panose="020B0604020202020204" pitchFamily="34" charset="0"/>
              <a:buChar char="•"/>
            </a:pPr>
            <a:r>
              <a:rPr lang="en-US" sz="1400" b="1">
                <a:solidFill>
                  <a:srgbClr val="FF0000"/>
                </a:solidFill>
              </a:rPr>
              <a:t>Decentralized stablecoins</a:t>
            </a:r>
            <a:r>
              <a:rPr lang="en-US" sz="1400"/>
              <a:t> are stablecoins that hold their reserve assets on-chain using other cryptocurrencies and smart contracts. This process helps solve the transparency issues that centralized stablecoin providers face. These stablecoins use smart contracts to eliminate the need for a third party. 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 </a:t>
            </a:r>
            <a:br>
              <a:rPr lang="en-US" sz="1400"/>
            </a:b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sp>
        <p:nvSpPr>
          <p:cNvPr id="4" name="TextBox 3">
            <a:extLst>
              <a:ext uri="{FF2B5EF4-FFF2-40B4-BE49-F238E27FC236}">
                <a16:creationId xmlns:a16="http://schemas.microsoft.com/office/drawing/2014/main" id="{C9984FAF-1699-1E4E-C63B-A37B81BD69D4}"/>
              </a:ext>
            </a:extLst>
          </p:cNvPr>
          <p:cNvSpPr txBox="1"/>
          <p:nvPr/>
        </p:nvSpPr>
        <p:spPr>
          <a:xfrm>
            <a:off x="6189044" y="4675574"/>
            <a:ext cx="5860082" cy="203132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Gemini, Hodlnaut or Celsius (with less risk than with traditional cryptocurrencies).</a:t>
            </a:r>
          </a:p>
        </p:txBody>
      </p:sp>
    </p:spTree>
    <p:extLst>
      <p:ext uri="{BB962C8B-B14F-4D97-AF65-F5344CB8AC3E}">
        <p14:creationId xmlns:p14="http://schemas.microsoft.com/office/powerpoint/2010/main" val="42724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587075" y="1087655"/>
            <a:ext cx="5871543" cy="2865386"/>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6689557" y="1193533"/>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6689557" y="1501310"/>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2B123C-B57F-26CD-8F54-BE1BD346940D}"/>
              </a:ext>
            </a:extLst>
          </p:cNvPr>
          <p:cNvSpPr txBox="1"/>
          <p:nvPr/>
        </p:nvSpPr>
        <p:spPr>
          <a:xfrm>
            <a:off x="2430781" y="3405271"/>
            <a:ext cx="1498231" cy="1200329"/>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a:t>Investments</a:t>
            </a:r>
          </a:p>
          <a:p>
            <a:pPr algn="ctr"/>
            <a:r>
              <a:rPr lang="en-US"/>
              <a:t>earning interest</a:t>
            </a:r>
          </a:p>
          <a:p>
            <a:pPr algn="ctr"/>
            <a:r>
              <a:rPr lang="en-US"/>
              <a:t>for issuer</a:t>
            </a:r>
          </a:p>
        </p:txBody>
      </p:sp>
      <p:sp>
        <p:nvSpPr>
          <p:cNvPr id="3" name="TextBox 2">
            <a:extLst>
              <a:ext uri="{FF2B5EF4-FFF2-40B4-BE49-F238E27FC236}">
                <a16:creationId xmlns:a16="http://schemas.microsoft.com/office/drawing/2014/main" id="{63459E8F-89D1-EAB9-5005-F2C6FAC7601E}"/>
              </a:ext>
            </a:extLst>
          </p:cNvPr>
          <p:cNvSpPr txBox="1"/>
          <p:nvPr/>
        </p:nvSpPr>
        <p:spPr>
          <a:xfrm>
            <a:off x="4771623" y="2869165"/>
            <a:ext cx="1329891" cy="646331"/>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a:t>Stablecoin issuer</a:t>
            </a:r>
          </a:p>
        </p:txBody>
      </p:sp>
      <p:sp>
        <p:nvSpPr>
          <p:cNvPr id="4" name="TextBox 3">
            <a:extLst>
              <a:ext uri="{FF2B5EF4-FFF2-40B4-BE49-F238E27FC236}">
                <a16:creationId xmlns:a16="http://schemas.microsoft.com/office/drawing/2014/main" id="{A2C8AE47-8BBF-5370-6C00-8124A4F7747D}"/>
              </a:ext>
            </a:extLst>
          </p:cNvPr>
          <p:cNvSpPr txBox="1"/>
          <p:nvPr/>
        </p:nvSpPr>
        <p:spPr>
          <a:xfrm>
            <a:off x="2430781" y="2407401"/>
            <a:ext cx="1503237" cy="646331"/>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a:t>Collateral</a:t>
            </a:r>
          </a:p>
          <a:p>
            <a:pPr algn="ctr"/>
            <a:r>
              <a:rPr lang="en-US"/>
              <a:t>reserve</a:t>
            </a:r>
          </a:p>
        </p:txBody>
      </p:sp>
      <p:sp>
        <p:nvSpPr>
          <p:cNvPr id="6" name="Left-Right Arrow 5">
            <a:extLst>
              <a:ext uri="{FF2B5EF4-FFF2-40B4-BE49-F238E27FC236}">
                <a16:creationId xmlns:a16="http://schemas.microsoft.com/office/drawing/2014/main" id="{E4DFFF1F-2718-416C-93B1-0E3B6FF6E5F6}"/>
              </a:ext>
            </a:extLst>
          </p:cNvPr>
          <p:cNvSpPr/>
          <p:nvPr/>
        </p:nvSpPr>
        <p:spPr>
          <a:xfrm rot="1922511">
            <a:off x="4013836" y="2802206"/>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Left-Right Arrow 6">
            <a:extLst>
              <a:ext uri="{FF2B5EF4-FFF2-40B4-BE49-F238E27FC236}">
                <a16:creationId xmlns:a16="http://schemas.microsoft.com/office/drawing/2014/main" id="{3317E896-999D-E116-C8E5-E0B2D7940659}"/>
              </a:ext>
            </a:extLst>
          </p:cNvPr>
          <p:cNvSpPr/>
          <p:nvPr/>
        </p:nvSpPr>
        <p:spPr>
          <a:xfrm rot="19455993">
            <a:off x="4004802" y="3448538"/>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Left-Right Arrow 7">
            <a:extLst>
              <a:ext uri="{FF2B5EF4-FFF2-40B4-BE49-F238E27FC236}">
                <a16:creationId xmlns:a16="http://schemas.microsoft.com/office/drawing/2014/main" id="{7F9D8C78-613C-5C05-5E37-652F8A397FCC}"/>
              </a:ext>
            </a:extLst>
          </p:cNvPr>
          <p:cNvSpPr/>
          <p:nvPr/>
        </p:nvSpPr>
        <p:spPr>
          <a:xfrm rot="20152569">
            <a:off x="6268111" y="2866342"/>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F32717CF-C9ED-BDB0-3435-A0DD08198CD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51668" y="2150112"/>
            <a:ext cx="2832100" cy="2235200"/>
          </a:xfrm>
          <a:prstGeom prst="rect">
            <a:avLst/>
          </a:prstGeom>
        </p:spPr>
      </p:pic>
      <p:sp>
        <p:nvSpPr>
          <p:cNvPr id="11" name="TextBox 10">
            <a:extLst>
              <a:ext uri="{FF2B5EF4-FFF2-40B4-BE49-F238E27FC236}">
                <a16:creationId xmlns:a16="http://schemas.microsoft.com/office/drawing/2014/main" id="{D7F8B7E3-A97F-7195-41CC-6724DD5C2707}"/>
              </a:ext>
            </a:extLst>
          </p:cNvPr>
          <p:cNvSpPr txBox="1"/>
          <p:nvPr/>
        </p:nvSpPr>
        <p:spPr>
          <a:xfrm>
            <a:off x="6271006" y="2260167"/>
            <a:ext cx="586993" cy="523220"/>
          </a:xfrm>
          <a:prstGeom prst="rect">
            <a:avLst/>
          </a:prstGeom>
          <a:noFill/>
        </p:spPr>
        <p:txBody>
          <a:bodyPr wrap="square" rtlCol="0">
            <a:spAutoFit/>
          </a:bodyPr>
          <a:lstStyle/>
          <a:p>
            <a:pPr algn="ctr"/>
            <a:r>
              <a:rPr lang="en-US" sz="1400"/>
              <a:t>Small Fee</a:t>
            </a:r>
          </a:p>
        </p:txBody>
      </p:sp>
      <p:sp>
        <p:nvSpPr>
          <p:cNvPr id="12" name="Left-Right Arrow 11">
            <a:extLst>
              <a:ext uri="{FF2B5EF4-FFF2-40B4-BE49-F238E27FC236}">
                <a16:creationId xmlns:a16="http://schemas.microsoft.com/office/drawing/2014/main" id="{79A8BDF2-E18A-7C7A-368B-CFF0402FF605}"/>
              </a:ext>
            </a:extLst>
          </p:cNvPr>
          <p:cNvSpPr/>
          <p:nvPr/>
        </p:nvSpPr>
        <p:spPr>
          <a:xfrm rot="1922511">
            <a:off x="6253744" y="3432413"/>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019CE7F-943F-12C2-5E99-39F3B38C64AE}"/>
              </a:ext>
            </a:extLst>
          </p:cNvPr>
          <p:cNvSpPr txBox="1"/>
          <p:nvPr/>
        </p:nvSpPr>
        <p:spPr>
          <a:xfrm>
            <a:off x="7712955" y="1733770"/>
            <a:ext cx="1709526" cy="307777"/>
          </a:xfrm>
          <a:prstGeom prst="rect">
            <a:avLst/>
          </a:prstGeom>
          <a:noFill/>
        </p:spPr>
        <p:txBody>
          <a:bodyPr wrap="square" rtlCol="0">
            <a:spAutoFit/>
          </a:bodyPr>
          <a:lstStyle/>
          <a:p>
            <a:pPr algn="ctr"/>
            <a:r>
              <a:rPr lang="en-US" sz="1400"/>
              <a:t>Crypto markets</a:t>
            </a:r>
          </a:p>
        </p:txBody>
      </p:sp>
    </p:spTree>
    <p:extLst>
      <p:ext uri="{BB962C8B-B14F-4D97-AF65-F5344CB8AC3E}">
        <p14:creationId xmlns:p14="http://schemas.microsoft.com/office/powerpoint/2010/main" val="25446686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5219700" y="630734"/>
            <a:ext cx="6769100" cy="5909310"/>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more other cryptocurrencies. </a:t>
            </a:r>
          </a:p>
          <a:p>
            <a:endParaRPr lang="en-US" sz="1400"/>
          </a:p>
          <a:p>
            <a:r>
              <a:rPr lang="en-US" sz="1400"/>
              <a:t>As these cryptocurrencies are themselves </a:t>
            </a:r>
            <a:r>
              <a:rPr lang="en-US" sz="1400">
                <a:solidFill>
                  <a:srgbClr val="FF0000"/>
                </a:solidFill>
              </a:rPr>
              <a:t>highly volatile</a:t>
            </a:r>
            <a:r>
              <a:rPr lang="en-US" sz="1400"/>
              <a:t>, these stablecoins are highly </a:t>
            </a:r>
            <a:r>
              <a:rPr lang="en-US" sz="1400" b="1">
                <a:solidFill>
                  <a:srgbClr val="00B050"/>
                </a:solidFill>
              </a:rPr>
              <a:t>overcollateralized</a:t>
            </a:r>
            <a:r>
              <a:rPr lang="en-US" sz="1400"/>
              <a:t>, and require purchasers to lock their collateral tokens into smart contracts that will be liquidated if the collateral drops in value too much. The collateral that can be collected by replacing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That was successful, and the stablecoin’s market capitalization is more than $7 Billion at this writing.</a:t>
            </a:r>
          </a:p>
          <a:p>
            <a:endParaRPr lang="en-US" sz="1400"/>
          </a:p>
          <a:p>
            <a:r>
              <a:rPr lang="en-US" sz="1400"/>
              <a:t>It is getting some competition this summer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0" y="39811"/>
            <a:ext cx="4800600" cy="523220"/>
          </a:xfrm>
          <a:prstGeom prst="rect">
            <a:avLst/>
          </a:prstGeom>
          <a:noFill/>
        </p:spPr>
        <p:txBody>
          <a:bodyPr wrap="square" rtlCol="0">
            <a:spAutoFit/>
          </a:bodyPr>
          <a:lstStyle/>
          <a:p>
            <a:r>
              <a:rPr lang="en-US" sz="2800" b="1"/>
              <a:t>Free TON, Octus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Everscale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577851"/>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Tree>
    <p:extLst>
      <p:ext uri="{BB962C8B-B14F-4D97-AF65-F5344CB8AC3E}">
        <p14:creationId xmlns:p14="http://schemas.microsoft.com/office/powerpoint/2010/main" val="19336861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2358</TotalTime>
  <Words>2990</Words>
  <Application>Microsoft Macintosh PowerPoint</Application>
  <PresentationFormat>Widescreen</PresentationFormat>
  <Paragraphs>250</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198</cp:revision>
  <dcterms:modified xsi:type="dcterms:W3CDTF">2022-05-08T14:49:59Z</dcterms:modified>
</cp:coreProperties>
</file>