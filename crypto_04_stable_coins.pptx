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11"/>
  </p:notesMasterIdLst>
  <p:sldIdLst>
    <p:sldId id="274" r:id="rId2"/>
    <p:sldId id="309" r:id="rId3"/>
    <p:sldId id="310" r:id="rId4"/>
    <p:sldId id="311" r:id="rId5"/>
    <p:sldId id="312" r:id="rId6"/>
    <p:sldId id="307" r:id="rId7"/>
    <p:sldId id="313" r:id="rId8"/>
    <p:sldId id="314" r:id="rId9"/>
    <p:sldId id="308"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60"/>
    <p:restoredTop sz="92312"/>
  </p:normalViewPr>
  <p:slideViewPr>
    <p:cSldViewPr snapToGrid="0" snapToObjects="1">
      <p:cViewPr varScale="1">
        <p:scale>
          <a:sx n="111" d="100"/>
          <a:sy n="111" d="100"/>
        </p:scale>
        <p:origin x="232" y="6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5/4/22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5/4/22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5/4/22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5/4/22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5/4/22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5/4/22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5/4/22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5/4/22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1.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2.png"/><Relationship Id="rId4" Type="http://schemas.openxmlformats.org/officeDocument/2006/relationships/hyperlink" Target="https://www.bitfinex.c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hyperlink" Target="https://en.wikipedia.org/wiki/Binance"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 Coins</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589081"/>
            <a:ext cx="5429251" cy="307777"/>
          </a:xfrm>
          <a:prstGeom prst="rect">
            <a:avLst/>
          </a:prstGeom>
          <a:noFill/>
        </p:spPr>
        <p:txBody>
          <a:bodyPr wrap="square" rtlCol="0">
            <a:spAutoFit/>
          </a:bodyPr>
          <a:lstStyle/>
          <a:p>
            <a:r>
              <a:rPr lang="en-US" sz="1400"/>
              <a:t> - </a:t>
            </a:r>
            <a:r>
              <a:rPr lang="en-US" sz="1400">
                <a:hlinkClick r:id="rId2"/>
              </a:rPr>
              <a:t>https://www.investopedia.com/terms/s/stablecoin.asp</a:t>
            </a:r>
            <a:r>
              <a:rPr lang="en-US" sz="1400"/>
              <a:t> - </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1385309067"/>
              </p:ext>
            </p:extLst>
          </p:nvPr>
        </p:nvGraphicFramePr>
        <p:xfrm>
          <a:off x="6515099" y="589081"/>
          <a:ext cx="5336933" cy="3541199"/>
        </p:xfrm>
        <a:graphic>
          <a:graphicData uri="http://schemas.openxmlformats.org/drawingml/2006/table">
            <a:tbl>
              <a:tblPr firstRow="1">
                <a:tableStyleId>{E8B1032C-EA38-4F05-BA0D-38AFFFC7BED3}</a:tableStyleId>
              </a:tblPr>
              <a:tblGrid>
                <a:gridCol w="1585547">
                  <a:extLst>
                    <a:ext uri="{9D8B030D-6E8A-4147-A177-3AD203B41FA5}">
                      <a16:colId xmlns:a16="http://schemas.microsoft.com/office/drawing/2014/main" val="2982074288"/>
                    </a:ext>
                  </a:extLst>
                </a:gridCol>
                <a:gridCol w="861871">
                  <a:extLst>
                    <a:ext uri="{9D8B030D-6E8A-4147-A177-3AD203B41FA5}">
                      <a16:colId xmlns:a16="http://schemas.microsoft.com/office/drawing/2014/main" val="1493870040"/>
                    </a:ext>
                  </a:extLst>
                </a:gridCol>
                <a:gridCol w="1142775">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481247">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481247">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714916">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a:t>
                      </a:r>
                    </a:p>
                  </a:txBody>
                  <a:tcPr marL="12700" marR="12700" marT="12700" marB="0" anchor="ctr"/>
                </a:tc>
                <a:extLst>
                  <a:ext uri="{0D108BD9-81ED-4DB2-BD59-A6C34878D82A}">
                    <a16:rowId xmlns:a16="http://schemas.microsoft.com/office/drawing/2014/main" val="2234970906"/>
                  </a:ext>
                </a:extLst>
              </a:tr>
              <a:tr h="481247">
                <a:tc>
                  <a:txBody>
                    <a:bodyPr/>
                    <a:lstStyle/>
                    <a:p>
                      <a:pPr algn="l" fontAlgn="b"/>
                      <a:r>
                        <a:rPr lang="en-US" sz="1400" u="none" strike="noStrike">
                          <a:effectLst/>
                        </a:rPr>
                        <a:t>Binance USD / BUSD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Fiat USD</a:t>
                      </a: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a:t>
                      </a:r>
                    </a:p>
                  </a:txBody>
                  <a:tcPr marL="12700" marR="12700" marT="12700" marB="0" anchor="ctr"/>
                </a:tc>
                <a:extLst>
                  <a:ext uri="{0D108BD9-81ED-4DB2-BD59-A6C34878D82A}">
                    <a16:rowId xmlns:a16="http://schemas.microsoft.com/office/drawing/2014/main" val="2204012459"/>
                  </a:ext>
                </a:extLst>
              </a:tr>
              <a:tr h="333813">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333813">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714916">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5940640" y="4727912"/>
            <a:ext cx="6108486" cy="523220"/>
          </a:xfrm>
          <a:prstGeom prst="rect">
            <a:avLst/>
          </a:prstGeom>
          <a:noFill/>
        </p:spPr>
        <p:txBody>
          <a:bodyPr wrap="square" rtlCol="0">
            <a:spAutoFit/>
          </a:bodyPr>
          <a:lstStyle/>
          <a:p>
            <a:r>
              <a:rPr lang="en-US" sz="1400"/>
              <a:t>How Stable Coins Stay Stable:</a:t>
            </a:r>
          </a:p>
          <a:p>
            <a:r>
              <a:rPr lang="en-US" sz="1400"/>
              <a:t> - </a:t>
            </a:r>
            <a:r>
              <a:rPr lang="en-US" sz="1400">
                <a:hlinkClick r:id="rId3"/>
              </a:rPr>
              <a:t>https://cointelegraph.com/explained/how-stablecoins-stay-stable-explained</a:t>
            </a:r>
            <a:endParaRPr lang="en-US" sz="14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1019204"/>
            <a:ext cx="5040923" cy="3754874"/>
          </a:xfrm>
          <a:prstGeom prst="rect">
            <a:avLst/>
          </a:prstGeom>
          <a:no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a:t>
            </a:r>
          </a:p>
          <a:p>
            <a:pPr marL="285750" indent="-285750">
              <a:buFont typeface="Arial" panose="020B0604020202020204" pitchFamily="34" charset="0"/>
              <a:buChar char="•"/>
            </a:pPr>
            <a:r>
              <a:rPr lang="en-US" sz="1400"/>
              <a:t>that attempt to peg their market value to something external</a:t>
            </a:r>
            <a:br>
              <a:rPr lang="en-US" sz="1400"/>
            </a:br>
            <a:r>
              <a:rPr lang="en-US" sz="1400"/>
              <a:t>like a currency (USD), or commodity's price (gold), etc.</a:t>
            </a:r>
          </a:p>
          <a:p>
            <a:pPr marL="285750" indent="-285750">
              <a:buFont typeface="Arial" panose="020B0604020202020204" pitchFamily="34" charset="0"/>
              <a:buChar char="•"/>
            </a:pPr>
            <a:r>
              <a:rPr lang="en-US" sz="1400"/>
              <a:t>while maintaining the security, speed, and low cost of virtual asset transactions</a:t>
            </a:r>
          </a:p>
          <a:p>
            <a:endParaRPr lang="en-US" sz="1400"/>
          </a:p>
          <a:p>
            <a:r>
              <a:rPr lang="en-US" sz="1400"/>
              <a:t>Main benefits:</a:t>
            </a:r>
          </a:p>
          <a:p>
            <a:pPr marL="285750" indent="-285750">
              <a:buFont typeface="Arial" panose="020B0604020202020204" pitchFamily="34" charset="0"/>
              <a:buChar char="•"/>
            </a:pPr>
            <a:r>
              <a:rPr lang="en-US" sz="1400"/>
              <a:t>minimize the impact of the crypto price volatility in trading </a:t>
            </a:r>
          </a:p>
          <a:p>
            <a:pPr marL="285750" indent="-285750">
              <a:buFont typeface="Arial" panose="020B0604020202020204" pitchFamily="34" charset="0"/>
              <a:buChar char="•"/>
            </a:pPr>
            <a:r>
              <a:rPr lang="en-US" sz="1400"/>
              <a:t>have a bridge for financial institutions</a:t>
            </a:r>
          </a:p>
          <a:p>
            <a:endParaRPr lang="en-US" sz="1400"/>
          </a:p>
          <a:p>
            <a:r>
              <a:rPr lang="en-US" sz="1400" b="1">
                <a:solidFill>
                  <a:srgbClr val="00B050"/>
                </a:solidFill>
              </a:rPr>
              <a:t>Stablecoins</a:t>
            </a:r>
            <a:r>
              <a:rPr lang="en-US" sz="1400"/>
              <a:t> achieve their price stability via </a:t>
            </a:r>
          </a:p>
          <a:p>
            <a:pPr marL="285750" indent="-285750">
              <a:buFont typeface="Arial" panose="020B0604020202020204" pitchFamily="34" charset="0"/>
              <a:buChar char="•"/>
            </a:pPr>
            <a:r>
              <a:rPr lang="en-US" sz="1400"/>
              <a:t>either collateralization (backing) </a:t>
            </a:r>
          </a:p>
          <a:p>
            <a:pPr marL="285750" indent="-285750">
              <a:buFont typeface="Arial" panose="020B0604020202020204" pitchFamily="34" charset="0"/>
              <a:buChar char="•"/>
            </a:pPr>
            <a:r>
              <a:rPr lang="en-US" sz="1400"/>
              <a:t>or through algorithmic mechanisms of trading reference asset or its derivatives</a:t>
            </a:r>
          </a:p>
          <a:p>
            <a:endParaRPr lang="en-US" sz="1400"/>
          </a:p>
          <a:p>
            <a:r>
              <a:rPr lang="en-US" sz="1400" b="1">
                <a:solidFill>
                  <a:srgbClr val="00B050"/>
                </a:solidFill>
              </a:rPr>
              <a:t>Stablecoins</a:t>
            </a:r>
            <a:r>
              <a:rPr lang="en-US" sz="1400"/>
              <a:t> are beginning to branch out into </a:t>
            </a:r>
            <a:r>
              <a:rPr lang="en-US" sz="1400" b="1">
                <a:solidFill>
                  <a:srgbClr val="00B050"/>
                </a:solidFill>
              </a:rPr>
              <a:t>mainstream banking</a:t>
            </a:r>
            <a:r>
              <a:rPr lang="en-US" sz="1400"/>
              <a:t> </a:t>
            </a:r>
            <a:br>
              <a:rPr lang="en-US" sz="1400"/>
            </a:br>
            <a:r>
              <a:rPr lang="en-US" sz="1400"/>
              <a:t>to ease the cost and burdens of </a:t>
            </a:r>
            <a:r>
              <a:rPr lang="en-US" sz="1400" b="1">
                <a:solidFill>
                  <a:srgbClr val="FF0000"/>
                </a:solidFill>
              </a:rPr>
              <a:t>making payments</a:t>
            </a:r>
            <a:endParaRPr lang="en-US" sz="1400"/>
          </a:p>
        </p:txBody>
      </p:sp>
    </p:spTree>
    <p:extLst>
      <p:ext uri="{BB962C8B-B14F-4D97-AF65-F5344CB8AC3E}">
        <p14:creationId xmlns:p14="http://schemas.microsoft.com/office/powerpoint/2010/main" val="42724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11430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($62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highly volatile,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$4.8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3" y="786926"/>
            <a:ext cx="6415030" cy="5909310"/>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p>
          <a:p>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endParaRPr lang="en-US" sz="1400"/>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3657599" y="1288268"/>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Tree>
    <p:extLst>
      <p:ext uri="{BB962C8B-B14F-4D97-AF65-F5344CB8AC3E}">
        <p14:creationId xmlns:p14="http://schemas.microsoft.com/office/powerpoint/2010/main" val="1933686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190293" y="1049373"/>
            <a:ext cx="5905707" cy="2031325"/>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t>Dai is a stablecoin cryptocurrency on the Ethereum blockchain</a:t>
            </a:r>
          </a:p>
          <a:p>
            <a:pPr marL="380990" indent="-380990">
              <a:buFont typeface="Arial" panose="020B0604020202020204" pitchFamily="34" charset="0"/>
              <a:buChar char="•"/>
            </a:pPr>
            <a:r>
              <a:rPr lang="en-US" sz="1400"/>
              <a:t>aims to keep its value as close to one United States dollar as possible</a:t>
            </a:r>
          </a:p>
          <a:p>
            <a:pPr marL="380990" indent="-380990">
              <a:buFont typeface="Arial" panose="020B0604020202020204" pitchFamily="34" charset="0"/>
              <a:buChar char="•"/>
            </a:pPr>
            <a:r>
              <a:rPr lang="en-US" sz="1400"/>
              <a:t>through a system of smart contracts and the decentralized participants</a:t>
            </a:r>
          </a:p>
          <a:p>
            <a:pPr marL="380990" indent="-380990">
              <a:buFont typeface="Arial" panose="020B0604020202020204" pitchFamily="34" charset="0"/>
              <a:buChar char="•"/>
            </a:pPr>
            <a:r>
              <a:rPr lang="en-US" sz="1400"/>
              <a:t>Since 2017</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Exchange rate: $1.00 USD</a:t>
            </a:r>
          </a:p>
          <a:p>
            <a:pPr marL="380990" indent="-380990">
              <a:buFont typeface="Arial" panose="020B0604020202020204" pitchFamily="34" charset="0"/>
              <a:buChar char="•"/>
            </a:pPr>
            <a:r>
              <a:rPr lang="en-US" sz="1400"/>
              <a:t>License: AGPL v3.0 (part of GNU GPL family)</a:t>
            </a:r>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Tree>
    <p:extLst>
      <p:ext uri="{BB962C8B-B14F-4D97-AF65-F5344CB8AC3E}">
        <p14:creationId xmlns:p14="http://schemas.microsoft.com/office/powerpoint/2010/main" val="43192565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2225</TotalTime>
  <Words>2210</Words>
  <Application>Microsoft Macintosh PowerPoint</Application>
  <PresentationFormat>Widescreen</PresentationFormat>
  <Paragraphs>235</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190</cp:revision>
  <dcterms:modified xsi:type="dcterms:W3CDTF">2022-05-04T23:37:22Z</dcterms:modified>
</cp:coreProperties>
</file>