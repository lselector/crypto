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34" r:id="rId1"/>
  </p:sldMasterIdLst>
  <p:notesMasterIdLst>
    <p:notesMasterId r:id="rId13"/>
  </p:notesMasterIdLst>
  <p:sldIdLst>
    <p:sldId id="274" r:id="rId2"/>
    <p:sldId id="316" r:id="rId3"/>
    <p:sldId id="309" r:id="rId4"/>
    <p:sldId id="310" r:id="rId5"/>
    <p:sldId id="315" r:id="rId6"/>
    <p:sldId id="311" r:id="rId7"/>
    <p:sldId id="312" r:id="rId8"/>
    <p:sldId id="307" r:id="rId9"/>
    <p:sldId id="313" r:id="rId10"/>
    <p:sldId id="314" r:id="rId11"/>
    <p:sldId id="30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07"/>
    <p:restoredTop sz="92312"/>
  </p:normalViewPr>
  <p:slideViewPr>
    <p:cSldViewPr snapToGrid="0" snapToObjects="1">
      <p:cViewPr varScale="1">
        <p:scale>
          <a:sx n="112" d="100"/>
          <a:sy n="112" d="100"/>
        </p:scale>
        <p:origin x="208"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EB1FAE4C-5332-014D-8E1B-BB8DA73EF81D}" type="datetimeFigureOut">
              <a:t>5/7/22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405281081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B1FAE4C-5332-014D-8E1B-BB8DA73EF81D}" type="datetimeFigureOut">
              <a:t>5/7/22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395116294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B1FAE4C-5332-014D-8E1B-BB8DA73EF81D}" type="datetimeFigureOut">
              <a:t>5/7/22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252741528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B1FAE4C-5332-014D-8E1B-BB8DA73EF81D}" type="datetimeFigureOut">
              <a:t>5/7/22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398484512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B1FAE4C-5332-014D-8E1B-BB8DA73EF81D}" type="datetimeFigureOut">
              <a:t>5/7/22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36665113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B1FAE4C-5332-014D-8E1B-BB8DA73EF81D}" type="datetimeFigureOut">
              <a:t>5/7/22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8094518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1FAE4C-5332-014D-8E1B-BB8DA73EF81D}" type="datetimeFigureOut">
              <a:t>5/7/22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2055497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B1FAE4C-5332-014D-8E1B-BB8DA73EF81D}" type="datetimeFigureOut">
              <a:t>5/7/22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320695385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B1FAE4C-5332-014D-8E1B-BB8DA73EF81D}" type="datetimeFigureOut">
              <a:t>5/7/22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196837027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B1FAE4C-5332-014D-8E1B-BB8DA73EF81D}" type="datetimeFigureOut">
              <a:t>5/7/22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39139314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B1FAE4C-5332-014D-8E1B-BB8DA73EF81D}" type="datetimeFigureOut">
              <a:t>5/7/22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171497813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1FAE4C-5332-014D-8E1B-BB8DA73EF81D}" type="datetimeFigureOut">
              <a:t>5/7/22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000000-1234-1234-1234-123412341234}" type="slidenum">
              <a:rPr lang="en"/>
              <a:pPr/>
              <a:t>‹#›</a:t>
            </a:fld>
            <a:endParaRPr lang="en"/>
          </a:p>
        </p:txBody>
      </p:sp>
    </p:spTree>
    <p:extLst>
      <p:ext uri="{BB962C8B-B14F-4D97-AF65-F5344CB8AC3E}">
        <p14:creationId xmlns:p14="http://schemas.microsoft.com/office/powerpoint/2010/main" val="3725779926"/>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cointelegraph.com/explained/how-stablecoins-stay-stable-explained" TargetMode="External"/><Relationship Id="rId2" Type="http://schemas.openxmlformats.org/officeDocument/2006/relationships/hyperlink" Target="https://www.investopedia.com/terms/s/stablecoin.asp" TargetMode="External"/><Relationship Id="rId1" Type="http://schemas.openxmlformats.org/officeDocument/2006/relationships/slideLayout" Target="../slideLayouts/slideLayout7.xml"/><Relationship Id="rId4" Type="http://schemas.openxmlformats.org/officeDocument/2006/relationships/hyperlink" Target="https://www.benzinga.com/money/how-do-stablecoins-make-money/"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ww.statista.com/statistics/1255835/stablecoin-market-capitalization/"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stablecoinindex.com/projects"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diem/diem" TargetMode="External"/><Relationship Id="rId2" Type="http://schemas.openxmlformats.org/officeDocument/2006/relationships/hyperlink" Target="https://en.wikipedia.org/wiki/Diem_(digital_currency)" TargetMode="Externa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hyperlink" Target="https://www.prnewswire.com/news-releases/free-ton-releases-whitepaper-outlining-vision-for-an-open-and-free-internet-301379497.html" TargetMode="External"/><Relationship Id="rId3" Type="http://schemas.openxmlformats.org/officeDocument/2006/relationships/hyperlink" Target="https://flatqube.io/" TargetMode="External"/><Relationship Id="rId7" Type="http://schemas.openxmlformats.org/officeDocument/2006/relationships/hyperlink" Target="https://freeton.com/" TargetMode="External"/><Relationship Id="rId12" Type="http://schemas.openxmlformats.org/officeDocument/2006/relationships/image" Target="../media/image4.png"/><Relationship Id="rId2" Type="http://schemas.openxmlformats.org/officeDocument/2006/relationships/hyperlink" Target="https://everscale.network/" TargetMode="External"/><Relationship Id="rId1" Type="http://schemas.openxmlformats.org/officeDocument/2006/relationships/slideLayout" Target="../slideLayouts/slideLayout7.xml"/><Relationship Id="rId6" Type="http://schemas.openxmlformats.org/officeDocument/2006/relationships/hyperlink" Target="https://freeton.org/" TargetMode="External"/><Relationship Id="rId11" Type="http://schemas.openxmlformats.org/officeDocument/2006/relationships/hyperlink" Target="https://bitcoinist.com/flatqube-launches-qube-utility-token-as-everscale-bolsters-its-defi-offerings/" TargetMode="External"/><Relationship Id="rId5" Type="http://schemas.openxmlformats.org/officeDocument/2006/relationships/hyperlink" Target="https://debridges.com/bridge/octus-bridge" TargetMode="External"/><Relationship Id="rId10" Type="http://schemas.openxmlformats.org/officeDocument/2006/relationships/hyperlink" Target="https://github.com/broxus" TargetMode="External"/><Relationship Id="rId4" Type="http://schemas.openxmlformats.org/officeDocument/2006/relationships/hyperlink" Target="https://octusbridge.io/" TargetMode="External"/><Relationship Id="rId9" Type="http://schemas.openxmlformats.org/officeDocument/2006/relationships/hyperlink" Target="https://broxus.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Tether_(cryptocurrency)" TargetMode="External"/><Relationship Id="rId2" Type="http://schemas.openxmlformats.org/officeDocument/2006/relationships/hyperlink" Target="https://tether.to/" TargetMode="External"/><Relationship Id="rId1" Type="http://schemas.openxmlformats.org/officeDocument/2006/relationships/slideLayout" Target="../slideLayouts/slideLayout7.xml"/><Relationship Id="rId6" Type="http://schemas.openxmlformats.org/officeDocument/2006/relationships/hyperlink" Target="https://www.fool.com/the-ascent/cryptocurrency/articles/could-stablecoins-topple-the-crypto-industry/" TargetMode="External"/><Relationship Id="rId5" Type="http://schemas.openxmlformats.org/officeDocument/2006/relationships/image" Target="../media/image5.png"/><Relationship Id="rId4" Type="http://schemas.openxmlformats.org/officeDocument/2006/relationships/hyperlink" Target="https://www.bitfinex.com/"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circle.com/" TargetMode="External"/><Relationship Id="rId2" Type="http://schemas.openxmlformats.org/officeDocument/2006/relationships/hyperlink" Target="https://en.wikipedia.org/wiki/USD_Coin" TargetMode="Externa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hyperlink" Target="https://www.coinbase.com/" TargetMode="External"/><Relationship Id="rId4" Type="http://schemas.openxmlformats.org/officeDocument/2006/relationships/hyperlink" Target="https://www.bitmain.com/"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paxos.com/" TargetMode="External"/><Relationship Id="rId2" Type="http://schemas.openxmlformats.org/officeDocument/2006/relationships/hyperlink" Target="https://www.binance.com/en/busd" TargetMode="Externa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hyperlink" Target="https://en.wikipedia.org/wiki/Binance"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makerdao.com/" TargetMode="External"/><Relationship Id="rId2" Type="http://schemas.openxmlformats.org/officeDocument/2006/relationships/hyperlink" Target="https://github.com/makerdao" TargetMode="External"/><Relationship Id="rId1" Type="http://schemas.openxmlformats.org/officeDocument/2006/relationships/slideLayout" Target="../slideLayouts/slideLayout7.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54B0A0-2FD2-3B49-8698-9FE080E83492}"/>
              </a:ext>
            </a:extLst>
          </p:cNvPr>
          <p:cNvSpPr txBox="1"/>
          <p:nvPr/>
        </p:nvSpPr>
        <p:spPr>
          <a:xfrm>
            <a:off x="1" y="1"/>
            <a:ext cx="2836244" cy="523220"/>
          </a:xfrm>
          <a:prstGeom prst="rect">
            <a:avLst/>
          </a:prstGeom>
          <a:noFill/>
        </p:spPr>
        <p:txBody>
          <a:bodyPr wrap="square" rtlCol="0">
            <a:spAutoFit/>
          </a:bodyPr>
          <a:lstStyle/>
          <a:p>
            <a:r>
              <a:rPr lang="en-US" sz="2800" b="1"/>
              <a:t>Stable Coins</a:t>
            </a:r>
          </a:p>
        </p:txBody>
      </p:sp>
      <p:graphicFrame>
        <p:nvGraphicFramePr>
          <p:cNvPr id="6" name="Table 5">
            <a:extLst>
              <a:ext uri="{FF2B5EF4-FFF2-40B4-BE49-F238E27FC236}">
                <a16:creationId xmlns:a16="http://schemas.microsoft.com/office/drawing/2014/main" id="{2E10B3BF-93DD-ED46-8D9D-D86F4400C3DF}"/>
              </a:ext>
            </a:extLst>
          </p:cNvPr>
          <p:cNvGraphicFramePr>
            <a:graphicFrameLocks noGrp="1"/>
          </p:cNvGraphicFramePr>
          <p:nvPr>
            <p:extLst>
              <p:ext uri="{D42A27DB-BD31-4B8C-83A1-F6EECF244321}">
                <p14:modId xmlns:p14="http://schemas.microsoft.com/office/powerpoint/2010/main" val="1615610736"/>
              </p:ext>
            </p:extLst>
          </p:nvPr>
        </p:nvGraphicFramePr>
        <p:xfrm>
          <a:off x="6195060" y="164266"/>
          <a:ext cx="5854066" cy="2479460"/>
        </p:xfrm>
        <a:graphic>
          <a:graphicData uri="http://schemas.openxmlformats.org/drawingml/2006/table">
            <a:tbl>
              <a:tblPr firstRow="1">
                <a:tableStyleId>{E8B1032C-EA38-4F05-BA0D-38AFFFC7BED3}</a:tableStyleId>
              </a:tblPr>
              <a:tblGrid>
                <a:gridCol w="2102680">
                  <a:extLst>
                    <a:ext uri="{9D8B030D-6E8A-4147-A177-3AD203B41FA5}">
                      <a16:colId xmlns:a16="http://schemas.microsoft.com/office/drawing/2014/main" val="2982074288"/>
                    </a:ext>
                  </a:extLst>
                </a:gridCol>
                <a:gridCol w="861871">
                  <a:extLst>
                    <a:ext uri="{9D8B030D-6E8A-4147-A177-3AD203B41FA5}">
                      <a16:colId xmlns:a16="http://schemas.microsoft.com/office/drawing/2014/main" val="1493870040"/>
                    </a:ext>
                  </a:extLst>
                </a:gridCol>
                <a:gridCol w="1142775">
                  <a:extLst>
                    <a:ext uri="{9D8B030D-6E8A-4147-A177-3AD203B41FA5}">
                      <a16:colId xmlns:a16="http://schemas.microsoft.com/office/drawing/2014/main" val="1003406525"/>
                    </a:ext>
                  </a:extLst>
                </a:gridCol>
                <a:gridCol w="1746740">
                  <a:extLst>
                    <a:ext uri="{9D8B030D-6E8A-4147-A177-3AD203B41FA5}">
                      <a16:colId xmlns:a16="http://schemas.microsoft.com/office/drawing/2014/main" val="572861281"/>
                    </a:ext>
                  </a:extLst>
                </a:gridCol>
              </a:tblGrid>
              <a:tr h="363691">
                <a:tc>
                  <a:txBody>
                    <a:bodyPr/>
                    <a:lstStyle/>
                    <a:p>
                      <a:pPr algn="l" fontAlgn="b"/>
                      <a:r>
                        <a:rPr lang="en-US" sz="1400" b="1" u="none" strike="noStrike">
                          <a:solidFill>
                            <a:srgbClr val="FF0000"/>
                          </a:solidFill>
                          <a:effectLst/>
                        </a:rPr>
                        <a:t>Currency</a:t>
                      </a:r>
                      <a:endParaRPr lang="en-US" sz="1400" b="1" i="1" u="none" strike="noStrike">
                        <a:solidFill>
                          <a:srgbClr val="FF0000"/>
                        </a:solidFill>
                        <a:effectLst/>
                        <a:latin typeface="Helvetica" pitchFamily="2" charset="0"/>
                      </a:endParaRPr>
                    </a:p>
                  </a:txBody>
                  <a:tcPr marL="12700" marR="12700" marT="12700" marB="0" anchor="ctr">
                    <a:solidFill>
                      <a:schemeClr val="accent4">
                        <a:lumMod val="20000"/>
                        <a:lumOff val="80000"/>
                      </a:schemeClr>
                    </a:solidFill>
                  </a:tcPr>
                </a:tc>
                <a:tc>
                  <a:txBody>
                    <a:bodyPr/>
                    <a:lstStyle/>
                    <a:p>
                      <a:pPr algn="l" fontAlgn="b"/>
                      <a:r>
                        <a:rPr lang="en-US" sz="1400" b="1" u="none" strike="noStrike">
                          <a:solidFill>
                            <a:srgbClr val="FF0000"/>
                          </a:solidFill>
                          <a:effectLst/>
                        </a:rPr>
                        <a:t>Market </a:t>
                      </a:r>
                      <a:br>
                        <a:rPr lang="en-US" sz="1400" b="1" u="none" strike="noStrike">
                          <a:solidFill>
                            <a:srgbClr val="FF0000"/>
                          </a:solidFill>
                          <a:effectLst/>
                        </a:rPr>
                      </a:br>
                      <a:r>
                        <a:rPr lang="en-US" sz="1400" b="1" u="none" strike="noStrike">
                          <a:solidFill>
                            <a:srgbClr val="FF0000"/>
                          </a:solidFill>
                          <a:effectLst/>
                        </a:rPr>
                        <a:t> Bln $</a:t>
                      </a:r>
                    </a:p>
                  </a:txBody>
                  <a:tcPr marL="12700" marR="12700" marT="12700" marB="0" anchor="ctr">
                    <a:solidFill>
                      <a:schemeClr val="accent4">
                        <a:lumMod val="20000"/>
                        <a:lumOff val="80000"/>
                      </a:schemeClr>
                    </a:solidFill>
                  </a:tcPr>
                </a:tc>
                <a:tc>
                  <a:txBody>
                    <a:bodyPr/>
                    <a:lstStyle/>
                    <a:p>
                      <a:pPr algn="l" fontAlgn="b"/>
                      <a:r>
                        <a:rPr lang="en-US" sz="1400" b="1" u="none" strike="noStrike">
                          <a:solidFill>
                            <a:srgbClr val="FF0000"/>
                          </a:solidFill>
                          <a:effectLst/>
                        </a:rPr>
                        <a:t>Backed by</a:t>
                      </a:r>
                    </a:p>
                  </a:txBody>
                  <a:tcPr marL="12700" marR="12700" marT="12700" marB="0" anchor="ctr">
                    <a:solidFill>
                      <a:schemeClr val="accent4">
                        <a:lumMod val="20000"/>
                        <a:lumOff val="80000"/>
                      </a:schemeClr>
                    </a:solidFill>
                  </a:tcPr>
                </a:tc>
                <a:tc>
                  <a:txBody>
                    <a:bodyPr/>
                    <a:lstStyle/>
                    <a:p>
                      <a:pPr algn="l" fontAlgn="b"/>
                      <a:r>
                        <a:rPr lang="en-US" sz="1400" b="1" u="none" strike="noStrike">
                          <a:solidFill>
                            <a:srgbClr val="FF0000"/>
                          </a:solidFill>
                          <a:effectLst/>
                        </a:rPr>
                        <a:t>Networks</a:t>
                      </a:r>
                    </a:p>
                  </a:txBody>
                  <a:tcPr marL="12700" marR="12700" marT="12700" marB="0" anchor="ctr">
                    <a:solidFill>
                      <a:schemeClr val="accent4">
                        <a:lumMod val="20000"/>
                        <a:lumOff val="80000"/>
                      </a:schemeClr>
                    </a:solidFill>
                  </a:tcPr>
                </a:tc>
                <a:extLst>
                  <a:ext uri="{0D108BD9-81ED-4DB2-BD59-A6C34878D82A}">
                    <a16:rowId xmlns:a16="http://schemas.microsoft.com/office/drawing/2014/main" val="3663642749"/>
                  </a:ext>
                </a:extLst>
              </a:tr>
              <a:tr h="319430">
                <a:tc>
                  <a:txBody>
                    <a:bodyPr/>
                    <a:lstStyle/>
                    <a:p>
                      <a:pPr algn="l" fontAlgn="b"/>
                      <a:r>
                        <a:rPr lang="en-US" sz="1400" u="none" strike="noStrike">
                          <a:effectLst/>
                        </a:rPr>
                        <a:t>Tether / USDT</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ctr" fontAlgn="b"/>
                      <a:r>
                        <a:rPr lang="en-US" sz="1400" u="none" strike="noStrike">
                          <a:effectLst/>
                        </a:rPr>
                        <a:t>73</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l" fontAlgn="b"/>
                      <a:r>
                        <a:rPr lang="en-US" sz="1400" u="none" strike="noStrike">
                          <a:effectLst/>
                        </a:rPr>
                        <a:t>Fiat USD</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l" fontAlgn="b"/>
                      <a:r>
                        <a:rPr lang="en-US" sz="1400" u="none" strike="noStrike" kern="1200">
                          <a:solidFill>
                            <a:schemeClr val="tx1"/>
                          </a:solidFill>
                          <a:effectLst/>
                          <a:latin typeface="+mn-lt"/>
                          <a:ea typeface="+mn-ea"/>
                          <a:cs typeface="+mn-cs"/>
                        </a:rPr>
                        <a:t>Ethereum, Bitcoin, etc.</a:t>
                      </a:r>
                    </a:p>
                  </a:txBody>
                  <a:tcPr marL="12700" marR="12700" marT="12700" marB="0" anchor="ctr"/>
                </a:tc>
                <a:extLst>
                  <a:ext uri="{0D108BD9-81ED-4DB2-BD59-A6C34878D82A}">
                    <a16:rowId xmlns:a16="http://schemas.microsoft.com/office/drawing/2014/main" val="582522162"/>
                  </a:ext>
                </a:extLst>
              </a:tr>
              <a:tr h="474530">
                <a:tc>
                  <a:txBody>
                    <a:bodyPr/>
                    <a:lstStyle/>
                    <a:p>
                      <a:pPr algn="l" fontAlgn="b"/>
                      <a:r>
                        <a:rPr lang="en-US" sz="1400" u="none" strike="noStrike">
                          <a:effectLst/>
                        </a:rPr>
                        <a:t>USD Coin / USDC</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ctr" fontAlgn="b"/>
                      <a:r>
                        <a:rPr lang="en-US" sz="1400" u="none" strike="noStrike">
                          <a:effectLst/>
                        </a:rPr>
                        <a:t>34</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l" fontAlgn="b"/>
                      <a:r>
                        <a:rPr lang="en-US" sz="1400" u="none" strike="noStrike">
                          <a:effectLst/>
                        </a:rPr>
                        <a:t>Fiat USD</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l" fontAlgn="b"/>
                      <a:r>
                        <a:rPr lang="en-US" sz="1400" u="none" strike="noStrike" kern="1200">
                          <a:solidFill>
                            <a:schemeClr val="tx1"/>
                          </a:solidFill>
                          <a:effectLst/>
                          <a:latin typeface="+mn-lt"/>
                          <a:ea typeface="+mn-ea"/>
                          <a:cs typeface="+mn-cs"/>
                        </a:rPr>
                        <a:t>Circle, Coinbase, Bitmain</a:t>
                      </a:r>
                    </a:p>
                  </a:txBody>
                  <a:tcPr marL="12700" marR="12700" marT="12700" marB="0" anchor="ctr"/>
                </a:tc>
                <a:extLst>
                  <a:ext uri="{0D108BD9-81ED-4DB2-BD59-A6C34878D82A}">
                    <a16:rowId xmlns:a16="http://schemas.microsoft.com/office/drawing/2014/main" val="2234970906"/>
                  </a:ext>
                </a:extLst>
              </a:tr>
              <a:tr h="319430">
                <a:tc>
                  <a:txBody>
                    <a:bodyPr/>
                    <a:lstStyle/>
                    <a:p>
                      <a:pPr algn="l" fontAlgn="b"/>
                      <a:r>
                        <a:rPr lang="en-US" sz="1400" u="none" strike="noStrike">
                          <a:effectLst/>
                        </a:rPr>
                        <a:t>Binance USD / BUSD</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ctr" fontAlgn="b"/>
                      <a:r>
                        <a:rPr lang="en-US" sz="1400" u="none" strike="noStrike">
                          <a:effectLst/>
                        </a:rPr>
                        <a:t>14</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l" fontAlgn="b"/>
                      <a:r>
                        <a:rPr lang="en-US" sz="1400" u="none" strike="noStrike" kern="1200">
                          <a:solidFill>
                            <a:schemeClr val="tx1"/>
                          </a:solidFill>
                          <a:effectLst/>
                          <a:latin typeface="+mn-lt"/>
                          <a:ea typeface="+mn-ea"/>
                          <a:cs typeface="+mn-cs"/>
                        </a:rPr>
                        <a:t>Fiat USD</a:t>
                      </a:r>
                    </a:p>
                  </a:txBody>
                  <a:tcPr marL="12700" marR="12700" marT="12700" marB="0" anchor="ctr"/>
                </a:tc>
                <a:tc>
                  <a:txBody>
                    <a:bodyPr/>
                    <a:lstStyle/>
                    <a:p>
                      <a:pPr algn="l" fontAlgn="b"/>
                      <a:r>
                        <a:rPr lang="en-US" sz="1400" u="none" strike="noStrike" kern="1200">
                          <a:solidFill>
                            <a:schemeClr val="tx1"/>
                          </a:solidFill>
                          <a:effectLst/>
                          <a:latin typeface="+mn-lt"/>
                          <a:ea typeface="+mn-ea"/>
                          <a:cs typeface="+mn-cs"/>
                        </a:rPr>
                        <a:t>Binance, Paxos</a:t>
                      </a:r>
                    </a:p>
                  </a:txBody>
                  <a:tcPr marL="12700" marR="12700" marT="12700" marB="0" anchor="ctr"/>
                </a:tc>
                <a:extLst>
                  <a:ext uri="{0D108BD9-81ED-4DB2-BD59-A6C34878D82A}">
                    <a16:rowId xmlns:a16="http://schemas.microsoft.com/office/drawing/2014/main" val="2204012459"/>
                  </a:ext>
                </a:extLst>
              </a:tr>
              <a:tr h="221570">
                <a:tc>
                  <a:txBody>
                    <a:bodyPr/>
                    <a:lstStyle/>
                    <a:p>
                      <a:pPr algn="l" fontAlgn="b"/>
                      <a:r>
                        <a:rPr lang="en-US" sz="1400" u="none" strike="noStrike">
                          <a:effectLst/>
                        </a:rPr>
                        <a:t>Dai / DAI</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ctr" fontAlgn="b"/>
                      <a:r>
                        <a:rPr lang="en-US" sz="1400" u="none" strike="noStrike">
                          <a:effectLst/>
                        </a:rPr>
                        <a:t>7</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l" fontAlgn="b"/>
                      <a:r>
                        <a:rPr lang="en-US" sz="1400" u="none" strike="noStrike">
                          <a:effectLst/>
                        </a:rPr>
                        <a:t>Crypto</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l" fontAlgn="b"/>
                      <a:r>
                        <a:rPr lang="en-US" sz="1400" u="none" strike="noStrike" kern="1200">
                          <a:solidFill>
                            <a:schemeClr val="tx1"/>
                          </a:solidFill>
                          <a:effectLst/>
                          <a:latin typeface="+mn-lt"/>
                          <a:ea typeface="+mn-ea"/>
                          <a:cs typeface="+mn-cs"/>
                        </a:rPr>
                        <a:t>Ethereum</a:t>
                      </a:r>
                      <a:endParaRPr lang="en-US" sz="1400" b="0" i="1" u="none" strike="noStrike">
                        <a:solidFill>
                          <a:srgbClr val="000000"/>
                        </a:solidFill>
                        <a:effectLst/>
                        <a:latin typeface="Helvetica" pitchFamily="2" charset="0"/>
                      </a:endParaRPr>
                    </a:p>
                  </a:txBody>
                  <a:tcPr marL="12700" marR="12700" marT="12700" marB="0" anchor="ctr"/>
                </a:tc>
                <a:extLst>
                  <a:ext uri="{0D108BD9-81ED-4DB2-BD59-A6C34878D82A}">
                    <a16:rowId xmlns:a16="http://schemas.microsoft.com/office/drawing/2014/main" val="4162962025"/>
                  </a:ext>
                </a:extLst>
              </a:tr>
              <a:tr h="221570">
                <a:tc>
                  <a:txBody>
                    <a:bodyPr/>
                    <a:lstStyle/>
                    <a:p>
                      <a:pPr algn="l" fontAlgn="b"/>
                      <a:r>
                        <a:rPr lang="en-US" sz="1400" u="none" strike="noStrike">
                          <a:effectLst/>
                        </a:rPr>
                        <a:t>TerraUSD / UST</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ctr" fontAlgn="b"/>
                      <a:r>
                        <a:rPr lang="en-US" sz="1400" b="0" i="1" u="none" strike="noStrike">
                          <a:solidFill>
                            <a:srgbClr val="000000"/>
                          </a:solidFill>
                          <a:effectLst/>
                          <a:latin typeface="Helvetica" pitchFamily="2" charset="0"/>
                        </a:rPr>
                        <a:t>3</a:t>
                      </a:r>
                    </a:p>
                  </a:txBody>
                  <a:tcPr marL="12700" marR="12700" marT="12700" marB="0" anchor="ctr"/>
                </a:tc>
                <a:tc>
                  <a:txBody>
                    <a:bodyPr/>
                    <a:lstStyle/>
                    <a:p>
                      <a:pPr algn="l" fontAlgn="b"/>
                      <a:r>
                        <a:rPr lang="en-US" sz="1400" u="none" strike="noStrike">
                          <a:effectLst/>
                        </a:rPr>
                        <a:t>Alternative</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l" fontAlgn="b"/>
                      <a:r>
                        <a:rPr lang="en-US" sz="1400" u="none" strike="noStrike" kern="1200">
                          <a:solidFill>
                            <a:schemeClr val="tx1"/>
                          </a:solidFill>
                          <a:effectLst/>
                          <a:latin typeface="+mn-lt"/>
                          <a:ea typeface="+mn-ea"/>
                          <a:cs typeface="+mn-cs"/>
                        </a:rPr>
                        <a:t>Ethereum</a:t>
                      </a:r>
                      <a:endParaRPr lang="en-US" sz="1400" b="0" i="1" u="none" strike="noStrike">
                        <a:solidFill>
                          <a:srgbClr val="000000"/>
                        </a:solidFill>
                        <a:effectLst/>
                        <a:latin typeface="Helvetica" pitchFamily="2" charset="0"/>
                      </a:endParaRPr>
                    </a:p>
                  </a:txBody>
                  <a:tcPr marL="12700" marR="12700" marT="12700" marB="0" anchor="ctr"/>
                </a:tc>
                <a:extLst>
                  <a:ext uri="{0D108BD9-81ED-4DB2-BD59-A6C34878D82A}">
                    <a16:rowId xmlns:a16="http://schemas.microsoft.com/office/drawing/2014/main" val="3163262355"/>
                  </a:ext>
                </a:extLst>
              </a:tr>
              <a:tr h="474530">
                <a:tc>
                  <a:txBody>
                    <a:bodyPr/>
                    <a:lstStyle/>
                    <a:p>
                      <a:pPr algn="l" fontAlgn="b"/>
                      <a:r>
                        <a:rPr lang="en-US" sz="1400" u="none" strike="noStrike">
                          <a:effectLst/>
                        </a:rPr>
                        <a:t>TrueUSD / TUSD</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ctr" fontAlgn="b"/>
                      <a:r>
                        <a:rPr lang="en-US" sz="1400" u="none" strike="noStrike">
                          <a:effectLst/>
                        </a:rPr>
                        <a:t>1.25</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l" fontAlgn="b"/>
                      <a:r>
                        <a:rPr lang="en-US" sz="1400" u="none" strike="noStrike">
                          <a:effectLst/>
                        </a:rPr>
                        <a:t>Fiat USD</a:t>
                      </a:r>
                      <a:endParaRPr lang="en-US" sz="1400" b="0" i="1" u="none" strike="noStrike">
                        <a:solidFill>
                          <a:srgbClr val="000000"/>
                        </a:solidFill>
                        <a:effectLst/>
                        <a:latin typeface="Helvetica" pitchFamily="2" charset="0"/>
                      </a:endParaRPr>
                    </a:p>
                  </a:txBody>
                  <a:tcPr marL="12700" marR="12700" marT="12700" marB="0" anchor="ctr"/>
                </a:tc>
                <a:tc>
                  <a:txBody>
                    <a:bodyPr/>
                    <a:lstStyle/>
                    <a:p>
                      <a:pPr algn="l" fontAlgn="b"/>
                      <a:r>
                        <a:rPr lang="en-US" sz="1400" u="none" strike="noStrike" kern="1200">
                          <a:solidFill>
                            <a:schemeClr val="tx1"/>
                          </a:solidFill>
                          <a:effectLst/>
                          <a:latin typeface="+mn-lt"/>
                          <a:ea typeface="+mn-ea"/>
                          <a:cs typeface="+mn-cs"/>
                        </a:rPr>
                        <a:t>Binance, Bittrex, </a:t>
                      </a:r>
                      <a:br>
                        <a:rPr lang="en-US" sz="1400" u="none" strike="noStrike" kern="1200">
                          <a:solidFill>
                            <a:schemeClr val="tx1"/>
                          </a:solidFill>
                          <a:effectLst/>
                          <a:latin typeface="+mn-lt"/>
                          <a:ea typeface="+mn-ea"/>
                          <a:cs typeface="+mn-cs"/>
                        </a:rPr>
                      </a:br>
                      <a:r>
                        <a:rPr lang="en-US" sz="1400" u="none" strike="noStrike" kern="1200">
                          <a:solidFill>
                            <a:schemeClr val="tx1"/>
                          </a:solidFill>
                          <a:effectLst/>
                          <a:latin typeface="+mn-lt"/>
                          <a:ea typeface="+mn-ea"/>
                          <a:cs typeface="+mn-cs"/>
                        </a:rPr>
                        <a:t>Upbit, etc.</a:t>
                      </a:r>
                      <a:endParaRPr lang="en-US" sz="1400" b="0" i="1" u="none" strike="noStrike">
                        <a:solidFill>
                          <a:srgbClr val="000000"/>
                        </a:solidFill>
                        <a:effectLst/>
                        <a:latin typeface="Helvetica" pitchFamily="2" charset="0"/>
                      </a:endParaRPr>
                    </a:p>
                  </a:txBody>
                  <a:tcPr marL="12700" marR="12700" marT="12700" marB="0" anchor="ctr"/>
                </a:tc>
                <a:extLst>
                  <a:ext uri="{0D108BD9-81ED-4DB2-BD59-A6C34878D82A}">
                    <a16:rowId xmlns:a16="http://schemas.microsoft.com/office/drawing/2014/main" val="2235850486"/>
                  </a:ext>
                </a:extLst>
              </a:tr>
            </a:tbl>
          </a:graphicData>
        </a:graphic>
      </p:graphicFrame>
      <p:sp>
        <p:nvSpPr>
          <p:cNvPr id="5" name="TextBox 4">
            <a:extLst>
              <a:ext uri="{FF2B5EF4-FFF2-40B4-BE49-F238E27FC236}">
                <a16:creationId xmlns:a16="http://schemas.microsoft.com/office/drawing/2014/main" id="{9CE284B0-23F3-C993-5BE5-E159F0A3A3EB}"/>
              </a:ext>
            </a:extLst>
          </p:cNvPr>
          <p:cNvSpPr txBox="1"/>
          <p:nvPr/>
        </p:nvSpPr>
        <p:spPr>
          <a:xfrm>
            <a:off x="6189044" y="3089370"/>
            <a:ext cx="5336933" cy="1323439"/>
          </a:xfrm>
          <a:prstGeom prst="rect">
            <a:avLst/>
          </a:prstGeom>
          <a:noFill/>
        </p:spPr>
        <p:txBody>
          <a:bodyPr wrap="square" rtlCol="0">
            <a:spAutoFit/>
          </a:bodyPr>
          <a:lstStyle/>
          <a:p>
            <a:pPr marL="285750" indent="-285750">
              <a:buFont typeface="Arial" panose="020B0604020202020204" pitchFamily="34" charset="0"/>
              <a:buChar char="•"/>
            </a:pPr>
            <a:r>
              <a:rPr lang="en-US" sz="1400"/>
              <a:t>What is Stablecoin</a:t>
            </a:r>
            <a:br>
              <a:rPr lang="en-US" sz="1400"/>
            </a:br>
            <a:r>
              <a:rPr lang="en-US" sz="1200"/>
              <a:t> - </a:t>
            </a:r>
            <a:r>
              <a:rPr lang="en-US" sz="1200">
                <a:hlinkClick r:id="rId2"/>
              </a:rPr>
              <a:t>https://www.investopedia.com/terms/s/stablecoin.asp</a:t>
            </a:r>
            <a:r>
              <a:rPr lang="en-US" sz="1200"/>
              <a:t> </a:t>
            </a:r>
          </a:p>
          <a:p>
            <a:pPr marL="285750" indent="-285750">
              <a:buFont typeface="Arial" panose="020B0604020202020204" pitchFamily="34" charset="0"/>
              <a:buChar char="•"/>
            </a:pPr>
            <a:r>
              <a:rPr lang="en-US" sz="1400"/>
              <a:t>How Stable Coins Stay Stable?</a:t>
            </a:r>
            <a:br>
              <a:rPr lang="en-US" sz="1400"/>
            </a:br>
            <a:r>
              <a:rPr lang="en-US" sz="1200"/>
              <a:t>- </a:t>
            </a:r>
            <a:r>
              <a:rPr lang="en-US" sz="1200">
                <a:hlinkClick r:id="rId3"/>
              </a:rPr>
              <a:t>https://cointelegraph.com/explained/how-stablecoins-stay-stable-explained</a:t>
            </a:r>
            <a:endParaRPr lang="en-US" sz="1200"/>
          </a:p>
          <a:p>
            <a:pPr marL="285750" indent="-285750">
              <a:buFont typeface="Arial" panose="020B0604020202020204" pitchFamily="34" charset="0"/>
              <a:buChar char="•"/>
            </a:pPr>
            <a:r>
              <a:rPr lang="en-US" sz="1400"/>
              <a:t>How Do Stablecoins Make Money?</a:t>
            </a:r>
            <a:br>
              <a:rPr lang="en-US" sz="1400"/>
            </a:br>
            <a:r>
              <a:rPr lang="en-US" sz="1200"/>
              <a:t> - </a:t>
            </a:r>
            <a:r>
              <a:rPr lang="en-US" sz="1200">
                <a:hlinkClick r:id="rId4"/>
              </a:rPr>
              <a:t>https://www.benzinga.com/money/how-do-stablecoins-make-money/</a:t>
            </a:r>
            <a:endParaRPr lang="en-US" sz="1200"/>
          </a:p>
        </p:txBody>
      </p:sp>
      <p:sp>
        <p:nvSpPr>
          <p:cNvPr id="7" name="TextBox 6">
            <a:extLst>
              <a:ext uri="{FF2B5EF4-FFF2-40B4-BE49-F238E27FC236}">
                <a16:creationId xmlns:a16="http://schemas.microsoft.com/office/drawing/2014/main" id="{BCDE16D8-B64D-BE3D-B9AE-E649B3F2FEC2}"/>
              </a:ext>
            </a:extLst>
          </p:cNvPr>
          <p:cNvSpPr txBox="1"/>
          <p:nvPr/>
        </p:nvSpPr>
        <p:spPr>
          <a:xfrm>
            <a:off x="142874" y="589081"/>
            <a:ext cx="5656042" cy="6124754"/>
          </a:xfrm>
          <a:prstGeom prst="rect">
            <a:avLst/>
          </a:prstGeom>
          <a:solidFill>
            <a:schemeClr val="accent2">
              <a:lumMod val="20000"/>
              <a:lumOff val="80000"/>
            </a:schemeClr>
          </a:solidFill>
        </p:spPr>
        <p:txBody>
          <a:bodyPr wrap="square" rtlCol="0">
            <a:spAutoFit/>
          </a:bodyPr>
          <a:lstStyle/>
          <a:p>
            <a:pPr marL="285750" indent="-285750">
              <a:buFont typeface="Arial" panose="020B0604020202020204" pitchFamily="34" charset="0"/>
              <a:buChar char="•"/>
            </a:pPr>
            <a:r>
              <a:rPr lang="en-US" sz="1400" b="1">
                <a:solidFill>
                  <a:srgbClr val="00B050"/>
                </a:solidFill>
              </a:rPr>
              <a:t>Stablecoins</a:t>
            </a:r>
            <a:r>
              <a:rPr lang="en-US" sz="1400"/>
              <a:t> are cryptocurrencies that attempt to peg their market value to something external like a currency (USD), or commodity's price (gold), etc. while maintaining the security, speed, and low cost of virtual asset transactions</a:t>
            </a:r>
          </a:p>
          <a:p>
            <a:pPr marL="285750" indent="-285750">
              <a:buFont typeface="Arial" panose="020B0604020202020204" pitchFamily="34" charset="0"/>
              <a:buChar char="•"/>
            </a:pPr>
            <a:r>
              <a:rPr lang="en-US" sz="1400" b="1">
                <a:solidFill>
                  <a:srgbClr val="00B050"/>
                </a:solidFill>
              </a:rPr>
              <a:t>Stablecoins main benefits</a:t>
            </a:r>
            <a:r>
              <a:rPr lang="en-US" sz="1400"/>
              <a:t> - minimize the impact of the crypto price volatility in trading and serve as a bridge for financial institutions to facilitate payments</a:t>
            </a:r>
          </a:p>
          <a:p>
            <a:pPr marL="285750" indent="-285750">
              <a:buFont typeface="Arial" panose="020B0604020202020204" pitchFamily="34" charset="0"/>
              <a:buChar char="•"/>
            </a:pPr>
            <a:r>
              <a:rPr lang="en-US" sz="1400" b="1">
                <a:solidFill>
                  <a:srgbClr val="00B050"/>
                </a:solidFill>
              </a:rPr>
              <a:t>Stablecoins</a:t>
            </a:r>
            <a:r>
              <a:rPr lang="en-US" sz="1400"/>
              <a:t> achieve their price stability via algorithmic mechanisms of trading reference asset or its derivatives. Also by backing with some collateral</a:t>
            </a:r>
          </a:p>
          <a:p>
            <a:pPr marL="285750" indent="-285750">
              <a:buFont typeface="Arial" panose="020B0604020202020204" pitchFamily="34" charset="0"/>
              <a:buChar char="•"/>
            </a:pPr>
            <a:r>
              <a:rPr lang="en-US" sz="1400" b="1">
                <a:solidFill>
                  <a:srgbClr val="FF0000"/>
                </a:solidFill>
              </a:rPr>
              <a:t>Centralised stablecoins</a:t>
            </a:r>
            <a:r>
              <a:rPr lang="en-US" sz="1400"/>
              <a:t> – hold collateral is off-chain. Centralised stablecoins are issued by banks or other issuing entities. These entities make money through lending and investing, in a manner similar to traditional banks. Only a fraction of deposits are backed by physical cash on hand that can be withdrawn by investors.</a:t>
            </a:r>
          </a:p>
          <a:p>
            <a:pPr marL="285750" indent="-285750">
              <a:buFont typeface="Arial" panose="020B0604020202020204" pitchFamily="34" charset="0"/>
              <a:buChar char="•"/>
            </a:pPr>
            <a:r>
              <a:rPr lang="en-US" sz="1400" b="1">
                <a:solidFill>
                  <a:srgbClr val="FF0000"/>
                </a:solidFill>
              </a:rPr>
              <a:t>Decentralized stablecoins</a:t>
            </a:r>
            <a:r>
              <a:rPr lang="en-US" sz="1400"/>
              <a:t> are stablecoins that hold their reserve assets on-chain using other cryptocurrencies and smart contracts. This process helps solve the transparency issues that centralized stablecoin providers face. These stablecoins use smart contracts to eliminate the need for a third party. Decentralized stablecoins often issue an additional cryptocurrency along with the pegged stable cryptocurrency that serves different purposes such as governance and revenue sharing. For example, the MKR token of MakerDao is the more volatile governance token while the DAI token is the pegged stablecoin. </a:t>
            </a:r>
            <a:br>
              <a:rPr lang="en-US" sz="1400"/>
            </a:br>
            <a:r>
              <a:rPr lang="en-US" sz="1400"/>
              <a:t>The MakerDao’s MKR token also provides rights to interest on collateral. The interest, which is known as the stability fee, is paid in MKR tokens, which are then subsequently burned. Burning decreases the supply of MKR and should lead to an increase in price. </a:t>
            </a:r>
          </a:p>
        </p:txBody>
      </p:sp>
      <p:sp>
        <p:nvSpPr>
          <p:cNvPr id="4" name="TextBox 3">
            <a:extLst>
              <a:ext uri="{FF2B5EF4-FFF2-40B4-BE49-F238E27FC236}">
                <a16:creationId xmlns:a16="http://schemas.microsoft.com/office/drawing/2014/main" id="{C9984FAF-1699-1E4E-C63B-A37B81BD69D4}"/>
              </a:ext>
            </a:extLst>
          </p:cNvPr>
          <p:cNvSpPr txBox="1"/>
          <p:nvPr/>
        </p:nvSpPr>
        <p:spPr>
          <a:xfrm>
            <a:off x="6189044" y="4675574"/>
            <a:ext cx="5860082" cy="2031325"/>
          </a:xfrm>
          <a:prstGeom prst="rect">
            <a:avLst/>
          </a:prstGeom>
          <a:solidFill>
            <a:schemeClr val="accent4">
              <a:lumMod val="20000"/>
              <a:lumOff val="80000"/>
            </a:schemeClr>
          </a:solidFill>
        </p:spPr>
        <p:txBody>
          <a:bodyPr wrap="square" rtlCol="0">
            <a:spAutoFit/>
          </a:bodyPr>
          <a:lstStyle/>
          <a:p>
            <a:pPr marL="285750" indent="-285750">
              <a:buFont typeface="Arial" panose="020B0604020202020204" pitchFamily="34" charset="0"/>
              <a:buChar char="•"/>
            </a:pPr>
            <a:r>
              <a:rPr lang="en-US" sz="1400"/>
              <a:t>Holding stablecoins will not earn money since the value is pegged to stay at the same value. </a:t>
            </a:r>
          </a:p>
          <a:p>
            <a:pPr marL="285750" indent="-285750">
              <a:buFont typeface="Arial" panose="020B0604020202020204" pitchFamily="34" charset="0"/>
              <a:buChar char="•"/>
            </a:pPr>
            <a:r>
              <a:rPr lang="en-US" sz="1400"/>
              <a:t>You can earn interest on your stablecoins by </a:t>
            </a:r>
            <a:r>
              <a:rPr lang="en-US" sz="1400" b="1">
                <a:solidFill>
                  <a:srgbClr val="00B050"/>
                </a:solidFill>
              </a:rPr>
              <a:t>lending them out</a:t>
            </a:r>
            <a:r>
              <a:rPr lang="en-US" sz="1400"/>
              <a:t> on various protocols. For example, in March 2022, lending your DAI tokens on Compound pays an </a:t>
            </a:r>
            <a:r>
              <a:rPr lang="en-US" sz="1400" b="1">
                <a:solidFill>
                  <a:srgbClr val="00B050"/>
                </a:solidFill>
              </a:rPr>
              <a:t>APY (Annual Percentage Yield)</a:t>
            </a:r>
            <a:r>
              <a:rPr lang="en-US" sz="1400"/>
              <a:t> of 2.56% while lending USDC pays an APY of 2.03%.</a:t>
            </a:r>
          </a:p>
          <a:p>
            <a:pPr marL="285750" indent="-285750">
              <a:buFont typeface="Arial" panose="020B0604020202020204" pitchFamily="34" charset="0"/>
              <a:buChar char="•"/>
            </a:pPr>
            <a:r>
              <a:rPr lang="en-US" sz="1400"/>
              <a:t>You can earn 5-9% </a:t>
            </a:r>
            <a:r>
              <a:rPr lang="en-US" sz="1400" b="1">
                <a:solidFill>
                  <a:srgbClr val="00B050"/>
                </a:solidFill>
              </a:rPr>
              <a:t>APR (Annual Percentage Rate)</a:t>
            </a:r>
            <a:r>
              <a:rPr lang="en-US" sz="1400"/>
              <a:t> on stablecoins from creating an interest-bearing crypto account with a platform like Gemini, Hodlnaut or Celsius (with less risk than with traditional cryptocurrencies).</a:t>
            </a:r>
          </a:p>
        </p:txBody>
      </p:sp>
    </p:spTree>
    <p:extLst>
      <p:ext uri="{BB962C8B-B14F-4D97-AF65-F5344CB8AC3E}">
        <p14:creationId xmlns:p14="http://schemas.microsoft.com/office/powerpoint/2010/main" val="42724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881476-DFB3-9EA2-ED8B-95DE2BF1827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87075" y="1087655"/>
            <a:ext cx="5871543" cy="2865386"/>
          </a:xfrm>
          <a:prstGeom prst="rect">
            <a:avLst/>
          </a:prstGeom>
        </p:spPr>
      </p:pic>
      <p:sp>
        <p:nvSpPr>
          <p:cNvPr id="3" name="TextBox 2">
            <a:extLst>
              <a:ext uri="{FF2B5EF4-FFF2-40B4-BE49-F238E27FC236}">
                <a16:creationId xmlns:a16="http://schemas.microsoft.com/office/drawing/2014/main" id="{EC1ED24C-EEAD-31B9-C510-8FC905D9314A}"/>
              </a:ext>
            </a:extLst>
          </p:cNvPr>
          <p:cNvSpPr txBox="1"/>
          <p:nvPr/>
        </p:nvSpPr>
        <p:spPr>
          <a:xfrm>
            <a:off x="1" y="1"/>
            <a:ext cx="7045692" cy="523220"/>
          </a:xfrm>
          <a:prstGeom prst="rect">
            <a:avLst/>
          </a:prstGeom>
          <a:noFill/>
        </p:spPr>
        <p:txBody>
          <a:bodyPr wrap="square" rtlCol="0">
            <a:spAutoFit/>
          </a:bodyPr>
          <a:lstStyle/>
          <a:p>
            <a:r>
              <a:rPr lang="en-US" sz="2800" b="1"/>
              <a:t>Stablecoins Marketcap growth in 2021-2022</a:t>
            </a:r>
          </a:p>
        </p:txBody>
      </p:sp>
      <p:sp>
        <p:nvSpPr>
          <p:cNvPr id="4" name="TextBox 3">
            <a:extLst>
              <a:ext uri="{FF2B5EF4-FFF2-40B4-BE49-F238E27FC236}">
                <a16:creationId xmlns:a16="http://schemas.microsoft.com/office/drawing/2014/main" id="{C5A30EC2-DCF6-E3E0-85EC-B558AAD66EAD}"/>
              </a:ext>
            </a:extLst>
          </p:cNvPr>
          <p:cNvSpPr txBox="1"/>
          <p:nvPr/>
        </p:nvSpPr>
        <p:spPr>
          <a:xfrm>
            <a:off x="6689557" y="1193533"/>
            <a:ext cx="2637322" cy="307777"/>
          </a:xfrm>
          <a:prstGeom prst="rect">
            <a:avLst/>
          </a:prstGeom>
          <a:noFill/>
        </p:spPr>
        <p:txBody>
          <a:bodyPr wrap="square" rtlCol="0">
            <a:spAutoFit/>
          </a:bodyPr>
          <a:lstStyle/>
          <a:p>
            <a:r>
              <a:rPr lang="en-US" sz="1400"/>
              <a:t>April 2022 – $182 Bln</a:t>
            </a:r>
          </a:p>
        </p:txBody>
      </p:sp>
      <p:sp>
        <p:nvSpPr>
          <p:cNvPr id="5" name="TextBox 4">
            <a:extLst>
              <a:ext uri="{FF2B5EF4-FFF2-40B4-BE49-F238E27FC236}">
                <a16:creationId xmlns:a16="http://schemas.microsoft.com/office/drawing/2014/main" id="{C310968D-79B0-D1C9-85B7-6802C6D5B5AE}"/>
              </a:ext>
            </a:extLst>
          </p:cNvPr>
          <p:cNvSpPr txBox="1"/>
          <p:nvPr/>
        </p:nvSpPr>
        <p:spPr>
          <a:xfrm>
            <a:off x="6689557" y="1501310"/>
            <a:ext cx="4790239" cy="261610"/>
          </a:xfrm>
          <a:prstGeom prst="rect">
            <a:avLst/>
          </a:prstGeom>
          <a:noFill/>
        </p:spPr>
        <p:txBody>
          <a:bodyPr wrap="square" rtlCol="0">
            <a:spAutoFit/>
          </a:bodyPr>
          <a:lstStyle/>
          <a:p>
            <a:r>
              <a:rPr lang="en-US" sz="1100">
                <a:hlinkClick r:id="rId3"/>
              </a:rPr>
              <a:t>https://www.statista.com/statistics/1255835/stablecoin-market-capitalization/</a:t>
            </a:r>
            <a:endParaRPr lang="en-US" sz="1100"/>
          </a:p>
        </p:txBody>
      </p:sp>
    </p:spTree>
    <p:extLst>
      <p:ext uri="{BB962C8B-B14F-4D97-AF65-F5344CB8AC3E}">
        <p14:creationId xmlns:p14="http://schemas.microsoft.com/office/powerpoint/2010/main" val="3956524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30FBD3-B1A3-619E-054B-61B1CC6ED479}"/>
              </a:ext>
            </a:extLst>
          </p:cNvPr>
          <p:cNvSpPr txBox="1"/>
          <p:nvPr/>
        </p:nvSpPr>
        <p:spPr>
          <a:xfrm>
            <a:off x="0" y="114300"/>
            <a:ext cx="2959100" cy="738664"/>
          </a:xfrm>
          <a:prstGeom prst="rect">
            <a:avLst/>
          </a:prstGeom>
          <a:noFill/>
        </p:spPr>
        <p:txBody>
          <a:bodyPr wrap="square" rtlCol="0">
            <a:spAutoFit/>
          </a:bodyPr>
          <a:lstStyle/>
          <a:p>
            <a:r>
              <a:rPr lang="en-US" sz="2800" b="1"/>
              <a:t>Stablecoin Index</a:t>
            </a:r>
          </a:p>
          <a:p>
            <a:r>
              <a:rPr lang="en-US" sz="1400">
                <a:hlinkClick r:id="rId2"/>
              </a:rPr>
              <a:t>https://stablecoinindex.com/projects</a:t>
            </a:r>
            <a:endParaRPr lang="en-US" sz="1400"/>
          </a:p>
        </p:txBody>
      </p:sp>
      <p:sp>
        <p:nvSpPr>
          <p:cNvPr id="3" name="TextBox 2">
            <a:extLst>
              <a:ext uri="{FF2B5EF4-FFF2-40B4-BE49-F238E27FC236}">
                <a16:creationId xmlns:a16="http://schemas.microsoft.com/office/drawing/2014/main" id="{1636F610-96C3-F887-30EE-FE9320E62755}"/>
              </a:ext>
            </a:extLst>
          </p:cNvPr>
          <p:cNvSpPr txBox="1"/>
          <p:nvPr/>
        </p:nvSpPr>
        <p:spPr>
          <a:xfrm>
            <a:off x="355600" y="1037630"/>
            <a:ext cx="3289300" cy="3416320"/>
          </a:xfrm>
          <a:prstGeom prst="rect">
            <a:avLst/>
          </a:prstGeom>
          <a:solidFill>
            <a:schemeClr val="accent4">
              <a:lumMod val="20000"/>
              <a:lumOff val="80000"/>
            </a:schemeClr>
          </a:solidFill>
        </p:spPr>
        <p:txBody>
          <a:bodyPr wrap="square" rtlCol="0">
            <a:spAutoFit/>
          </a:bodyPr>
          <a:lstStyle/>
          <a:p>
            <a:r>
              <a:rPr lang="en-US" b="1">
                <a:solidFill>
                  <a:srgbClr val="FF0000"/>
                </a:solidFill>
              </a:rPr>
              <a:t>Fiat-collateralized Stablecoins</a:t>
            </a:r>
          </a:p>
          <a:p>
            <a:pPr marL="285750" indent="-285750">
              <a:buFont typeface="Arial" panose="020B0604020202020204" pitchFamily="34" charset="0"/>
              <a:buChar char="•"/>
            </a:pPr>
            <a:r>
              <a:rPr lang="en-US"/>
              <a:t>Tether - USDT</a:t>
            </a:r>
          </a:p>
          <a:p>
            <a:pPr marL="285750" indent="-285750">
              <a:buFont typeface="Arial" panose="020B0604020202020204" pitchFamily="34" charset="0"/>
              <a:buChar char="•"/>
            </a:pPr>
            <a:r>
              <a:rPr lang="en-US"/>
              <a:t>TrustToken - TrueUSD</a:t>
            </a:r>
          </a:p>
          <a:p>
            <a:pPr marL="285750" indent="-285750">
              <a:buFont typeface="Arial" panose="020B0604020202020204" pitchFamily="34" charset="0"/>
              <a:buChar char="•"/>
            </a:pPr>
            <a:r>
              <a:rPr lang="en-US"/>
              <a:t>Circle - USDC</a:t>
            </a:r>
          </a:p>
          <a:p>
            <a:pPr marL="285750" indent="-285750">
              <a:buFont typeface="Arial" panose="020B0604020202020204" pitchFamily="34" charset="0"/>
              <a:buChar char="•"/>
            </a:pPr>
            <a:r>
              <a:rPr lang="en-US"/>
              <a:t>Stably</a:t>
            </a:r>
          </a:p>
          <a:p>
            <a:pPr marL="285750" indent="-285750">
              <a:buFont typeface="Arial" panose="020B0604020202020204" pitchFamily="34" charset="0"/>
              <a:buChar char="•"/>
            </a:pPr>
            <a:r>
              <a:rPr lang="en-US"/>
              <a:t>AAA Reserve</a:t>
            </a:r>
          </a:p>
          <a:p>
            <a:pPr marL="285750" indent="-285750">
              <a:buFont typeface="Arial" panose="020B0604020202020204" pitchFamily="34" charset="0"/>
              <a:buChar char="•"/>
            </a:pPr>
            <a:r>
              <a:rPr lang="en-US"/>
              <a:t>X8X</a:t>
            </a:r>
          </a:p>
          <a:p>
            <a:pPr marL="285750" indent="-285750">
              <a:buFont typeface="Arial" panose="020B0604020202020204" pitchFamily="34" charset="0"/>
              <a:buChar char="•"/>
            </a:pPr>
            <a:r>
              <a:rPr lang="en-US"/>
              <a:t>Globcoin</a:t>
            </a:r>
          </a:p>
          <a:p>
            <a:pPr marL="285750" indent="-285750">
              <a:buFont typeface="Arial" panose="020B0604020202020204" pitchFamily="34" charset="0"/>
              <a:buChar char="•"/>
            </a:pPr>
            <a:r>
              <a:rPr lang="en-US"/>
              <a:t>Stasis</a:t>
            </a:r>
          </a:p>
          <a:p>
            <a:pPr marL="285750" indent="-285750">
              <a:buFont typeface="Arial" panose="020B0604020202020204" pitchFamily="34" charset="0"/>
              <a:buChar char="•"/>
            </a:pPr>
            <a:r>
              <a:rPr lang="en-US"/>
              <a:t>Stronghold</a:t>
            </a:r>
          </a:p>
          <a:p>
            <a:pPr marL="285750" indent="-285750">
              <a:buFont typeface="Arial" panose="020B0604020202020204" pitchFamily="34" charset="0"/>
              <a:buChar char="•"/>
            </a:pPr>
            <a:r>
              <a:rPr lang="en-US"/>
              <a:t>Gemini Dollar</a:t>
            </a:r>
          </a:p>
          <a:p>
            <a:pPr marL="285750" indent="-285750">
              <a:buFont typeface="Arial" panose="020B0604020202020204" pitchFamily="34" charset="0"/>
              <a:buChar char="•"/>
            </a:pPr>
            <a:r>
              <a:rPr lang="en-US"/>
              <a:t>Paxos Standard</a:t>
            </a:r>
          </a:p>
        </p:txBody>
      </p:sp>
      <p:sp>
        <p:nvSpPr>
          <p:cNvPr id="7" name="TextBox 6">
            <a:extLst>
              <a:ext uri="{FF2B5EF4-FFF2-40B4-BE49-F238E27FC236}">
                <a16:creationId xmlns:a16="http://schemas.microsoft.com/office/drawing/2014/main" id="{D0B2DB4A-8E38-CF37-D4AB-03CC8D101200}"/>
              </a:ext>
            </a:extLst>
          </p:cNvPr>
          <p:cNvSpPr txBox="1"/>
          <p:nvPr/>
        </p:nvSpPr>
        <p:spPr>
          <a:xfrm>
            <a:off x="4121150" y="2712708"/>
            <a:ext cx="3289300" cy="1754326"/>
          </a:xfrm>
          <a:prstGeom prst="rect">
            <a:avLst/>
          </a:prstGeom>
          <a:solidFill>
            <a:schemeClr val="accent4">
              <a:lumMod val="20000"/>
              <a:lumOff val="80000"/>
            </a:schemeClr>
          </a:solidFill>
        </p:spPr>
        <p:txBody>
          <a:bodyPr wrap="square" rtlCol="0">
            <a:spAutoFit/>
          </a:bodyPr>
          <a:lstStyle/>
          <a:p>
            <a:r>
              <a:rPr lang="en-US" b="1">
                <a:solidFill>
                  <a:srgbClr val="FF0000"/>
                </a:solidFill>
              </a:rPr>
              <a:t>Crypto-collateralized Stablecoins</a:t>
            </a:r>
          </a:p>
          <a:p>
            <a:pPr marL="285750" indent="-285750">
              <a:buFont typeface="Arial" panose="020B0604020202020204" pitchFamily="34" charset="0"/>
              <a:buChar char="•"/>
            </a:pPr>
            <a:r>
              <a:rPr lang="en-US"/>
              <a:t>Bitshares BitUSD</a:t>
            </a:r>
          </a:p>
          <a:p>
            <a:pPr marL="285750" indent="-285750">
              <a:buFont typeface="Arial" panose="020B0604020202020204" pitchFamily="34" charset="0"/>
              <a:buChar char="•"/>
            </a:pPr>
            <a:r>
              <a:rPr lang="en-US"/>
              <a:t>MakerDAO - DAI</a:t>
            </a:r>
          </a:p>
          <a:p>
            <a:pPr marL="285750" indent="-285750">
              <a:buFont typeface="Arial" panose="020B0604020202020204" pitchFamily="34" charset="0"/>
              <a:buChar char="•"/>
            </a:pPr>
            <a:r>
              <a:rPr lang="en-US"/>
              <a:t>Sweetbridge</a:t>
            </a:r>
          </a:p>
          <a:p>
            <a:pPr marL="285750" indent="-285750">
              <a:buFont typeface="Arial" panose="020B0604020202020204" pitchFamily="34" charset="0"/>
              <a:buChar char="•"/>
            </a:pPr>
            <a:r>
              <a:rPr lang="en-US"/>
              <a:t>Havven - NUSD</a:t>
            </a:r>
          </a:p>
          <a:p>
            <a:pPr marL="285750" indent="-285750">
              <a:buFont typeface="Arial" panose="020B0604020202020204" pitchFamily="34" charset="0"/>
              <a:buChar char="•"/>
            </a:pPr>
            <a:r>
              <a:rPr lang="en-US"/>
              <a:t>Augmint</a:t>
            </a:r>
          </a:p>
        </p:txBody>
      </p:sp>
      <p:sp>
        <p:nvSpPr>
          <p:cNvPr id="8" name="TextBox 7">
            <a:extLst>
              <a:ext uri="{FF2B5EF4-FFF2-40B4-BE49-F238E27FC236}">
                <a16:creationId xmlns:a16="http://schemas.microsoft.com/office/drawing/2014/main" id="{3A4B570B-B315-3218-203C-40D6A48CE5E4}"/>
              </a:ext>
            </a:extLst>
          </p:cNvPr>
          <p:cNvSpPr txBox="1"/>
          <p:nvPr/>
        </p:nvSpPr>
        <p:spPr>
          <a:xfrm>
            <a:off x="4121150" y="1037630"/>
            <a:ext cx="3289300" cy="1477328"/>
          </a:xfrm>
          <a:prstGeom prst="rect">
            <a:avLst/>
          </a:prstGeom>
          <a:solidFill>
            <a:schemeClr val="accent4">
              <a:lumMod val="20000"/>
              <a:lumOff val="80000"/>
            </a:schemeClr>
          </a:solidFill>
        </p:spPr>
        <p:txBody>
          <a:bodyPr wrap="square" rtlCol="0">
            <a:spAutoFit/>
          </a:bodyPr>
          <a:lstStyle>
            <a:defPPr>
              <a:defRPr lang="en-US"/>
            </a:defPPr>
            <a:lvl1pPr>
              <a:defRPr b="1">
                <a:solidFill>
                  <a:srgbClr val="FF0000"/>
                </a:solidFill>
              </a:defRPr>
            </a:lvl1pPr>
          </a:lstStyle>
          <a:p>
            <a:r>
              <a:rPr lang="en-US"/>
              <a:t>Algorithmic Supply Stablecoins</a:t>
            </a:r>
          </a:p>
          <a:p>
            <a:pPr marL="285750" indent="-285750">
              <a:buFont typeface="Arial" panose="020B0604020202020204" pitchFamily="34" charset="0"/>
              <a:buChar char="•"/>
            </a:pPr>
            <a:r>
              <a:rPr lang="en-US" b="0">
                <a:solidFill>
                  <a:schemeClr val="tx1"/>
                </a:solidFill>
              </a:rPr>
              <a:t>Basis</a:t>
            </a:r>
          </a:p>
          <a:p>
            <a:pPr marL="285750" indent="-285750">
              <a:buFont typeface="Arial" panose="020B0604020202020204" pitchFamily="34" charset="0"/>
              <a:buChar char="•"/>
            </a:pPr>
            <a:r>
              <a:rPr lang="en-US" b="0">
                <a:solidFill>
                  <a:schemeClr val="tx1"/>
                </a:solidFill>
              </a:rPr>
              <a:t>Fragments</a:t>
            </a:r>
          </a:p>
          <a:p>
            <a:pPr marL="285750" indent="-285750">
              <a:buFont typeface="Arial" panose="020B0604020202020204" pitchFamily="34" charset="0"/>
              <a:buChar char="•"/>
            </a:pPr>
            <a:r>
              <a:rPr lang="en-US" b="0">
                <a:solidFill>
                  <a:schemeClr val="tx1"/>
                </a:solidFill>
              </a:rPr>
              <a:t>Carbon</a:t>
            </a:r>
          </a:p>
          <a:p>
            <a:pPr marL="285750" indent="-285750">
              <a:buFont typeface="Arial" panose="020B0604020202020204" pitchFamily="34" charset="0"/>
              <a:buChar char="•"/>
            </a:pPr>
            <a:r>
              <a:rPr lang="en-US" b="0">
                <a:solidFill>
                  <a:schemeClr val="tx1"/>
                </a:solidFill>
              </a:rPr>
              <a:t>Kowala</a:t>
            </a:r>
          </a:p>
        </p:txBody>
      </p:sp>
      <p:sp>
        <p:nvSpPr>
          <p:cNvPr id="9" name="TextBox 8">
            <a:extLst>
              <a:ext uri="{FF2B5EF4-FFF2-40B4-BE49-F238E27FC236}">
                <a16:creationId xmlns:a16="http://schemas.microsoft.com/office/drawing/2014/main" id="{3CDE9425-6ED6-DA31-CBDA-08E8FE7A3341}"/>
              </a:ext>
            </a:extLst>
          </p:cNvPr>
          <p:cNvSpPr txBox="1"/>
          <p:nvPr/>
        </p:nvSpPr>
        <p:spPr>
          <a:xfrm>
            <a:off x="7886700" y="2745790"/>
            <a:ext cx="3289300" cy="1200329"/>
          </a:xfrm>
          <a:prstGeom prst="rect">
            <a:avLst/>
          </a:prstGeom>
          <a:solidFill>
            <a:schemeClr val="accent4">
              <a:lumMod val="20000"/>
              <a:lumOff val="80000"/>
            </a:schemeClr>
          </a:solidFill>
        </p:spPr>
        <p:txBody>
          <a:bodyPr wrap="square" rtlCol="0">
            <a:spAutoFit/>
          </a:bodyPr>
          <a:lstStyle/>
          <a:p>
            <a:r>
              <a:rPr lang="en-US" b="1">
                <a:solidFill>
                  <a:srgbClr val="FF0000"/>
                </a:solidFill>
              </a:rPr>
              <a:t>Hybrid Stablecoin Models</a:t>
            </a:r>
          </a:p>
          <a:p>
            <a:pPr marL="285750" indent="-285750">
              <a:buFont typeface="Arial" panose="020B0604020202020204" pitchFamily="34" charset="0"/>
              <a:buChar char="•"/>
            </a:pPr>
            <a:r>
              <a:rPr lang="en-US"/>
              <a:t>Reserve</a:t>
            </a:r>
          </a:p>
          <a:p>
            <a:pPr marL="285750" indent="-285750">
              <a:buFont typeface="Arial" panose="020B0604020202020204" pitchFamily="34" charset="0"/>
              <a:buChar char="•"/>
            </a:pPr>
            <a:r>
              <a:rPr lang="en-US"/>
              <a:t>Saga</a:t>
            </a:r>
          </a:p>
          <a:p>
            <a:pPr marL="285750" indent="-285750">
              <a:buFont typeface="Arial" panose="020B0604020202020204" pitchFamily="34" charset="0"/>
              <a:buChar char="•"/>
            </a:pPr>
            <a:r>
              <a:rPr lang="en-US"/>
              <a:t>Aurora - Boreal</a:t>
            </a:r>
          </a:p>
        </p:txBody>
      </p:sp>
      <p:sp>
        <p:nvSpPr>
          <p:cNvPr id="10" name="TextBox 9">
            <a:extLst>
              <a:ext uri="{FF2B5EF4-FFF2-40B4-BE49-F238E27FC236}">
                <a16:creationId xmlns:a16="http://schemas.microsoft.com/office/drawing/2014/main" id="{2365FAC9-BBCA-5927-1AD0-563FEA1FCDB1}"/>
              </a:ext>
            </a:extLst>
          </p:cNvPr>
          <p:cNvSpPr txBox="1"/>
          <p:nvPr/>
        </p:nvSpPr>
        <p:spPr>
          <a:xfrm>
            <a:off x="7886700" y="1037630"/>
            <a:ext cx="3289300" cy="1477328"/>
          </a:xfrm>
          <a:prstGeom prst="rect">
            <a:avLst/>
          </a:prstGeom>
          <a:solidFill>
            <a:schemeClr val="accent4">
              <a:lumMod val="20000"/>
              <a:lumOff val="80000"/>
            </a:schemeClr>
          </a:solidFill>
        </p:spPr>
        <p:txBody>
          <a:bodyPr wrap="square" rtlCol="0">
            <a:spAutoFit/>
          </a:bodyPr>
          <a:lstStyle/>
          <a:p>
            <a:r>
              <a:rPr lang="en-US" b="1">
                <a:solidFill>
                  <a:srgbClr val="FF0000"/>
                </a:solidFill>
              </a:rPr>
              <a:t>Alternative Stablecoin Models</a:t>
            </a:r>
          </a:p>
          <a:p>
            <a:pPr marL="285750" indent="-285750">
              <a:buFont typeface="Arial" panose="020B0604020202020204" pitchFamily="34" charset="0"/>
              <a:buChar char="•"/>
            </a:pPr>
            <a:r>
              <a:rPr lang="en-US"/>
              <a:t>Phi</a:t>
            </a:r>
          </a:p>
          <a:p>
            <a:pPr marL="285750" indent="-285750">
              <a:buFont typeface="Arial" panose="020B0604020202020204" pitchFamily="34" charset="0"/>
              <a:buChar char="•"/>
            </a:pPr>
            <a:r>
              <a:rPr lang="en-US"/>
              <a:t>Stableunit</a:t>
            </a:r>
          </a:p>
          <a:p>
            <a:pPr marL="285750" indent="-285750">
              <a:buFont typeface="Arial" panose="020B0604020202020204" pitchFamily="34" charset="0"/>
              <a:buChar char="•"/>
            </a:pPr>
            <a:r>
              <a:rPr lang="en-US"/>
              <a:t>Terra Money</a:t>
            </a:r>
          </a:p>
          <a:p>
            <a:pPr marL="285750" indent="-285750">
              <a:buFont typeface="Arial" panose="020B0604020202020204" pitchFamily="34" charset="0"/>
              <a:buChar char="•"/>
            </a:pPr>
            <a:r>
              <a:rPr lang="en-US"/>
              <a:t>Celo</a:t>
            </a:r>
          </a:p>
        </p:txBody>
      </p:sp>
      <p:sp>
        <p:nvSpPr>
          <p:cNvPr id="11" name="TextBox 10">
            <a:extLst>
              <a:ext uri="{FF2B5EF4-FFF2-40B4-BE49-F238E27FC236}">
                <a16:creationId xmlns:a16="http://schemas.microsoft.com/office/drawing/2014/main" id="{46A4A5EF-D460-B8CE-82D1-A28AFEFB896B}"/>
              </a:ext>
            </a:extLst>
          </p:cNvPr>
          <p:cNvSpPr txBox="1"/>
          <p:nvPr/>
        </p:nvSpPr>
        <p:spPr>
          <a:xfrm>
            <a:off x="355600" y="4758540"/>
            <a:ext cx="3559710" cy="1200329"/>
          </a:xfrm>
          <a:prstGeom prst="rect">
            <a:avLst/>
          </a:prstGeom>
          <a:solidFill>
            <a:schemeClr val="accent4">
              <a:lumMod val="20000"/>
              <a:lumOff val="80000"/>
            </a:schemeClr>
          </a:solidFill>
        </p:spPr>
        <p:txBody>
          <a:bodyPr wrap="square" rtlCol="0">
            <a:spAutoFit/>
          </a:bodyPr>
          <a:lstStyle/>
          <a:p>
            <a:r>
              <a:rPr lang="en-US" b="1">
                <a:solidFill>
                  <a:srgbClr val="FF0000"/>
                </a:solidFill>
              </a:rPr>
              <a:t>Metal-backed Stablecoins</a:t>
            </a:r>
          </a:p>
          <a:p>
            <a:r>
              <a:rPr lang="en-US" b="1">
                <a:solidFill>
                  <a:srgbClr val="FF0000"/>
                </a:solidFill>
              </a:rPr>
              <a:t>(Gold, commodity, Real Estate, ...)</a:t>
            </a:r>
          </a:p>
          <a:p>
            <a:pPr marL="285750" indent="-285750">
              <a:buFont typeface="Arial" panose="020B0604020202020204" pitchFamily="34" charset="0"/>
              <a:buChar char="•"/>
            </a:pPr>
            <a:r>
              <a:rPr lang="en-US"/>
              <a:t>Digix Global</a:t>
            </a:r>
          </a:p>
          <a:p>
            <a:pPr marL="285750" indent="-285750">
              <a:buFont typeface="Arial" panose="020B0604020202020204" pitchFamily="34" charset="0"/>
              <a:buChar char="•"/>
            </a:pPr>
            <a:r>
              <a:rPr lang="en-US"/>
              <a:t>HelloGold</a:t>
            </a:r>
          </a:p>
        </p:txBody>
      </p:sp>
    </p:spTree>
    <p:extLst>
      <p:ext uri="{BB962C8B-B14F-4D97-AF65-F5344CB8AC3E}">
        <p14:creationId xmlns:p14="http://schemas.microsoft.com/office/powerpoint/2010/main" val="3795054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092662-D577-73FF-11DE-EECC5DAA210D}"/>
              </a:ext>
            </a:extLst>
          </p:cNvPr>
          <p:cNvSpPr txBox="1"/>
          <p:nvPr/>
        </p:nvSpPr>
        <p:spPr>
          <a:xfrm>
            <a:off x="431800" y="107514"/>
            <a:ext cx="3860800" cy="523220"/>
          </a:xfrm>
          <a:prstGeom prst="rect">
            <a:avLst/>
          </a:prstGeom>
          <a:noFill/>
        </p:spPr>
        <p:txBody>
          <a:bodyPr wrap="square" rtlCol="0">
            <a:spAutoFit/>
          </a:bodyPr>
          <a:lstStyle/>
          <a:p>
            <a:r>
              <a:rPr lang="en-US" sz="2800" b="1"/>
              <a:t>Fiat-backed stablecoins</a:t>
            </a:r>
          </a:p>
        </p:txBody>
      </p:sp>
      <p:sp>
        <p:nvSpPr>
          <p:cNvPr id="3" name="TextBox 2">
            <a:extLst>
              <a:ext uri="{FF2B5EF4-FFF2-40B4-BE49-F238E27FC236}">
                <a16:creationId xmlns:a16="http://schemas.microsoft.com/office/drawing/2014/main" id="{8BB4FD16-F987-B338-F226-5EEEFA2A46B6}"/>
              </a:ext>
            </a:extLst>
          </p:cNvPr>
          <p:cNvSpPr txBox="1"/>
          <p:nvPr/>
        </p:nvSpPr>
        <p:spPr>
          <a:xfrm>
            <a:off x="431800" y="689332"/>
            <a:ext cx="5130800" cy="5909310"/>
          </a:xfrm>
          <a:prstGeom prst="rect">
            <a:avLst/>
          </a:prstGeom>
          <a:solidFill>
            <a:schemeClr val="accent4">
              <a:lumMod val="20000"/>
              <a:lumOff val="80000"/>
            </a:schemeClr>
          </a:solidFill>
        </p:spPr>
        <p:txBody>
          <a:bodyPr wrap="square" rtlCol="0">
            <a:spAutoFit/>
          </a:bodyPr>
          <a:lstStyle/>
          <a:p>
            <a:r>
              <a:rPr lang="en-US" sz="1400"/>
              <a:t>A fiat-backed stablecoin keeps prices level </a:t>
            </a:r>
          </a:p>
          <a:p>
            <a:r>
              <a:rPr lang="en-US" sz="1400"/>
              <a:t>by storing fiat backing each coin on a one-to-one basis.</a:t>
            </a:r>
          </a:p>
          <a:p>
            <a:endParaRPr lang="en-US" sz="1400"/>
          </a:p>
          <a:p>
            <a:r>
              <a:rPr lang="en-US" sz="1400"/>
              <a:t>The first and simplest stablecoin is fiat-backed, </a:t>
            </a:r>
          </a:p>
          <a:p>
            <a:r>
              <a:rPr lang="en-US" sz="1400"/>
              <a:t>notably the U.S. dollar, as well as the euro, yen and others, </a:t>
            </a:r>
          </a:p>
          <a:p>
            <a:r>
              <a:rPr lang="en-US" sz="1400"/>
              <a:t>at a one-to-one ratio. </a:t>
            </a:r>
          </a:p>
          <a:p>
            <a:endParaRPr lang="en-US" sz="1400"/>
          </a:p>
          <a:p>
            <a:r>
              <a:rPr lang="en-US" sz="1400"/>
              <a:t>So long as the underlying currency </a:t>
            </a:r>
          </a:p>
          <a:p>
            <a:r>
              <a:rPr lang="en-US" sz="1400"/>
              <a:t>(or basket of currencies as </a:t>
            </a:r>
            <a:r>
              <a:rPr lang="en-US" sz="1400" b="1">
                <a:solidFill>
                  <a:srgbClr val="FF0000"/>
                </a:solidFill>
              </a:rPr>
              <a:t>Libra</a:t>
            </a:r>
            <a:r>
              <a:rPr lang="en-US" sz="1400"/>
              <a:t> originally proposed) </a:t>
            </a:r>
          </a:p>
          <a:p>
            <a:r>
              <a:rPr lang="en-US" sz="1400"/>
              <a:t>stays stable, the stablecoin will maintain its value. </a:t>
            </a:r>
          </a:p>
          <a:p>
            <a:endParaRPr lang="en-US" sz="1400"/>
          </a:p>
          <a:p>
            <a:r>
              <a:rPr lang="en-US" sz="1400"/>
              <a:t>They are, essentially, backed by the “</a:t>
            </a:r>
            <a:r>
              <a:rPr lang="en-US" sz="1400" b="1">
                <a:solidFill>
                  <a:srgbClr val="00B050"/>
                </a:solidFill>
              </a:rPr>
              <a:t>full faith and credit</a:t>
            </a:r>
            <a:r>
              <a:rPr lang="en-US" sz="1400"/>
              <a:t>” of the fiat issuer, with a value defended by that nation’s central bank.</a:t>
            </a:r>
          </a:p>
          <a:p>
            <a:endParaRPr lang="en-US" sz="1400"/>
          </a:p>
          <a:p>
            <a:r>
              <a:rPr lang="en-US" sz="1400"/>
              <a:t>Far and away the largest of these is </a:t>
            </a:r>
            <a:r>
              <a:rPr lang="en-US" sz="1400" b="1">
                <a:solidFill>
                  <a:srgbClr val="FF0000"/>
                </a:solidFill>
              </a:rPr>
              <a:t>Tether</a:t>
            </a:r>
            <a:r>
              <a:rPr lang="en-US" sz="1400"/>
              <a:t>, ($73 Bln cap). </a:t>
            </a:r>
          </a:p>
          <a:p>
            <a:endParaRPr lang="en-US" sz="1400"/>
          </a:p>
          <a:p>
            <a:r>
              <a:rPr lang="en-US" sz="1400"/>
              <a:t>Other leading stablecoins include:</a:t>
            </a:r>
          </a:p>
          <a:p>
            <a:pPr marL="285750" indent="-285750">
              <a:buFont typeface="Arial" panose="020B0604020202020204" pitchFamily="34" charset="0"/>
              <a:buChar char="•"/>
            </a:pPr>
            <a:r>
              <a:rPr lang="en-US" sz="1400" b="1">
                <a:solidFill>
                  <a:srgbClr val="FF0000"/>
                </a:solidFill>
              </a:rPr>
              <a:t>Circle and Coinbase’s USD Coin</a:t>
            </a:r>
            <a:r>
              <a:rPr lang="en-US" sz="1400"/>
              <a:t> ($23 Bln)</a:t>
            </a:r>
          </a:p>
          <a:p>
            <a:pPr marL="285750" indent="-285750">
              <a:buFont typeface="Arial" panose="020B0604020202020204" pitchFamily="34" charset="0"/>
              <a:buChar char="•"/>
            </a:pPr>
            <a:r>
              <a:rPr lang="en-US" sz="1400" b="1">
                <a:solidFill>
                  <a:srgbClr val="FF0000"/>
                </a:solidFill>
              </a:rPr>
              <a:t>Binance USD</a:t>
            </a:r>
            <a:r>
              <a:rPr lang="en-US" sz="1400"/>
              <a:t> ($9.6 Bln)</a:t>
            </a:r>
          </a:p>
          <a:p>
            <a:pPr marL="285750" indent="-285750">
              <a:buFont typeface="Arial" panose="020B0604020202020204" pitchFamily="34" charset="0"/>
              <a:buChar char="•"/>
            </a:pPr>
            <a:r>
              <a:rPr lang="en-US" sz="1400" b="1">
                <a:solidFill>
                  <a:srgbClr val="FF0000"/>
                </a:solidFill>
              </a:rPr>
              <a:t>DAI</a:t>
            </a:r>
            <a:r>
              <a:rPr lang="en-US" sz="1400"/>
              <a:t> ($4.8 Bln)</a:t>
            </a:r>
          </a:p>
          <a:p>
            <a:endParaRPr lang="en-US" sz="1400"/>
          </a:p>
          <a:p>
            <a:r>
              <a:rPr lang="en-US" sz="1400" b="1">
                <a:solidFill>
                  <a:srgbClr val="FF0000"/>
                </a:solidFill>
              </a:rPr>
              <a:t>Tether</a:t>
            </a:r>
            <a:r>
              <a:rPr lang="en-US" sz="1400"/>
              <a:t> long claimed to be backed 100% by U.S. dollars, one to one. </a:t>
            </a:r>
          </a:p>
          <a:p>
            <a:r>
              <a:rPr lang="en-US" sz="1400"/>
              <a:t>After the New York Attorney General sued Tether, it was revealed </a:t>
            </a:r>
          </a:p>
          <a:p>
            <a:r>
              <a:rPr lang="en-US" sz="1400"/>
              <a:t>that 26% was an IOU from the </a:t>
            </a:r>
            <a:r>
              <a:rPr lang="en-US" sz="1400" b="1">
                <a:solidFill>
                  <a:srgbClr val="00B050"/>
                </a:solidFill>
              </a:rPr>
              <a:t>Bitfinex exchange</a:t>
            </a:r>
            <a:r>
              <a:rPr lang="en-US" sz="1400"/>
              <a:t>, a sister company. </a:t>
            </a:r>
          </a:p>
          <a:p>
            <a:endParaRPr lang="en-US" sz="1400"/>
          </a:p>
          <a:p>
            <a:r>
              <a:rPr lang="en-US" sz="1400" b="1">
                <a:solidFill>
                  <a:srgbClr val="FF0000"/>
                </a:solidFill>
              </a:rPr>
              <a:t>Tether</a:t>
            </a:r>
            <a:r>
              <a:rPr lang="en-US" sz="1400"/>
              <a:t> recently revealed its “cash reserves” contain about 3% cash.</a:t>
            </a:r>
          </a:p>
        </p:txBody>
      </p:sp>
      <p:sp>
        <p:nvSpPr>
          <p:cNvPr id="4" name="TextBox 3">
            <a:extLst>
              <a:ext uri="{FF2B5EF4-FFF2-40B4-BE49-F238E27FC236}">
                <a16:creationId xmlns:a16="http://schemas.microsoft.com/office/drawing/2014/main" id="{004CF6E2-7639-A527-A70C-58F5E3385401}"/>
              </a:ext>
            </a:extLst>
          </p:cNvPr>
          <p:cNvSpPr txBox="1"/>
          <p:nvPr/>
        </p:nvSpPr>
        <p:spPr>
          <a:xfrm>
            <a:off x="6629400" y="746484"/>
            <a:ext cx="5130800" cy="3970318"/>
          </a:xfrm>
          <a:prstGeom prst="rect">
            <a:avLst/>
          </a:prstGeom>
          <a:solidFill>
            <a:schemeClr val="accent4">
              <a:lumMod val="20000"/>
              <a:lumOff val="80000"/>
            </a:schemeClr>
          </a:solidFill>
        </p:spPr>
        <p:txBody>
          <a:bodyPr wrap="square" rtlCol="0">
            <a:spAutoFit/>
          </a:bodyPr>
          <a:lstStyle/>
          <a:p>
            <a:r>
              <a:rPr lang="en-US" sz="1400"/>
              <a:t>An asset-backed stablecoin is similar to a fiat-backed one, except that it holds physical assets like </a:t>
            </a:r>
            <a:r>
              <a:rPr lang="en-US" sz="1400" b="1">
                <a:solidFill>
                  <a:srgbClr val="FF0000"/>
                </a:solidFill>
              </a:rPr>
              <a:t>gold</a:t>
            </a:r>
            <a:r>
              <a:rPr lang="en-US" sz="1400"/>
              <a:t>.</a:t>
            </a:r>
          </a:p>
          <a:p>
            <a:endParaRPr lang="en-US" sz="1400"/>
          </a:p>
          <a:p>
            <a:r>
              <a:rPr lang="en-US" sz="1400"/>
              <a:t>Commodity-backed stablecoins replace fiat currencies with a variety of other tangible collaterals, notably the traditional store of value, gold. But others are backed by baskets of </a:t>
            </a:r>
            <a:r>
              <a:rPr lang="en-US" sz="1400" b="1">
                <a:solidFill>
                  <a:srgbClr val="FF0000"/>
                </a:solidFill>
              </a:rPr>
              <a:t>precious metals, even Swiss real estate</a:t>
            </a:r>
            <a:r>
              <a:rPr lang="en-US" sz="1400"/>
              <a:t>. Generally, these stablecoins are linked to a specific amount of the </a:t>
            </a:r>
            <a:r>
              <a:rPr lang="en-US" sz="1400" b="1">
                <a:solidFill>
                  <a:srgbClr val="FF0000"/>
                </a:solidFill>
              </a:rPr>
              <a:t>commodity</a:t>
            </a:r>
            <a:r>
              <a:rPr lang="en-US" sz="1400"/>
              <a:t> and stored in a known location and frequently subject to outside audits - something which fiat stablecoin Tether long avoided. </a:t>
            </a:r>
          </a:p>
          <a:p>
            <a:endParaRPr lang="en-US" sz="1400"/>
          </a:p>
          <a:p>
            <a:r>
              <a:rPr lang="en-US" sz="1400" b="1">
                <a:solidFill>
                  <a:srgbClr val="FF0000"/>
                </a:solidFill>
              </a:rPr>
              <a:t>Pax Gold</a:t>
            </a:r>
            <a:r>
              <a:rPr lang="en-US" sz="1400"/>
              <a:t>, an ERC-20 created by Paxos CEO Charles Cascarilla, is backed by one fine troy ounce of </a:t>
            </a:r>
            <a:r>
              <a:rPr lang="en-US" sz="1400" b="1">
                <a:solidFill>
                  <a:srgbClr val="FF0000"/>
                </a:solidFill>
              </a:rPr>
              <a:t>London Good Delivery gold</a:t>
            </a:r>
            <a:r>
              <a:rPr lang="en-US" sz="1400"/>
              <a:t> stored in Brinks’ LBMA-approved gold vault in the U.K.’s capital, and can be redeemed for the precious metal. </a:t>
            </a:r>
          </a:p>
          <a:p>
            <a:endParaRPr lang="en-US" sz="1400"/>
          </a:p>
          <a:p>
            <a:r>
              <a:rPr lang="en-US" sz="1400" b="1">
                <a:solidFill>
                  <a:srgbClr val="FF0000"/>
                </a:solidFill>
              </a:rPr>
              <a:t>Digix Gold</a:t>
            </a:r>
            <a:r>
              <a:rPr lang="en-US" sz="1400"/>
              <a:t>, on the other hand, is one gram of 99.99% fine gold stored in Singapore and audited quarterly.</a:t>
            </a:r>
          </a:p>
        </p:txBody>
      </p:sp>
      <p:sp>
        <p:nvSpPr>
          <p:cNvPr id="5" name="TextBox 4">
            <a:extLst>
              <a:ext uri="{FF2B5EF4-FFF2-40B4-BE49-F238E27FC236}">
                <a16:creationId xmlns:a16="http://schemas.microsoft.com/office/drawing/2014/main" id="{0C2A0304-AE3E-742A-3FF3-EEE9E8ED0F43}"/>
              </a:ext>
            </a:extLst>
          </p:cNvPr>
          <p:cNvSpPr txBox="1"/>
          <p:nvPr/>
        </p:nvSpPr>
        <p:spPr>
          <a:xfrm>
            <a:off x="6629400" y="115750"/>
            <a:ext cx="4781550" cy="523220"/>
          </a:xfrm>
          <a:prstGeom prst="rect">
            <a:avLst/>
          </a:prstGeom>
          <a:noFill/>
        </p:spPr>
        <p:txBody>
          <a:bodyPr wrap="square" rtlCol="0">
            <a:spAutoFit/>
          </a:bodyPr>
          <a:lstStyle/>
          <a:p>
            <a:r>
              <a:rPr lang="en-US" sz="2800" b="1"/>
              <a:t>Asset-backed stablecoins</a:t>
            </a:r>
          </a:p>
        </p:txBody>
      </p:sp>
    </p:spTree>
    <p:extLst>
      <p:ext uri="{BB962C8B-B14F-4D97-AF65-F5344CB8AC3E}">
        <p14:creationId xmlns:p14="http://schemas.microsoft.com/office/powerpoint/2010/main" val="179255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1FD7AD-4EC4-E5EF-0189-E86370C9CD43}"/>
              </a:ext>
            </a:extLst>
          </p:cNvPr>
          <p:cNvSpPr txBox="1"/>
          <p:nvPr/>
        </p:nvSpPr>
        <p:spPr>
          <a:xfrm>
            <a:off x="0" y="0"/>
            <a:ext cx="4100362" cy="523220"/>
          </a:xfrm>
          <a:prstGeom prst="rect">
            <a:avLst/>
          </a:prstGeom>
          <a:noFill/>
        </p:spPr>
        <p:txBody>
          <a:bodyPr wrap="square" rtlCol="0">
            <a:spAutoFit/>
          </a:bodyPr>
          <a:lstStyle/>
          <a:p>
            <a:r>
              <a:rPr lang="en-US" sz="2800" b="1"/>
              <a:t>FB Libra Story</a:t>
            </a:r>
          </a:p>
        </p:txBody>
      </p:sp>
      <p:sp>
        <p:nvSpPr>
          <p:cNvPr id="3" name="TextBox 2">
            <a:extLst>
              <a:ext uri="{FF2B5EF4-FFF2-40B4-BE49-F238E27FC236}">
                <a16:creationId xmlns:a16="http://schemas.microsoft.com/office/drawing/2014/main" id="{D3E8FCD9-2FC1-6C47-7565-C67349FCFD85}"/>
              </a:ext>
            </a:extLst>
          </p:cNvPr>
          <p:cNvSpPr txBox="1"/>
          <p:nvPr/>
        </p:nvSpPr>
        <p:spPr>
          <a:xfrm>
            <a:off x="774834" y="879354"/>
            <a:ext cx="6107229" cy="4832092"/>
          </a:xfrm>
          <a:prstGeom prst="rect">
            <a:avLst/>
          </a:prstGeom>
          <a:noFill/>
        </p:spPr>
        <p:txBody>
          <a:bodyPr wrap="square" rtlCol="0">
            <a:spAutoFit/>
          </a:bodyPr>
          <a:lstStyle/>
          <a:p>
            <a:pPr marL="285750" indent="-285750">
              <a:buFont typeface="Arial" panose="020B0604020202020204" pitchFamily="34" charset="0"/>
              <a:buChar char="•"/>
            </a:pPr>
            <a:r>
              <a:rPr lang="en-US" sz="1400"/>
              <a:t>2019 - Facebook unveiled </a:t>
            </a:r>
            <a:r>
              <a:rPr lang="en-US" sz="1400" b="1">
                <a:solidFill>
                  <a:srgbClr val="FF0000"/>
                </a:solidFill>
              </a:rPr>
              <a:t>Libra</a:t>
            </a:r>
            <a:r>
              <a:rPr lang="en-US" sz="1400"/>
              <a:t> – a brand new cryptocurrency tied to a basket of fiat currencies and securities.</a:t>
            </a:r>
          </a:p>
          <a:p>
            <a:pPr marL="285750" indent="-285750">
              <a:buFont typeface="Arial" panose="020B0604020202020204" pitchFamily="34" charset="0"/>
              <a:buChar char="•"/>
            </a:pPr>
            <a:r>
              <a:rPr lang="en-US" sz="1400"/>
              <a:t>The </a:t>
            </a:r>
            <a:r>
              <a:rPr lang="en-US" sz="1400" b="1">
                <a:solidFill>
                  <a:srgbClr val="00B050"/>
                </a:solidFill>
              </a:rPr>
              <a:t>Libra Association</a:t>
            </a:r>
            <a:r>
              <a:rPr lang="en-US" sz="1400"/>
              <a:t> faced strong opposition from regulators and central banks – they thought that Libra would compete with sovereign currencies with profound macroeconomic effects. It could have led to shadow banking, inflation and would have been a way to escape monetary policies.</a:t>
            </a:r>
          </a:p>
          <a:p>
            <a:pPr marL="285750" indent="-285750">
              <a:buFont typeface="Arial" panose="020B0604020202020204" pitchFamily="34" charset="0"/>
              <a:buChar char="•"/>
            </a:pPr>
            <a:r>
              <a:rPr lang="en-US" sz="1400"/>
              <a:t>That’s why the </a:t>
            </a:r>
            <a:r>
              <a:rPr lang="en-US" sz="1400" b="1">
                <a:solidFill>
                  <a:srgbClr val="00B050"/>
                </a:solidFill>
              </a:rPr>
              <a:t>Libra Association</a:t>
            </a:r>
            <a:r>
              <a:rPr lang="en-US" sz="1400"/>
              <a:t> switched to launching several single-currency stablecoins – </a:t>
            </a:r>
            <a:r>
              <a:rPr lang="en-US" sz="1400" b="1">
                <a:solidFill>
                  <a:srgbClr val="FF0000"/>
                </a:solidFill>
              </a:rPr>
              <a:t>LibraUSD, LibraGBP, LibraEUR</a:t>
            </a:r>
            <a:r>
              <a:rPr lang="en-US" sz="1400"/>
              <a:t>, etc.</a:t>
            </a:r>
          </a:p>
          <a:p>
            <a:pPr marL="285750" indent="-285750">
              <a:buFont typeface="Arial" panose="020B0604020202020204" pitchFamily="34" charset="0"/>
              <a:buChar char="•"/>
            </a:pPr>
            <a:r>
              <a:rPr lang="en-US" sz="1400"/>
              <a:t>But that plan changed once again. The </a:t>
            </a:r>
            <a:r>
              <a:rPr lang="en-US" sz="1400" b="1">
                <a:solidFill>
                  <a:srgbClr val="00B050"/>
                </a:solidFill>
              </a:rPr>
              <a:t>Libra Association</a:t>
            </a:r>
            <a:r>
              <a:rPr lang="en-US" sz="1400"/>
              <a:t> became the </a:t>
            </a:r>
            <a:r>
              <a:rPr lang="en-US" sz="1400" b="1">
                <a:solidFill>
                  <a:srgbClr val="00B050"/>
                </a:solidFill>
              </a:rPr>
              <a:t>Diem Association</a:t>
            </a:r>
            <a:r>
              <a:rPr lang="en-US" sz="1400"/>
              <a:t>, and Facebook launched a pilot version of </a:t>
            </a:r>
            <a:r>
              <a:rPr lang="en-US" sz="1400" b="1">
                <a:solidFill>
                  <a:srgbClr val="FF0000"/>
                </a:solidFill>
              </a:rPr>
              <a:t>Novi</a:t>
            </a:r>
            <a:r>
              <a:rPr lang="en-US" sz="1400"/>
              <a:t>, crypto-wallet. Instead of using the association’s stablecoin (</a:t>
            </a:r>
            <a:r>
              <a:rPr lang="en-US" sz="1400" b="1">
                <a:solidFill>
                  <a:srgbClr val="FF0000"/>
                </a:solidFill>
              </a:rPr>
              <a:t>Diem</a:t>
            </a:r>
            <a:r>
              <a:rPr lang="en-US" sz="1400"/>
              <a:t>) on the association’s blockchain (the </a:t>
            </a:r>
            <a:r>
              <a:rPr lang="en-US" sz="1400" b="1">
                <a:solidFill>
                  <a:srgbClr val="FF0000"/>
                </a:solidFill>
              </a:rPr>
              <a:t>Diem network</a:t>
            </a:r>
            <a:r>
              <a:rPr lang="en-US" sz="1400"/>
              <a:t>), </a:t>
            </a:r>
            <a:r>
              <a:rPr lang="en-US" sz="1400" b="1">
                <a:solidFill>
                  <a:srgbClr val="FF0000"/>
                </a:solidFill>
              </a:rPr>
              <a:t>Novi</a:t>
            </a:r>
            <a:r>
              <a:rPr lang="en-US" sz="1400"/>
              <a:t> uses </a:t>
            </a:r>
            <a:r>
              <a:rPr lang="en-US" sz="1400" b="1">
                <a:solidFill>
                  <a:srgbClr val="FF0000"/>
                </a:solidFill>
              </a:rPr>
              <a:t>USDP</a:t>
            </a:r>
            <a:r>
              <a:rPr lang="en-US" sz="1400"/>
              <a:t> as its currency. This stablecoin is issued by </a:t>
            </a:r>
            <a:r>
              <a:rPr lang="en-US" sz="1400" b="1">
                <a:solidFill>
                  <a:srgbClr val="FF0000"/>
                </a:solidFill>
              </a:rPr>
              <a:t>Paxos</a:t>
            </a:r>
            <a:r>
              <a:rPr lang="en-US" sz="1400"/>
              <a:t>, with </a:t>
            </a:r>
            <a:r>
              <a:rPr lang="en-US" sz="1400" b="1">
                <a:solidFill>
                  <a:srgbClr val="FF0000"/>
                </a:solidFill>
              </a:rPr>
              <a:t>Coinbase</a:t>
            </a:r>
            <a:r>
              <a:rPr lang="en-US" sz="1400"/>
              <a:t> managing crypto custody.</a:t>
            </a:r>
          </a:p>
          <a:p>
            <a:pPr marL="285750" indent="-285750">
              <a:buFont typeface="Arial" panose="020B0604020202020204" pitchFamily="34" charset="0"/>
              <a:buChar char="•"/>
            </a:pPr>
            <a:r>
              <a:rPr lang="en-US" sz="1400"/>
              <a:t>end of 2021 – Facebook/Meta top crypto executive </a:t>
            </a:r>
            <a:r>
              <a:rPr lang="en-US" sz="1400" b="1">
                <a:solidFill>
                  <a:srgbClr val="00B050"/>
                </a:solidFill>
              </a:rPr>
              <a:t>David Marcus</a:t>
            </a:r>
            <a:r>
              <a:rPr lang="en-US" sz="1400"/>
              <a:t> left the company. While Diem’s cryptocurrencies have yet to launch, Silvergate Capital was supposed to issue some of the stablecoins and back them with cash in their account, according to the WSJ.</a:t>
            </a:r>
          </a:p>
          <a:p>
            <a:pPr marL="285750" indent="-285750">
              <a:buFont typeface="Arial" panose="020B0604020202020204" pitchFamily="34" charset="0"/>
              <a:buChar char="•"/>
            </a:pPr>
            <a:r>
              <a:rPr lang="en-US" sz="1400"/>
              <a:t>January 2022 - Silvergate Capital Corporation has acquired intellectual property and other technology assets related to running a blockchain-based payment network from Diem (for ~ $200 Mln)</a:t>
            </a:r>
          </a:p>
          <a:p>
            <a:pPr marL="285750" indent="-285750">
              <a:buFont typeface="Arial" panose="020B0604020202020204" pitchFamily="34" charset="0"/>
              <a:buChar char="•"/>
            </a:pPr>
            <a:r>
              <a:rPr lang="en-US" sz="1400">
                <a:hlinkClick r:id="rId2"/>
              </a:rPr>
              <a:t>https://en.wikipedia.org/wiki/Diem_(digital_currency)</a:t>
            </a:r>
            <a:endParaRPr lang="en-US" sz="1400"/>
          </a:p>
          <a:p>
            <a:pPr marL="285750" indent="-285750">
              <a:buFont typeface="Arial" panose="020B0604020202020204" pitchFamily="34" charset="0"/>
              <a:buChar char="•"/>
            </a:pPr>
            <a:r>
              <a:rPr lang="en-US" sz="1400">
                <a:hlinkClick r:id="rId3"/>
              </a:rPr>
              <a:t>https://github.com/diem/diem</a:t>
            </a:r>
            <a:endParaRPr lang="en-US" sz="1400"/>
          </a:p>
        </p:txBody>
      </p:sp>
      <p:pic>
        <p:nvPicPr>
          <p:cNvPr id="4" name="Picture 3">
            <a:extLst>
              <a:ext uri="{FF2B5EF4-FFF2-40B4-BE49-F238E27FC236}">
                <a16:creationId xmlns:a16="http://schemas.microsoft.com/office/drawing/2014/main" id="{3F76FF34-04B9-73CF-ADD0-86D9164CD9D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244397" y="70832"/>
            <a:ext cx="2849078" cy="808522"/>
          </a:xfrm>
          <a:prstGeom prst="rect">
            <a:avLst/>
          </a:prstGeom>
        </p:spPr>
      </p:pic>
      <p:pic>
        <p:nvPicPr>
          <p:cNvPr id="5" name="Picture 4">
            <a:extLst>
              <a:ext uri="{FF2B5EF4-FFF2-40B4-BE49-F238E27FC236}">
                <a16:creationId xmlns:a16="http://schemas.microsoft.com/office/drawing/2014/main" id="{AAC260F1-64B7-2E7F-8A73-F185AC5471D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911506" y="1617044"/>
            <a:ext cx="1505660" cy="1609174"/>
          </a:xfrm>
          <a:prstGeom prst="rect">
            <a:avLst/>
          </a:prstGeom>
        </p:spPr>
      </p:pic>
      <p:sp>
        <p:nvSpPr>
          <p:cNvPr id="6" name="TextBox 5">
            <a:extLst>
              <a:ext uri="{FF2B5EF4-FFF2-40B4-BE49-F238E27FC236}">
                <a16:creationId xmlns:a16="http://schemas.microsoft.com/office/drawing/2014/main" id="{C5CB8636-88B1-8796-8A0A-51FB860A068B}"/>
              </a:ext>
            </a:extLst>
          </p:cNvPr>
          <p:cNvSpPr txBox="1"/>
          <p:nvPr/>
        </p:nvSpPr>
        <p:spPr>
          <a:xfrm>
            <a:off x="9911506" y="3226218"/>
            <a:ext cx="1505660" cy="307777"/>
          </a:xfrm>
          <a:prstGeom prst="rect">
            <a:avLst/>
          </a:prstGeom>
          <a:noFill/>
        </p:spPr>
        <p:txBody>
          <a:bodyPr wrap="square" rtlCol="0">
            <a:spAutoFit/>
          </a:bodyPr>
          <a:lstStyle/>
          <a:p>
            <a:pPr algn="ctr"/>
            <a:r>
              <a:rPr lang="en-US" sz="1400"/>
              <a:t>David Marcus</a:t>
            </a:r>
          </a:p>
        </p:txBody>
      </p:sp>
    </p:spTree>
    <p:extLst>
      <p:ext uri="{BB962C8B-B14F-4D97-AF65-F5344CB8AC3E}">
        <p14:creationId xmlns:p14="http://schemas.microsoft.com/office/powerpoint/2010/main" val="1915040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092662-D577-73FF-11DE-EECC5DAA210D}"/>
              </a:ext>
            </a:extLst>
          </p:cNvPr>
          <p:cNvSpPr txBox="1"/>
          <p:nvPr/>
        </p:nvSpPr>
        <p:spPr>
          <a:xfrm>
            <a:off x="431800" y="107514"/>
            <a:ext cx="3860800" cy="523220"/>
          </a:xfrm>
          <a:prstGeom prst="rect">
            <a:avLst/>
          </a:prstGeom>
          <a:noFill/>
        </p:spPr>
        <p:txBody>
          <a:bodyPr wrap="square" rtlCol="0">
            <a:spAutoFit/>
          </a:bodyPr>
          <a:lstStyle/>
          <a:p>
            <a:r>
              <a:rPr lang="en-US" sz="2800" b="1"/>
              <a:t>Algorithmic Stablecoins</a:t>
            </a:r>
          </a:p>
        </p:txBody>
      </p:sp>
      <p:sp>
        <p:nvSpPr>
          <p:cNvPr id="3" name="TextBox 2">
            <a:extLst>
              <a:ext uri="{FF2B5EF4-FFF2-40B4-BE49-F238E27FC236}">
                <a16:creationId xmlns:a16="http://schemas.microsoft.com/office/drawing/2014/main" id="{8BB4FD16-F987-B338-F226-5EEEFA2A46B6}"/>
              </a:ext>
            </a:extLst>
          </p:cNvPr>
          <p:cNvSpPr txBox="1"/>
          <p:nvPr/>
        </p:nvSpPr>
        <p:spPr>
          <a:xfrm>
            <a:off x="203200" y="630734"/>
            <a:ext cx="4559300" cy="5047536"/>
          </a:xfrm>
          <a:prstGeom prst="rect">
            <a:avLst/>
          </a:prstGeom>
          <a:solidFill>
            <a:schemeClr val="accent4">
              <a:lumMod val="20000"/>
              <a:lumOff val="80000"/>
            </a:schemeClr>
          </a:solidFill>
        </p:spPr>
        <p:txBody>
          <a:bodyPr wrap="square" rtlCol="0">
            <a:spAutoFit/>
          </a:bodyPr>
          <a:lstStyle/>
          <a:p>
            <a:r>
              <a:rPr lang="en-US" sz="1400"/>
              <a:t>These complex stablecoins use algorithms and smart contracts to protect price stability by increasing or decreasing supply, using market forces to maintain a level price.</a:t>
            </a:r>
          </a:p>
          <a:p>
            <a:endParaRPr lang="en-US" sz="1400"/>
          </a:p>
          <a:p>
            <a:r>
              <a:rPr lang="en-US" sz="1400"/>
              <a:t>The most complex version of the stablecoin is the </a:t>
            </a:r>
            <a:r>
              <a:rPr lang="en-US" sz="1400" b="1">
                <a:solidFill>
                  <a:srgbClr val="FF0000"/>
                </a:solidFill>
              </a:rPr>
              <a:t>algorithmic stablecoin</a:t>
            </a:r>
            <a:r>
              <a:rPr lang="en-US" sz="1400"/>
              <a:t>, which is not backed by any kind of collateral. Rather, as the name suggests, its value is controlled by specialized </a:t>
            </a:r>
            <a:r>
              <a:rPr lang="en-US" sz="1400" b="1">
                <a:solidFill>
                  <a:srgbClr val="FF0000"/>
                </a:solidFill>
              </a:rPr>
              <a:t>algorithms and smart contracts </a:t>
            </a:r>
            <a:r>
              <a:rPr lang="en-US" sz="1400"/>
              <a:t>that </a:t>
            </a:r>
            <a:r>
              <a:rPr lang="en-US" sz="1400" b="1">
                <a:solidFill>
                  <a:srgbClr val="00B050"/>
                </a:solidFill>
              </a:rPr>
              <a:t>automatically reduce or increase the supply of tokens</a:t>
            </a:r>
            <a:r>
              <a:rPr lang="en-US" sz="1400"/>
              <a:t> on the market to keep the token’s price stable with the fiat currency it tracks. </a:t>
            </a:r>
          </a:p>
          <a:p>
            <a:endParaRPr lang="en-US" sz="1400"/>
          </a:p>
          <a:p>
            <a:r>
              <a:rPr lang="en-US" sz="1400"/>
              <a:t>If the market price starts to fall below the value of that dollar, euro or whatever, the algorithms will remove tokens from circulation. If it stablecoin’s value rises above that of the fiat, the system will dump new stablecoins into the market. </a:t>
            </a:r>
          </a:p>
          <a:p>
            <a:endParaRPr lang="en-US" sz="1400"/>
          </a:p>
          <a:p>
            <a:r>
              <a:rPr lang="en-US" sz="1400"/>
              <a:t>Which is to say, the goal is essentially to create a </a:t>
            </a:r>
            <a:r>
              <a:rPr lang="en-US" sz="1400" b="1">
                <a:solidFill>
                  <a:srgbClr val="00B050"/>
                </a:solidFill>
              </a:rPr>
              <a:t>decentralized and automated central bank</a:t>
            </a:r>
            <a:r>
              <a:rPr lang="en-US" sz="1400"/>
              <a:t> that increases or decreases the stablecoin supply as needed to keep the price level.</a:t>
            </a:r>
          </a:p>
        </p:txBody>
      </p:sp>
      <p:sp>
        <p:nvSpPr>
          <p:cNvPr id="4" name="TextBox 3">
            <a:extLst>
              <a:ext uri="{FF2B5EF4-FFF2-40B4-BE49-F238E27FC236}">
                <a16:creationId xmlns:a16="http://schemas.microsoft.com/office/drawing/2014/main" id="{004CF6E2-7639-A527-A70C-58F5E3385401}"/>
              </a:ext>
            </a:extLst>
          </p:cNvPr>
          <p:cNvSpPr txBox="1"/>
          <p:nvPr/>
        </p:nvSpPr>
        <p:spPr>
          <a:xfrm>
            <a:off x="5219700" y="630734"/>
            <a:ext cx="6769100" cy="5909310"/>
          </a:xfrm>
          <a:prstGeom prst="rect">
            <a:avLst/>
          </a:prstGeom>
          <a:solidFill>
            <a:schemeClr val="accent4">
              <a:lumMod val="20000"/>
              <a:lumOff val="80000"/>
            </a:schemeClr>
          </a:solidFill>
        </p:spPr>
        <p:txBody>
          <a:bodyPr wrap="square" rtlCol="0">
            <a:spAutoFit/>
          </a:bodyPr>
          <a:lstStyle/>
          <a:p>
            <a:r>
              <a:rPr lang="en-US" sz="1400"/>
              <a:t>Crypto-backed stablecoins use what amounts to overcollateralized loans to keep their value correctly pegged.</a:t>
            </a:r>
          </a:p>
          <a:p>
            <a:endParaRPr lang="en-US" sz="1400"/>
          </a:p>
          <a:p>
            <a:r>
              <a:rPr lang="en-US" sz="1400"/>
              <a:t>Crypto-collateralized stablecoins are backed by a basket of one or more other cryptocurrencies. </a:t>
            </a:r>
          </a:p>
          <a:p>
            <a:endParaRPr lang="en-US" sz="1400"/>
          </a:p>
          <a:p>
            <a:r>
              <a:rPr lang="en-US" sz="1400"/>
              <a:t>As these cryptocurrencies are themselves </a:t>
            </a:r>
            <a:r>
              <a:rPr lang="en-US" sz="1400">
                <a:solidFill>
                  <a:srgbClr val="FF0000"/>
                </a:solidFill>
              </a:rPr>
              <a:t>highly volatile</a:t>
            </a:r>
            <a:r>
              <a:rPr lang="en-US" sz="1400"/>
              <a:t>, these stablecoins are highly </a:t>
            </a:r>
            <a:r>
              <a:rPr lang="en-US" sz="1400" b="1">
                <a:solidFill>
                  <a:srgbClr val="00B050"/>
                </a:solidFill>
              </a:rPr>
              <a:t>overcollateralized</a:t>
            </a:r>
            <a:r>
              <a:rPr lang="en-US" sz="1400"/>
              <a:t>, and require purchasers to lock their collateral tokens into smart contracts that will be liquidated if the collateral drops in value too much. The collateral that can be collected by replacing the stablecoins. </a:t>
            </a:r>
          </a:p>
          <a:p>
            <a:endParaRPr lang="en-US" sz="1400"/>
          </a:p>
          <a:p>
            <a:r>
              <a:rPr lang="en-US" sz="1400"/>
              <a:t>One of the best-known crypto-backed stablecoins is </a:t>
            </a:r>
            <a:r>
              <a:rPr lang="en-US" sz="1400" b="1">
                <a:solidFill>
                  <a:srgbClr val="00B050"/>
                </a:solidFill>
              </a:rPr>
              <a:t>MakerDAO</a:t>
            </a:r>
            <a:r>
              <a:rPr lang="en-US" sz="1400"/>
              <a:t>’s </a:t>
            </a:r>
            <a:r>
              <a:rPr lang="en-US" sz="1400" b="1">
                <a:solidFill>
                  <a:srgbClr val="FF0000"/>
                </a:solidFill>
              </a:rPr>
              <a:t>DAI</a:t>
            </a:r>
            <a:r>
              <a:rPr lang="en-US" sz="1400"/>
              <a:t>, pegged to $1. However, as MakerDAO learned during the March 12, 2020 “</a:t>
            </a:r>
            <a:r>
              <a:rPr lang="en-US" sz="1400" b="1">
                <a:solidFill>
                  <a:srgbClr val="00B050"/>
                </a:solidFill>
              </a:rPr>
              <a:t>black swan</a:t>
            </a:r>
            <a:r>
              <a:rPr lang="en-US" sz="1400"/>
              <a:t>” </a:t>
            </a:r>
            <a:r>
              <a:rPr lang="en-US" sz="1400" b="1">
                <a:solidFill>
                  <a:srgbClr val="00B050"/>
                </a:solidFill>
              </a:rPr>
              <a:t>event</a:t>
            </a:r>
            <a:r>
              <a:rPr lang="en-US" sz="1400"/>
              <a:t> in which ETH’s value was cut in half in less than 24 hours after it got overwhelmed by liquidations, making sure the system can handle extreme conditions is vital — forcing it to implement substantial governance and auction management changes. That was successful, and the stablecoin’s market capitalization is more than $7 Billion at this writing.</a:t>
            </a:r>
          </a:p>
          <a:p>
            <a:endParaRPr lang="en-US" sz="1400"/>
          </a:p>
          <a:p>
            <a:r>
              <a:rPr lang="en-US" sz="1400"/>
              <a:t>It is getting some competition this summer from </a:t>
            </a:r>
            <a:r>
              <a:rPr lang="en-US" sz="1400" b="1">
                <a:solidFill>
                  <a:srgbClr val="FF0000"/>
                </a:solidFill>
              </a:rPr>
              <a:t>Free TON</a:t>
            </a:r>
            <a:r>
              <a:rPr lang="en-US" sz="1400"/>
              <a:t>, the fully decentralized blockchain project that took up the </a:t>
            </a:r>
            <a:r>
              <a:rPr lang="en-US" sz="1400">
                <a:solidFill>
                  <a:srgbClr val="00B050"/>
                </a:solidFill>
              </a:rPr>
              <a:t>Telegram Open Network blockchain’s work</a:t>
            </a:r>
            <a:r>
              <a:rPr lang="en-US" sz="1400"/>
              <a:t> once the messaging company that founded it pulled out after a legal battle. </a:t>
            </a:r>
          </a:p>
          <a:p>
            <a:endParaRPr lang="en-US" sz="1400"/>
          </a:p>
          <a:p>
            <a:r>
              <a:rPr lang="en-US" sz="1400"/>
              <a:t>This summer, </a:t>
            </a:r>
            <a:r>
              <a:rPr lang="en-US" sz="1400" b="1">
                <a:solidFill>
                  <a:srgbClr val="FF0000"/>
                </a:solidFill>
              </a:rPr>
              <a:t>Free TON</a:t>
            </a:r>
            <a:r>
              <a:rPr lang="en-US" sz="1400"/>
              <a:t> is planning to release a stablecoin sibling to its </a:t>
            </a:r>
            <a:r>
              <a:rPr lang="en-US" sz="1400" b="1">
                <a:solidFill>
                  <a:srgbClr val="FF0000"/>
                </a:solidFill>
              </a:rPr>
              <a:t>TON Crystal</a:t>
            </a:r>
            <a:r>
              <a:rPr lang="en-US" sz="1400"/>
              <a:t> token. The stablecoin’s liquidity will be 100% backed by locked-in Ether, providing liquidity providers with potential returns. It will have “widespread application for services with recurrent subscriptions and high-risk offerings,” said </a:t>
            </a:r>
            <a:r>
              <a:rPr lang="en-US" sz="1400" b="1">
                <a:solidFill>
                  <a:srgbClr val="FF0000"/>
                </a:solidFill>
              </a:rPr>
              <a:t>TON Labs</a:t>
            </a:r>
            <a:r>
              <a:rPr lang="en-US" sz="1400"/>
              <a:t>, the core developer of the </a:t>
            </a:r>
            <a:r>
              <a:rPr lang="en-US" sz="1400" b="1">
                <a:solidFill>
                  <a:srgbClr val="FF0000"/>
                </a:solidFill>
              </a:rPr>
              <a:t>Free TON project</a:t>
            </a:r>
            <a:r>
              <a:rPr lang="en-US" sz="1400"/>
              <a:t>.</a:t>
            </a:r>
          </a:p>
        </p:txBody>
      </p:sp>
      <p:sp>
        <p:nvSpPr>
          <p:cNvPr id="5" name="TextBox 4">
            <a:extLst>
              <a:ext uri="{FF2B5EF4-FFF2-40B4-BE49-F238E27FC236}">
                <a16:creationId xmlns:a16="http://schemas.microsoft.com/office/drawing/2014/main" id="{0C2A0304-AE3E-742A-3FF3-EEE9E8ED0F43}"/>
              </a:ext>
            </a:extLst>
          </p:cNvPr>
          <p:cNvSpPr txBox="1"/>
          <p:nvPr/>
        </p:nvSpPr>
        <p:spPr>
          <a:xfrm>
            <a:off x="6629400" y="107514"/>
            <a:ext cx="4781550" cy="523220"/>
          </a:xfrm>
          <a:prstGeom prst="rect">
            <a:avLst/>
          </a:prstGeom>
          <a:noFill/>
        </p:spPr>
        <p:txBody>
          <a:bodyPr wrap="square" rtlCol="0">
            <a:spAutoFit/>
          </a:bodyPr>
          <a:lstStyle/>
          <a:p>
            <a:r>
              <a:rPr lang="en-US" sz="2800" b="1"/>
              <a:t>Crypto-backed Stablecoins</a:t>
            </a:r>
          </a:p>
        </p:txBody>
      </p:sp>
    </p:spTree>
    <p:extLst>
      <p:ext uri="{BB962C8B-B14F-4D97-AF65-F5344CB8AC3E}">
        <p14:creationId xmlns:p14="http://schemas.microsoft.com/office/powerpoint/2010/main" val="3775019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D033A4-BAF3-5AC4-C0A4-459A302BD53B}"/>
              </a:ext>
            </a:extLst>
          </p:cNvPr>
          <p:cNvSpPr txBox="1"/>
          <p:nvPr/>
        </p:nvSpPr>
        <p:spPr>
          <a:xfrm>
            <a:off x="11486" y="841433"/>
            <a:ext cx="3918857" cy="2893100"/>
          </a:xfrm>
          <a:prstGeom prst="rect">
            <a:avLst/>
          </a:prstGeom>
          <a:noFill/>
        </p:spPr>
        <p:txBody>
          <a:bodyPr wrap="square" rtlCol="0">
            <a:spAutoFit/>
          </a:bodyPr>
          <a:lstStyle/>
          <a:p>
            <a:pPr marL="285750" indent="-285750">
              <a:buFont typeface="Arial" panose="020B0604020202020204" pitchFamily="34" charset="0"/>
              <a:buChar char="•"/>
            </a:pPr>
            <a:r>
              <a:rPr lang="en-US" sz="1400">
                <a:hlinkClick r:id="rId2"/>
              </a:rPr>
              <a:t>https://everscale.network</a:t>
            </a:r>
            <a:endParaRPr lang="en-US" sz="1400"/>
          </a:p>
          <a:p>
            <a:pPr marL="285750" indent="-285750">
              <a:buFont typeface="Arial" panose="020B0604020202020204" pitchFamily="34" charset="0"/>
              <a:buChar char="•"/>
            </a:pPr>
            <a:r>
              <a:rPr lang="en-US" sz="1400">
                <a:hlinkClick r:id="rId3"/>
              </a:rPr>
              <a:t>https://flatqube.io</a:t>
            </a:r>
            <a:endParaRPr lang="en-US" sz="1400"/>
          </a:p>
          <a:p>
            <a:pPr marL="285750" indent="-285750">
              <a:buFont typeface="Arial" panose="020B0604020202020204" pitchFamily="34" charset="0"/>
              <a:buChar char="•"/>
            </a:pPr>
            <a:r>
              <a:rPr lang="en-US" sz="1400">
                <a:hlinkClick r:id="rId4"/>
              </a:rPr>
              <a:t>https://octusbridge.io</a:t>
            </a:r>
            <a:endParaRPr lang="en-US" sz="1400"/>
          </a:p>
          <a:p>
            <a:pPr marL="285750" indent="-285750">
              <a:buFont typeface="Arial" panose="020B0604020202020204" pitchFamily="34" charset="0"/>
              <a:buChar char="•"/>
            </a:pPr>
            <a:r>
              <a:rPr lang="en-US" sz="1400">
                <a:hlinkClick r:id="rId5"/>
              </a:rPr>
              <a:t>https://debridges.com/bridge/octus-bridge</a:t>
            </a:r>
            <a:endParaRPr lang="en-US" sz="1400"/>
          </a:p>
          <a:p>
            <a:endParaRPr lang="en-US" sz="1400">
              <a:hlinkClick r:id="rId6"/>
            </a:endParaRPr>
          </a:p>
          <a:p>
            <a:pPr marL="285750" indent="-285750">
              <a:buFont typeface="Arial" panose="020B0604020202020204" pitchFamily="34" charset="0"/>
              <a:buChar char="•"/>
            </a:pPr>
            <a:r>
              <a:rPr lang="en-US" sz="1400">
                <a:hlinkClick r:id="rId6"/>
              </a:rPr>
              <a:t>https://freeton.org</a:t>
            </a:r>
            <a:endParaRPr lang="en-US" sz="1400">
              <a:hlinkClick r:id="rId7"/>
            </a:endParaRPr>
          </a:p>
          <a:p>
            <a:pPr marL="285750" indent="-285750">
              <a:buFont typeface="Arial" panose="020B0604020202020204" pitchFamily="34" charset="0"/>
              <a:buChar char="•"/>
            </a:pPr>
            <a:r>
              <a:rPr lang="en-US" sz="1400">
                <a:hlinkClick r:id="rId7"/>
              </a:rPr>
              <a:t>https://freeton.com</a:t>
            </a:r>
            <a:endParaRPr lang="en-US" sz="1400">
              <a:hlinkClick r:id="rId8"/>
            </a:endParaRPr>
          </a:p>
          <a:p>
            <a:pPr marL="285750" indent="-285750">
              <a:buFont typeface="Arial" panose="020B0604020202020204" pitchFamily="34" charset="0"/>
              <a:buChar char="•"/>
            </a:pPr>
            <a:r>
              <a:rPr lang="en-US" sz="1400">
                <a:hlinkClick r:id="rId9"/>
              </a:rPr>
              <a:t>https://broxus.com</a:t>
            </a:r>
            <a:endParaRPr lang="en-US" sz="1400"/>
          </a:p>
          <a:p>
            <a:pPr marL="285750" indent="-285750">
              <a:buFont typeface="Arial" panose="020B0604020202020204" pitchFamily="34" charset="0"/>
              <a:buChar char="•"/>
            </a:pPr>
            <a:r>
              <a:rPr lang="en-US" sz="1400">
                <a:hlinkClick r:id="rId10"/>
              </a:rPr>
              <a:t>https://github.com/broxus</a:t>
            </a:r>
            <a:endParaRPr lang="en-US" sz="1400"/>
          </a:p>
          <a:p>
            <a:endParaRPr lang="en-US" sz="1400"/>
          </a:p>
          <a:p>
            <a:pPr marL="285750" indent="-285750">
              <a:buFont typeface="Arial" panose="020B0604020202020204" pitchFamily="34" charset="0"/>
              <a:buChar char="•"/>
            </a:pPr>
            <a:r>
              <a:rPr lang="en-US" sz="1400">
                <a:hlinkClick r:id="rId11"/>
              </a:rPr>
              <a:t>https://bitcoinist.com/flatqube-launches-qube-utility-token-as-everscale-bolsters-its-defi-offerings/</a:t>
            </a:r>
            <a:endParaRPr lang="en-US" sz="1400"/>
          </a:p>
        </p:txBody>
      </p:sp>
      <p:sp>
        <p:nvSpPr>
          <p:cNvPr id="4" name="TextBox 3">
            <a:extLst>
              <a:ext uri="{FF2B5EF4-FFF2-40B4-BE49-F238E27FC236}">
                <a16:creationId xmlns:a16="http://schemas.microsoft.com/office/drawing/2014/main" id="{EA028881-D5A8-7D3B-311D-E22CD885B53F}"/>
              </a:ext>
            </a:extLst>
          </p:cNvPr>
          <p:cNvSpPr txBox="1"/>
          <p:nvPr/>
        </p:nvSpPr>
        <p:spPr>
          <a:xfrm>
            <a:off x="0" y="39811"/>
            <a:ext cx="4800600" cy="523220"/>
          </a:xfrm>
          <a:prstGeom prst="rect">
            <a:avLst/>
          </a:prstGeom>
          <a:noFill/>
        </p:spPr>
        <p:txBody>
          <a:bodyPr wrap="square" rtlCol="0">
            <a:spAutoFit/>
          </a:bodyPr>
          <a:lstStyle/>
          <a:p>
            <a:r>
              <a:rPr lang="en-US" sz="2800" b="1"/>
              <a:t>Free TON, Octus Bridge</a:t>
            </a:r>
            <a:endParaRPr lang="en-US" sz="2800"/>
          </a:p>
        </p:txBody>
      </p:sp>
      <p:pic>
        <p:nvPicPr>
          <p:cNvPr id="5" name="Picture 4">
            <a:extLst>
              <a:ext uri="{FF2B5EF4-FFF2-40B4-BE49-F238E27FC236}">
                <a16:creationId xmlns:a16="http://schemas.microsoft.com/office/drawing/2014/main" id="{B9D43336-BB81-DC2D-5C6B-A60CFB108BE6}"/>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0290475" y="77062"/>
            <a:ext cx="1372430" cy="1528743"/>
          </a:xfrm>
          <a:prstGeom prst="rect">
            <a:avLst/>
          </a:prstGeom>
        </p:spPr>
      </p:pic>
      <p:sp>
        <p:nvSpPr>
          <p:cNvPr id="6" name="TextBox 5">
            <a:extLst>
              <a:ext uri="{FF2B5EF4-FFF2-40B4-BE49-F238E27FC236}">
                <a16:creationId xmlns:a16="http://schemas.microsoft.com/office/drawing/2014/main" id="{31C9A5E1-97BB-9E16-7EDC-571A024197A9}"/>
              </a:ext>
            </a:extLst>
          </p:cNvPr>
          <p:cNvSpPr txBox="1"/>
          <p:nvPr/>
        </p:nvSpPr>
        <p:spPr>
          <a:xfrm>
            <a:off x="9761379" y="1605805"/>
            <a:ext cx="2430621" cy="1200329"/>
          </a:xfrm>
          <a:prstGeom prst="rect">
            <a:avLst/>
          </a:prstGeom>
          <a:noFill/>
        </p:spPr>
        <p:txBody>
          <a:bodyPr wrap="square" rtlCol="0">
            <a:spAutoFit/>
          </a:bodyPr>
          <a:lstStyle/>
          <a:p>
            <a:pPr algn="ctr"/>
            <a:r>
              <a:rPr lang="en-US"/>
              <a:t>Vlad Ponomarev</a:t>
            </a:r>
          </a:p>
          <a:p>
            <a:pPr algn="ctr"/>
            <a:r>
              <a:rPr lang="en-US"/>
              <a:t>CEO of Broxus,</a:t>
            </a:r>
            <a:br>
              <a:rPr lang="en-US"/>
            </a:br>
            <a:r>
              <a:rPr lang="en-US"/>
              <a:t>developer of Everscale network</a:t>
            </a:r>
          </a:p>
        </p:txBody>
      </p:sp>
      <p:sp>
        <p:nvSpPr>
          <p:cNvPr id="7" name="TextBox 6">
            <a:extLst>
              <a:ext uri="{FF2B5EF4-FFF2-40B4-BE49-F238E27FC236}">
                <a16:creationId xmlns:a16="http://schemas.microsoft.com/office/drawing/2014/main" id="{F2FF8031-4A8C-D7F3-E0FF-69FB18BCCAF1}"/>
              </a:ext>
            </a:extLst>
          </p:cNvPr>
          <p:cNvSpPr txBox="1"/>
          <p:nvPr/>
        </p:nvSpPr>
        <p:spPr>
          <a:xfrm>
            <a:off x="4135318" y="841433"/>
            <a:ext cx="5421086" cy="4247317"/>
          </a:xfrm>
          <a:prstGeom prst="rect">
            <a:avLst/>
          </a:prstGeom>
          <a:solidFill>
            <a:schemeClr val="accent4">
              <a:lumMod val="20000"/>
              <a:lumOff val="80000"/>
            </a:schemeClr>
          </a:solidFill>
        </p:spPr>
        <p:txBody>
          <a:bodyPr wrap="square" rtlCol="0">
            <a:spAutoFit/>
          </a:bodyPr>
          <a:lstStyle/>
          <a:p>
            <a:pPr marL="285750" indent="-285750">
              <a:buFont typeface="Arial" panose="020B0604020202020204" pitchFamily="34" charset="0"/>
              <a:buChar char="•"/>
            </a:pPr>
            <a:r>
              <a:rPr lang="en-US" sz="1400" b="1">
                <a:solidFill>
                  <a:srgbClr val="FF0000"/>
                </a:solidFill>
              </a:rPr>
              <a:t>Everscale network (EVER) </a:t>
            </a:r>
            <a:r>
              <a:rPr lang="en-US" sz="1400"/>
              <a:t>– decentralized platform with smart contracts capable of processing millions of transactions per second.</a:t>
            </a:r>
            <a:br>
              <a:rPr lang="en-US" sz="1400"/>
            </a:br>
            <a:br>
              <a:rPr lang="en-US" sz="1400"/>
            </a:br>
            <a:r>
              <a:rPr lang="en-US" sz="1400"/>
              <a:t>Touted as a fully end-to-end decentralised blockchain, Everscale (formerly known as </a:t>
            </a:r>
            <a:r>
              <a:rPr lang="en-US" sz="1400" b="1">
                <a:solidFill>
                  <a:srgbClr val="FF0000"/>
                </a:solidFill>
              </a:rPr>
              <a:t>Free TON</a:t>
            </a:r>
            <a:r>
              <a:rPr lang="en-US" sz="1400"/>
              <a:t>) is a self-governed blockchain that is based on the EVER OS platform.</a:t>
            </a:r>
          </a:p>
          <a:p>
            <a:endParaRPr lang="en-US" sz="1400"/>
          </a:p>
          <a:p>
            <a:pPr marL="285750" indent="-285750">
              <a:buFont typeface="Arial" panose="020B0604020202020204" pitchFamily="34" charset="0"/>
              <a:buChar char="•"/>
            </a:pPr>
            <a:r>
              <a:rPr lang="en-US" sz="1400" b="1">
                <a:solidFill>
                  <a:srgbClr val="FF0000"/>
                </a:solidFill>
              </a:rPr>
              <a:t>FlatQube (QUBE)</a:t>
            </a:r>
            <a:r>
              <a:rPr lang="en-US" sz="1400"/>
              <a:t> - </a:t>
            </a:r>
            <a:r>
              <a:rPr lang="en-US" sz="1400" b="1">
                <a:solidFill>
                  <a:srgbClr val="FF0000"/>
                </a:solidFill>
              </a:rPr>
              <a:t>Everscale network's</a:t>
            </a:r>
            <a:r>
              <a:rPr lang="en-US" sz="1400"/>
              <a:t> native DEX</a:t>
            </a:r>
            <a:br>
              <a:rPr lang="en-US" sz="1400"/>
            </a:br>
            <a:r>
              <a:rPr lang="en-US" sz="1400"/>
              <a:t>(Decentralized EXchange)</a:t>
            </a:r>
          </a:p>
          <a:p>
            <a:pPr marL="285750" indent="-285750">
              <a:buFont typeface="Arial" panose="020B0604020202020204" pitchFamily="34" charset="0"/>
              <a:buChar char="•"/>
            </a:pPr>
            <a:r>
              <a:rPr lang="en-US" sz="1400" b="1">
                <a:solidFill>
                  <a:srgbClr val="FF0000"/>
                </a:solidFill>
              </a:rPr>
              <a:t>QUBE</a:t>
            </a:r>
            <a:r>
              <a:rPr lang="en-US" sz="1400"/>
              <a:t> – FlatCube's native coin</a:t>
            </a:r>
          </a:p>
          <a:p>
            <a:pPr marL="285750" indent="-285750">
              <a:buFont typeface="Arial" panose="020B0604020202020204" pitchFamily="34" charset="0"/>
              <a:buChar char="•"/>
            </a:pPr>
            <a:r>
              <a:rPr lang="en-US" sz="1400" b="1">
                <a:solidFill>
                  <a:srgbClr val="FF0000"/>
                </a:solidFill>
              </a:rPr>
              <a:t>Octus Bridge</a:t>
            </a:r>
            <a:r>
              <a:rPr lang="en-US" sz="1400"/>
              <a:t> (former known as </a:t>
            </a:r>
            <a:r>
              <a:rPr lang="en-US" sz="1400" b="1">
                <a:solidFill>
                  <a:srgbClr val="FF0000"/>
                </a:solidFill>
              </a:rPr>
              <a:t>TON Bridge</a:t>
            </a:r>
            <a:r>
              <a:rPr lang="en-US" sz="1400"/>
              <a:t>) - enables users to transact between blockchain networks with bi-directional transactions. </a:t>
            </a:r>
          </a:p>
          <a:p>
            <a:endParaRPr lang="en-US" sz="1400"/>
          </a:p>
          <a:p>
            <a:r>
              <a:rPr lang="en-US" sz="1400" b="1">
                <a:solidFill>
                  <a:srgbClr val="00B050"/>
                </a:solidFill>
              </a:rPr>
              <a:t>Benefits</a:t>
            </a:r>
          </a:p>
          <a:p>
            <a:pPr marL="285750" indent="-285750">
              <a:buFont typeface="Arial" panose="020B0604020202020204" pitchFamily="34" charset="0"/>
              <a:buChar char="•"/>
            </a:pPr>
            <a:r>
              <a:rPr lang="en-US" sz="1400"/>
              <a:t>infinite scaling capabilities</a:t>
            </a:r>
          </a:p>
          <a:p>
            <a:pPr marL="285750" indent="-285750">
              <a:buFont typeface="Arial" panose="020B0604020202020204" pitchFamily="34" charset="0"/>
              <a:buChar char="•"/>
            </a:pPr>
            <a:r>
              <a:rPr lang="en-US" sz="1400"/>
              <a:t>fast exchange/swaps between networks</a:t>
            </a:r>
          </a:p>
          <a:p>
            <a:pPr marL="285750" indent="-285750">
              <a:buFont typeface="Arial" panose="020B0604020202020204" pitchFamily="34" charset="0"/>
              <a:buChar char="•"/>
            </a:pPr>
            <a:r>
              <a:rPr lang="en-US" sz="1400"/>
              <a:t>a second layer solution allowing </a:t>
            </a:r>
            <a:r>
              <a:rPr lang="en-US" sz="1400">
                <a:solidFill>
                  <a:srgbClr val="00B050"/>
                </a:solidFill>
              </a:rPr>
              <a:t>super cheap and fast microtransactions.</a:t>
            </a:r>
            <a:endParaRPr lang="en-US" sz="1400"/>
          </a:p>
        </p:txBody>
      </p:sp>
    </p:spTree>
    <p:extLst>
      <p:ext uri="{BB962C8B-B14F-4D97-AF65-F5344CB8AC3E}">
        <p14:creationId xmlns:p14="http://schemas.microsoft.com/office/powerpoint/2010/main" val="195266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5DF907-7EBF-7549-8D3E-F5457C861D89}"/>
              </a:ext>
            </a:extLst>
          </p:cNvPr>
          <p:cNvSpPr txBox="1"/>
          <p:nvPr/>
        </p:nvSpPr>
        <p:spPr>
          <a:xfrm>
            <a:off x="89942" y="89942"/>
            <a:ext cx="2572235" cy="523220"/>
          </a:xfrm>
          <a:prstGeom prst="rect">
            <a:avLst/>
          </a:prstGeom>
          <a:noFill/>
        </p:spPr>
        <p:txBody>
          <a:bodyPr wrap="square" rtlCol="0">
            <a:spAutoFit/>
          </a:bodyPr>
          <a:lstStyle/>
          <a:p>
            <a:r>
              <a:rPr lang="en-US" sz="2800" b="1"/>
              <a:t>Tether / USDT</a:t>
            </a:r>
            <a:endParaRPr lang="en-US" sz="2800" b="1" i="1">
              <a:solidFill>
                <a:srgbClr val="000000"/>
              </a:solidFill>
              <a:latin typeface="Helvetica" pitchFamily="2" charset="0"/>
            </a:endParaRPr>
          </a:p>
        </p:txBody>
      </p:sp>
      <p:sp>
        <p:nvSpPr>
          <p:cNvPr id="3" name="TextBox 2">
            <a:extLst>
              <a:ext uri="{FF2B5EF4-FFF2-40B4-BE49-F238E27FC236}">
                <a16:creationId xmlns:a16="http://schemas.microsoft.com/office/drawing/2014/main" id="{9878BC53-76DB-5840-BF70-8CAA1E071491}"/>
              </a:ext>
            </a:extLst>
          </p:cNvPr>
          <p:cNvSpPr txBox="1"/>
          <p:nvPr/>
        </p:nvSpPr>
        <p:spPr>
          <a:xfrm>
            <a:off x="89941" y="613162"/>
            <a:ext cx="6415030" cy="5478423"/>
          </a:xfrm>
          <a:prstGeom prst="rect">
            <a:avLst/>
          </a:prstGeom>
          <a:solidFill>
            <a:schemeClr val="accent4">
              <a:lumMod val="20000"/>
              <a:lumOff val="80000"/>
            </a:schemeClr>
          </a:solidFill>
        </p:spPr>
        <p:txBody>
          <a:bodyPr wrap="square" rtlCol="0">
            <a:spAutoFit/>
          </a:bodyPr>
          <a:lstStyle/>
          <a:p>
            <a:pPr marL="380990" indent="-380990">
              <a:buFont typeface="Arial" panose="020B0604020202020204" pitchFamily="34" charset="0"/>
              <a:buChar char="•"/>
            </a:pPr>
            <a:r>
              <a:rPr lang="en-US" sz="1400">
                <a:hlinkClick r:id="rId2"/>
              </a:rPr>
              <a:t>https://tether.to</a:t>
            </a:r>
            <a:r>
              <a:rPr lang="en-US" sz="1400"/>
              <a:t> - </a:t>
            </a:r>
          </a:p>
          <a:p>
            <a:pPr marL="380990" indent="-380990">
              <a:buFont typeface="Arial" panose="020B0604020202020204" pitchFamily="34" charset="0"/>
              <a:buChar char="•"/>
            </a:pPr>
            <a:r>
              <a:rPr lang="en-US" sz="1400">
                <a:hlinkClick r:id="rId3"/>
              </a:rPr>
              <a:t>https://en.wikipedia.org/wiki/Tether_(cryptocurrency)</a:t>
            </a:r>
            <a:r>
              <a:rPr lang="en-US" sz="1400"/>
              <a:t> - </a:t>
            </a:r>
          </a:p>
          <a:p>
            <a:pPr marL="380990" indent="-380990">
              <a:buFont typeface="Arial" panose="020B0604020202020204" pitchFamily="34" charset="0"/>
              <a:buChar char="•"/>
            </a:pPr>
            <a:r>
              <a:rPr lang="en-US" sz="1400" b="1">
                <a:solidFill>
                  <a:srgbClr val="FF0000"/>
                </a:solidFill>
              </a:rPr>
              <a:t>Tether</a:t>
            </a:r>
            <a:r>
              <a:rPr lang="en-US" sz="1400"/>
              <a:t> is often called by its symbol </a:t>
            </a:r>
            <a:r>
              <a:rPr lang="en-US" sz="1400" b="1">
                <a:solidFill>
                  <a:srgbClr val="FF0000"/>
                </a:solidFill>
              </a:rPr>
              <a:t>USDT</a:t>
            </a:r>
            <a:endParaRPr lang="en-US" sz="1400"/>
          </a:p>
          <a:p>
            <a:pPr marL="380990" indent="-380990">
              <a:buFont typeface="Arial" panose="020B0604020202020204" pitchFamily="34" charset="0"/>
              <a:buChar char="•"/>
            </a:pPr>
            <a:r>
              <a:rPr lang="en-US" sz="1400" b="1">
                <a:solidFill>
                  <a:srgbClr val="FF0000"/>
                </a:solidFill>
              </a:rPr>
              <a:t>Tether</a:t>
            </a:r>
            <a:r>
              <a:rPr lang="en-US" sz="1400"/>
              <a:t> is a cryptocurrency that is hosted on the Ethereum and Bitcoin blockchains, and on other chains</a:t>
            </a:r>
          </a:p>
          <a:p>
            <a:pPr marL="380990" indent="-380990">
              <a:buFont typeface="Arial" panose="020B0604020202020204" pitchFamily="34" charset="0"/>
              <a:buChar char="•"/>
            </a:pPr>
            <a:r>
              <a:rPr lang="en-US" sz="1400" b="1">
                <a:solidFill>
                  <a:srgbClr val="FF0000"/>
                </a:solidFill>
              </a:rPr>
              <a:t>Tether</a:t>
            </a:r>
            <a:r>
              <a:rPr lang="en-US" sz="1400"/>
              <a:t> tokens are issued by the </a:t>
            </a:r>
            <a:r>
              <a:rPr lang="en-US" sz="1400" b="1">
                <a:solidFill>
                  <a:srgbClr val="00B0F0"/>
                </a:solidFill>
              </a:rPr>
              <a:t>Hong Kong</a:t>
            </a:r>
            <a:r>
              <a:rPr lang="en-US" sz="1400"/>
              <a:t> company </a:t>
            </a:r>
            <a:r>
              <a:rPr lang="en-US" sz="1400" b="1">
                <a:solidFill>
                  <a:srgbClr val="00B0F0"/>
                </a:solidFill>
              </a:rPr>
              <a:t>Tether Limited</a:t>
            </a:r>
            <a:r>
              <a:rPr lang="en-US" sz="1400"/>
              <a:t>, controlled by the owners of </a:t>
            </a:r>
            <a:r>
              <a:rPr lang="en-US" sz="1400" b="1">
                <a:solidFill>
                  <a:srgbClr val="00B0F0"/>
                </a:solidFill>
              </a:rPr>
              <a:t>Bitfinex</a:t>
            </a:r>
            <a:r>
              <a:rPr lang="en-US" sz="1400"/>
              <a:t> (Taipei,</a:t>
            </a:r>
            <a:r>
              <a:rPr lang="en-US" sz="1400" b="1">
                <a:solidFill>
                  <a:srgbClr val="00B0F0"/>
                </a:solidFill>
              </a:rPr>
              <a:t>Taiwan</a:t>
            </a:r>
            <a:r>
              <a:rPr lang="en-US" sz="1400"/>
              <a:t>; Paris,</a:t>
            </a:r>
            <a:r>
              <a:rPr lang="en-US" sz="1400" b="1">
                <a:solidFill>
                  <a:srgbClr val="00B0F0"/>
                </a:solidFill>
              </a:rPr>
              <a:t>France</a:t>
            </a:r>
            <a:r>
              <a:rPr lang="en-US" sz="1400"/>
              <a:t>)</a:t>
            </a:r>
            <a:br>
              <a:rPr lang="en-US" sz="1400"/>
            </a:br>
            <a:r>
              <a:rPr lang="en-US" sz="1400"/>
              <a:t> - </a:t>
            </a:r>
            <a:r>
              <a:rPr lang="en-US" sz="1400">
                <a:hlinkClick r:id="rId4"/>
              </a:rPr>
              <a:t>https://www.bitfinex.com</a:t>
            </a:r>
            <a:endParaRPr lang="en-US" sz="1400"/>
          </a:p>
          <a:p>
            <a:pPr marL="380990" indent="-380990">
              <a:buFont typeface="Arial" panose="020B0604020202020204" pitchFamily="34" charset="0"/>
              <a:buChar char="•"/>
            </a:pPr>
            <a:r>
              <a:rPr lang="en-US" sz="1400" b="1">
                <a:solidFill>
                  <a:srgbClr val="FF0000"/>
                </a:solidFill>
              </a:rPr>
              <a:t>Tether</a:t>
            </a:r>
            <a:r>
              <a:rPr lang="en-US" sz="1400"/>
              <a:t> is called a </a:t>
            </a:r>
            <a:r>
              <a:rPr lang="en-US" sz="1400" b="1">
                <a:solidFill>
                  <a:srgbClr val="FF0000"/>
                </a:solidFill>
              </a:rPr>
              <a:t>stablecoin</a:t>
            </a:r>
            <a:r>
              <a:rPr lang="en-US" sz="1400"/>
              <a:t> because it was originally designed to always be worth US $1.00 (and maintaining $1.00 in reserves for each tether issued)</a:t>
            </a:r>
          </a:p>
          <a:p>
            <a:pPr marL="380990" indent="-380990">
              <a:buFont typeface="Arial" panose="020B0604020202020204" pitchFamily="34" charset="0"/>
              <a:buChar char="•"/>
            </a:pPr>
            <a:r>
              <a:rPr lang="en-US" sz="1400"/>
              <a:t>The word "</a:t>
            </a:r>
            <a:r>
              <a:rPr lang="en-US" sz="1400" b="1">
                <a:solidFill>
                  <a:srgbClr val="FF0000"/>
                </a:solidFill>
              </a:rPr>
              <a:t>Tether</a:t>
            </a:r>
            <a:r>
              <a:rPr lang="en-US" sz="1400"/>
              <a:t>" means a line (as of rope or chain) by which something (an animal) is </a:t>
            </a:r>
            <a:r>
              <a:rPr lang="en-US" sz="1400">
                <a:solidFill>
                  <a:srgbClr val="00B050"/>
                </a:solidFill>
              </a:rPr>
              <a:t>attached/fastened to restrict its range of movement </a:t>
            </a:r>
            <a:endParaRPr lang="en-US" sz="1400"/>
          </a:p>
          <a:p>
            <a:pPr marL="380990" indent="-380990">
              <a:buFont typeface="Arial" panose="020B0604020202020204" pitchFamily="34" charset="0"/>
              <a:buChar char="•"/>
            </a:pPr>
            <a:r>
              <a:rPr lang="en-US" sz="1400"/>
              <a:t>Only 2.9% of Tether's reserves are held in cash</a:t>
            </a:r>
            <a:br>
              <a:rPr lang="en-US" sz="1400"/>
            </a:br>
            <a:r>
              <a:rPr lang="en-US" sz="1400"/>
              <a:t>Almost half is held in Tether-issued commercial paper (short-term debt)</a:t>
            </a:r>
          </a:p>
          <a:p>
            <a:pPr marL="380990" indent="-380990">
              <a:buFont typeface="Arial" panose="020B0604020202020204" pitchFamily="34" charset="0"/>
              <a:buChar char="•"/>
            </a:pPr>
            <a:r>
              <a:rPr lang="en-US" sz="1400"/>
              <a:t>Tether makes money from various fees, by issuing loans to other institutions, as well as through investments.</a:t>
            </a:r>
            <a:br>
              <a:rPr lang="en-US" sz="1400"/>
            </a:br>
            <a:r>
              <a:rPr lang="en-US" sz="1400"/>
              <a:t>Example: Tether loaned $1 billion to Celsius Network in October 2021. Celsius Network is supposed to pay Tether an interest rate of 5% to 6% per year. </a:t>
            </a:r>
          </a:p>
          <a:p>
            <a:pPr marL="380990" indent="-380990">
              <a:buFont typeface="Arial" panose="020B0604020202020204" pitchFamily="34" charset="0"/>
              <a:buChar char="•"/>
            </a:pPr>
            <a:r>
              <a:rPr lang="en-US" sz="1400"/>
              <a:t>Tether doesn't fully disclose the backing it uses and in reality Tether is not fully backed by US dollars. So if lots of people would want to withdraw their funds, there is no guarantee that they could. That could topple the crypto industry because:</a:t>
            </a:r>
            <a:br>
              <a:rPr lang="en-US" sz="1400"/>
            </a:br>
            <a:r>
              <a:rPr lang="en-US" sz="1400"/>
              <a:t>.. Popular cryptocurrency exchanges could collapse</a:t>
            </a:r>
            <a:br>
              <a:rPr lang="en-US" sz="1400"/>
            </a:br>
            <a:r>
              <a:rPr lang="en-US" sz="1400"/>
              <a:t>.. The bottom could fall out of the DeFi market</a:t>
            </a:r>
            <a:br>
              <a:rPr lang="en-US" sz="1400"/>
            </a:br>
            <a:r>
              <a:rPr lang="en-US" sz="1400"/>
              <a:t>.. Consumer confidence in cryptocurrencies could be destroyed</a:t>
            </a:r>
          </a:p>
        </p:txBody>
      </p:sp>
      <p:pic>
        <p:nvPicPr>
          <p:cNvPr id="9" name="Picture 8">
            <a:extLst>
              <a:ext uri="{FF2B5EF4-FFF2-40B4-BE49-F238E27FC236}">
                <a16:creationId xmlns:a16="http://schemas.microsoft.com/office/drawing/2014/main" id="{E272A16A-AC8A-FF4A-8C36-87810EF4B10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352735" y="244725"/>
            <a:ext cx="4601643" cy="1084403"/>
          </a:xfrm>
          <a:prstGeom prst="rect">
            <a:avLst/>
          </a:prstGeom>
        </p:spPr>
      </p:pic>
      <p:sp>
        <p:nvSpPr>
          <p:cNvPr id="4" name="TextBox 3">
            <a:extLst>
              <a:ext uri="{FF2B5EF4-FFF2-40B4-BE49-F238E27FC236}">
                <a16:creationId xmlns:a16="http://schemas.microsoft.com/office/drawing/2014/main" id="{DD24C0EE-5DFB-4342-4EF4-43E68A124293}"/>
              </a:ext>
            </a:extLst>
          </p:cNvPr>
          <p:cNvSpPr txBox="1"/>
          <p:nvPr/>
        </p:nvSpPr>
        <p:spPr>
          <a:xfrm>
            <a:off x="7141581" y="1685968"/>
            <a:ext cx="4812798" cy="1231106"/>
          </a:xfrm>
          <a:prstGeom prst="rect">
            <a:avLst/>
          </a:prstGeom>
          <a:noFill/>
        </p:spPr>
        <p:txBody>
          <a:bodyPr wrap="square" rtlCol="0">
            <a:spAutoFit/>
          </a:bodyPr>
          <a:lstStyle/>
          <a:p>
            <a:r>
              <a:rPr lang="en-US" b="1">
                <a:solidFill>
                  <a:srgbClr val="00B0F0"/>
                </a:solidFill>
              </a:rPr>
              <a:t>Could Stablecoins Topple the Crypto Industry?</a:t>
            </a:r>
          </a:p>
          <a:p>
            <a:endParaRPr lang="en-US" sz="1400"/>
          </a:p>
          <a:p>
            <a:r>
              <a:rPr lang="en-US" sz="1400">
                <a:hlinkClick r:id="rId6"/>
              </a:rPr>
              <a:t>https://www.fool.com/the-ascent/cryptocurrency/articles/could-stablecoins-topple-the-crypto-industry/</a:t>
            </a:r>
            <a:endParaRPr lang="en-US" sz="1400"/>
          </a:p>
        </p:txBody>
      </p:sp>
      <p:sp>
        <p:nvSpPr>
          <p:cNvPr id="5" name="TextBox 4">
            <a:extLst>
              <a:ext uri="{FF2B5EF4-FFF2-40B4-BE49-F238E27FC236}">
                <a16:creationId xmlns:a16="http://schemas.microsoft.com/office/drawing/2014/main" id="{1CAA6594-0A78-E3A1-0D30-4DFC8D3D7D8B}"/>
              </a:ext>
            </a:extLst>
          </p:cNvPr>
          <p:cNvSpPr txBox="1"/>
          <p:nvPr/>
        </p:nvSpPr>
        <p:spPr>
          <a:xfrm>
            <a:off x="7141581" y="3102015"/>
            <a:ext cx="4960478" cy="3539430"/>
          </a:xfrm>
          <a:prstGeom prst="rect">
            <a:avLst/>
          </a:prstGeom>
          <a:solidFill>
            <a:schemeClr val="accent4">
              <a:lumMod val="20000"/>
              <a:lumOff val="80000"/>
            </a:schemeClr>
          </a:solidFill>
        </p:spPr>
        <p:txBody>
          <a:bodyPr wrap="square" rtlCol="0">
            <a:spAutoFit/>
          </a:bodyPr>
          <a:lstStyle/>
          <a:p>
            <a:r>
              <a:rPr lang="en-US" sz="1400"/>
              <a:t>Tether is the biggest stablecoin on the market, but there are a growing number of alternatives. </a:t>
            </a:r>
          </a:p>
          <a:p>
            <a:endParaRPr lang="en-US" sz="1400"/>
          </a:p>
          <a:p>
            <a:r>
              <a:rPr lang="en-US" sz="1400"/>
              <a:t>For example, USD Coin (USDC): "Each USDC is backed by one dollar or asset with equivalent fair value, which is held in accounts with U.S. regulated financial institutions." As of July 2021, USDC held 9% of its funds in commercial paper and 61% in cash and government money market funds.</a:t>
            </a:r>
          </a:p>
          <a:p>
            <a:endParaRPr lang="en-US" sz="1400"/>
          </a:p>
          <a:p>
            <a:r>
              <a:rPr lang="en-US" sz="1400" b="1">
                <a:solidFill>
                  <a:srgbClr val="00B0F0"/>
                </a:solidFill>
              </a:rPr>
              <a:t>Cardano (ADA)</a:t>
            </a:r>
            <a:r>
              <a:rPr lang="en-US" sz="1400"/>
              <a:t> recently announced an algorithmic stablecoin </a:t>
            </a:r>
            <a:r>
              <a:rPr lang="en-US" sz="1400" b="1">
                <a:solidFill>
                  <a:srgbClr val="00B0F0"/>
                </a:solidFill>
              </a:rPr>
              <a:t>Djed</a:t>
            </a:r>
            <a:r>
              <a:rPr lang="en-US" sz="1400"/>
              <a:t>. This maintains its price with a pre-programmed algorithm that buys or sells assets as needed.</a:t>
            </a:r>
          </a:p>
          <a:p>
            <a:endParaRPr lang="en-US" sz="1400"/>
          </a:p>
          <a:p>
            <a:r>
              <a:rPr lang="en-US" sz="1400"/>
              <a:t>Regulation aside, the best thing that could happen is </a:t>
            </a:r>
          </a:p>
          <a:p>
            <a:r>
              <a:rPr lang="en-US" sz="1400"/>
              <a:t>that investors gradually move their funds </a:t>
            </a:r>
            <a:r>
              <a:rPr lang="en-US" sz="1400" b="1">
                <a:solidFill>
                  <a:srgbClr val="00B0F0"/>
                </a:solidFill>
              </a:rPr>
              <a:t>out of Tether </a:t>
            </a:r>
          </a:p>
          <a:p>
            <a:r>
              <a:rPr lang="en-US" sz="1400"/>
              <a:t>and into more transparent alternatives</a:t>
            </a:r>
          </a:p>
        </p:txBody>
      </p:sp>
    </p:spTree>
    <p:extLst>
      <p:ext uri="{BB962C8B-B14F-4D97-AF65-F5344CB8AC3E}">
        <p14:creationId xmlns:p14="http://schemas.microsoft.com/office/powerpoint/2010/main" val="2508513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321C53-B3CC-5997-2096-993D9A151F0D}"/>
              </a:ext>
            </a:extLst>
          </p:cNvPr>
          <p:cNvSpPr txBox="1"/>
          <p:nvPr/>
        </p:nvSpPr>
        <p:spPr>
          <a:xfrm>
            <a:off x="0" y="0"/>
            <a:ext cx="2754775" cy="523220"/>
          </a:xfrm>
          <a:prstGeom prst="rect">
            <a:avLst/>
          </a:prstGeom>
          <a:noFill/>
        </p:spPr>
        <p:txBody>
          <a:bodyPr wrap="square" rtlCol="0">
            <a:spAutoFit/>
          </a:bodyPr>
          <a:lstStyle/>
          <a:p>
            <a:r>
              <a:rPr lang="en-US" sz="2800" b="1"/>
              <a:t>USD Coin / USDC</a:t>
            </a:r>
            <a:endParaRPr lang="en-US" sz="2800" b="1" i="1">
              <a:solidFill>
                <a:srgbClr val="000000"/>
              </a:solidFill>
              <a:latin typeface="Helvetica" pitchFamily="2" charset="0"/>
            </a:endParaRPr>
          </a:p>
        </p:txBody>
      </p:sp>
      <p:sp>
        <p:nvSpPr>
          <p:cNvPr id="3" name="TextBox 2">
            <a:extLst>
              <a:ext uri="{FF2B5EF4-FFF2-40B4-BE49-F238E27FC236}">
                <a16:creationId xmlns:a16="http://schemas.microsoft.com/office/drawing/2014/main" id="{05D30595-0DDC-4320-9FA9-DEDC4942B1C8}"/>
              </a:ext>
            </a:extLst>
          </p:cNvPr>
          <p:cNvSpPr txBox="1"/>
          <p:nvPr/>
        </p:nvSpPr>
        <p:spPr>
          <a:xfrm>
            <a:off x="99431" y="573482"/>
            <a:ext cx="3402726" cy="954107"/>
          </a:xfrm>
          <a:prstGeom prst="rect">
            <a:avLst/>
          </a:prstGeom>
          <a:noFill/>
        </p:spPr>
        <p:txBody>
          <a:bodyPr wrap="none" rtlCol="0">
            <a:spAutoFit/>
          </a:bodyPr>
          <a:lstStyle/>
          <a:p>
            <a:pPr marL="285750" indent="-285750">
              <a:buFont typeface="Arial" panose="020B0604020202020204" pitchFamily="34" charset="0"/>
              <a:buChar char="•"/>
            </a:pPr>
            <a:r>
              <a:rPr lang="en-US" sz="1400">
                <a:hlinkClick r:id="rId2"/>
              </a:rPr>
              <a:t>https://en.wikipedia.org/wiki/USD_Coin</a:t>
            </a:r>
            <a:endParaRPr lang="en-US" sz="1400"/>
          </a:p>
          <a:p>
            <a:pPr marL="285750" indent="-285750">
              <a:buFont typeface="Arial" panose="020B0604020202020204" pitchFamily="34" charset="0"/>
              <a:buChar char="•"/>
            </a:pPr>
            <a:r>
              <a:rPr lang="en-US" sz="1400">
                <a:hlinkClick r:id="rId3"/>
              </a:rPr>
              <a:t>https://www.circle.com</a:t>
            </a:r>
            <a:endParaRPr lang="en-US" sz="1400"/>
          </a:p>
          <a:p>
            <a:pPr marL="285750" indent="-285750">
              <a:buFont typeface="Arial" panose="020B0604020202020204" pitchFamily="34" charset="0"/>
              <a:buChar char="•"/>
            </a:pPr>
            <a:r>
              <a:rPr lang="en-US" sz="1400">
                <a:hlinkClick r:id="rId4"/>
              </a:rPr>
              <a:t>https://www.bitmain.com</a:t>
            </a:r>
            <a:endParaRPr lang="en-US" sz="1400"/>
          </a:p>
          <a:p>
            <a:pPr marL="285750" indent="-285750">
              <a:buFont typeface="Arial" panose="020B0604020202020204" pitchFamily="34" charset="0"/>
              <a:buChar char="•"/>
            </a:pPr>
            <a:r>
              <a:rPr lang="en-US" sz="1400">
                <a:hlinkClick r:id="rId5"/>
              </a:rPr>
              <a:t>https://www.coinbase.com</a:t>
            </a:r>
            <a:endParaRPr lang="en-US" sz="1400"/>
          </a:p>
        </p:txBody>
      </p:sp>
      <p:sp>
        <p:nvSpPr>
          <p:cNvPr id="4" name="TextBox 3">
            <a:extLst>
              <a:ext uri="{FF2B5EF4-FFF2-40B4-BE49-F238E27FC236}">
                <a16:creationId xmlns:a16="http://schemas.microsoft.com/office/drawing/2014/main" id="{55E20264-0F01-533E-A85C-56FA0CF6D984}"/>
              </a:ext>
            </a:extLst>
          </p:cNvPr>
          <p:cNvSpPr txBox="1"/>
          <p:nvPr/>
        </p:nvSpPr>
        <p:spPr>
          <a:xfrm>
            <a:off x="99431" y="1527589"/>
            <a:ext cx="7674016" cy="5262979"/>
          </a:xfrm>
          <a:prstGeom prst="rect">
            <a:avLst/>
          </a:prstGeom>
          <a:solidFill>
            <a:schemeClr val="accent4">
              <a:lumMod val="20000"/>
              <a:lumOff val="80000"/>
            </a:schemeClr>
          </a:solidFill>
        </p:spPr>
        <p:txBody>
          <a:bodyPr wrap="square" rtlCol="0">
            <a:spAutoFit/>
          </a:bodyPr>
          <a:lstStyle/>
          <a:p>
            <a:pPr marL="285750" indent="-285750">
              <a:buFont typeface="Arial" panose="020B0604020202020204" pitchFamily="34" charset="0"/>
              <a:buChar char="•"/>
            </a:pPr>
            <a:r>
              <a:rPr lang="en-US" sz="1400" b="1">
                <a:solidFill>
                  <a:srgbClr val="00B0F0"/>
                </a:solidFill>
              </a:rPr>
              <a:t>USD Coin (USDC)</a:t>
            </a:r>
            <a:r>
              <a:rPr lang="en-US" sz="1400"/>
              <a:t> is a digital stablecoin that is pegged to the US dollar</a:t>
            </a:r>
          </a:p>
          <a:p>
            <a:pPr marL="285750" indent="-285750">
              <a:buFont typeface="Arial" panose="020B0604020202020204" pitchFamily="34" charset="0"/>
              <a:buChar char="•"/>
            </a:pPr>
            <a:r>
              <a:rPr lang="en-US" sz="1400" b="1">
                <a:solidFill>
                  <a:srgbClr val="00B0F0"/>
                </a:solidFill>
              </a:rPr>
              <a:t>USD Coin</a:t>
            </a:r>
            <a:r>
              <a:rPr lang="en-US" sz="1400"/>
              <a:t> is managed by a consortium called </a:t>
            </a:r>
            <a:r>
              <a:rPr lang="en-US" sz="1400" b="1">
                <a:solidFill>
                  <a:srgbClr val="00B0F0"/>
                </a:solidFill>
              </a:rPr>
              <a:t>Centre</a:t>
            </a:r>
            <a:r>
              <a:rPr lang="en-US" sz="1400"/>
              <a:t>, </a:t>
            </a:r>
          </a:p>
          <a:p>
            <a:pPr marL="285750" indent="-285750">
              <a:buFont typeface="Arial" panose="020B0604020202020204" pitchFamily="34" charset="0"/>
              <a:buChar char="•"/>
            </a:pPr>
            <a:r>
              <a:rPr lang="en-US" sz="1400"/>
              <a:t>which was founded by </a:t>
            </a:r>
            <a:r>
              <a:rPr lang="en-US" sz="1400" b="1">
                <a:solidFill>
                  <a:srgbClr val="00B0F0"/>
                </a:solidFill>
              </a:rPr>
              <a:t>Circle</a:t>
            </a:r>
            <a:r>
              <a:rPr lang="en-US" sz="1400"/>
              <a:t> </a:t>
            </a:r>
          </a:p>
          <a:p>
            <a:pPr marL="285750" indent="-285750">
              <a:buFont typeface="Arial" panose="020B0604020202020204" pitchFamily="34" charset="0"/>
              <a:buChar char="•"/>
            </a:pPr>
            <a:r>
              <a:rPr lang="en-US" sz="1400"/>
              <a:t>and includes members from the cryptocurrency exchange </a:t>
            </a:r>
            <a:r>
              <a:rPr lang="en-US" sz="1400" b="1">
                <a:solidFill>
                  <a:srgbClr val="00B0F0"/>
                </a:solidFill>
              </a:rPr>
              <a:t>Coinbase</a:t>
            </a:r>
          </a:p>
          <a:p>
            <a:pPr marL="285750" indent="-285750">
              <a:buFont typeface="Arial" panose="020B0604020202020204" pitchFamily="34" charset="0"/>
              <a:buChar char="•"/>
            </a:pPr>
            <a:r>
              <a:rPr lang="en-US" sz="1400"/>
              <a:t>and Bitcoin mining company </a:t>
            </a:r>
            <a:r>
              <a:rPr lang="en-US" sz="1400" b="1">
                <a:solidFill>
                  <a:srgbClr val="00B0F0"/>
                </a:solidFill>
              </a:rPr>
              <a:t>Bitmain</a:t>
            </a:r>
            <a:r>
              <a:rPr lang="en-US" sz="1400"/>
              <a:t> </a:t>
            </a:r>
          </a:p>
          <a:p>
            <a:pPr marL="285750" indent="-285750">
              <a:buFont typeface="Arial" panose="020B0604020202020204" pitchFamily="34" charset="0"/>
              <a:buChar char="•"/>
            </a:pPr>
            <a:r>
              <a:rPr lang="en-US" sz="1400"/>
              <a:t>USDC is issued by a private entity and should not be confused with a central bank digital currency</a:t>
            </a:r>
          </a:p>
          <a:p>
            <a:endParaRPr lang="en-US" sz="1400"/>
          </a:p>
          <a:p>
            <a:r>
              <a:rPr lang="en-US" sz="1400"/>
              <a:t>Circle claims that each USDC is backed by a dollar held in reserve, </a:t>
            </a:r>
          </a:p>
          <a:p>
            <a:r>
              <a:rPr lang="en-US" sz="1400"/>
              <a:t>or by other "approved investments", though these are not detailed</a:t>
            </a:r>
          </a:p>
          <a:p>
            <a:r>
              <a:rPr lang="en-US" sz="1400"/>
              <a:t>The wording on the Circle website changed from the previous "backed by US dollars" to "backed by fully reserved assets" by June 2021</a:t>
            </a:r>
          </a:p>
          <a:p>
            <a:endParaRPr lang="en-US" sz="1400"/>
          </a:p>
          <a:p>
            <a:r>
              <a:rPr lang="en-US" sz="1400"/>
              <a:t>The tokenization of the US Dollar into USD Coin happens in a three-step process:</a:t>
            </a:r>
          </a:p>
          <a:p>
            <a:pPr marL="171450" indent="-171450">
              <a:buFont typeface="Arial" panose="020B0604020202020204" pitchFamily="34" charset="0"/>
              <a:buChar char="•"/>
            </a:pPr>
            <a:r>
              <a:rPr lang="en-US" sz="1400"/>
              <a:t>A user sends US dollars to the coin issuer's bank account.</a:t>
            </a:r>
          </a:p>
          <a:p>
            <a:pPr marL="171450" indent="-171450">
              <a:buFont typeface="Arial" panose="020B0604020202020204" pitchFamily="34" charset="0"/>
              <a:buChar char="•"/>
            </a:pPr>
            <a:r>
              <a:rPr lang="en-US" sz="1400"/>
              <a:t>The issuer uses a USD Coin smart contract to create the equivalent amount of USD Coin.</a:t>
            </a:r>
          </a:p>
          <a:p>
            <a:pPr marL="171450" indent="-171450">
              <a:buFont typeface="Arial" panose="020B0604020202020204" pitchFamily="34" charset="0"/>
              <a:buChar char="•"/>
            </a:pPr>
            <a:r>
              <a:rPr lang="en-US" sz="1400"/>
              <a:t>The newly minted USD Coins are sent to the user and the substituted US dollars are held in a reserve.</a:t>
            </a:r>
          </a:p>
          <a:p>
            <a:pPr marL="171450" indent="-171450">
              <a:buFont typeface="Arial" panose="020B0604020202020204" pitchFamily="34" charset="0"/>
              <a:buChar char="•"/>
            </a:pPr>
            <a:r>
              <a:rPr lang="en-US" sz="1400"/>
              <a:t>The redemption of USD Coins for US Dollars follows the process listed above but in reverse.</a:t>
            </a:r>
          </a:p>
          <a:p>
            <a:endParaRPr lang="en-US" sz="1400"/>
          </a:p>
          <a:p>
            <a:r>
              <a:rPr lang="en-US" sz="1400"/>
              <a:t>USDC reserves are regularly attested (but not audited) by Grant Thornton, LLP,</a:t>
            </a:r>
          </a:p>
          <a:p>
            <a:r>
              <a:rPr lang="en-US" sz="1400"/>
              <a:t>and the monthly attestations can be found on the Centre Consortium's website</a:t>
            </a:r>
          </a:p>
          <a:p>
            <a:endParaRPr lang="en-US" sz="1400"/>
          </a:p>
          <a:p>
            <a:r>
              <a:rPr lang="en-US" sz="1400"/>
              <a:t>Although USDT is more widespread and adopted, </a:t>
            </a:r>
            <a:r>
              <a:rPr lang="en-US" sz="1400" b="1">
                <a:solidFill>
                  <a:srgbClr val="00B0F0"/>
                </a:solidFill>
              </a:rPr>
              <a:t>USDC is generally considered </a:t>
            </a:r>
          </a:p>
          <a:p>
            <a:r>
              <a:rPr lang="en-US" sz="1400" b="1">
                <a:solidFill>
                  <a:srgbClr val="00B0F0"/>
                </a:solidFill>
              </a:rPr>
              <a:t>the safest alternative amongst the centralized USD-pegged stable coins</a:t>
            </a:r>
            <a:r>
              <a:rPr lang="en-US" sz="1400"/>
              <a:t> </a:t>
            </a:r>
          </a:p>
          <a:p>
            <a:r>
              <a:rPr lang="en-US" sz="1400"/>
              <a:t>due to higher transparency, increased interoperability and improved legal framework</a:t>
            </a:r>
          </a:p>
        </p:txBody>
      </p:sp>
      <p:pic>
        <p:nvPicPr>
          <p:cNvPr id="5" name="Picture 4">
            <a:extLst>
              <a:ext uri="{FF2B5EF4-FFF2-40B4-BE49-F238E27FC236}">
                <a16:creationId xmlns:a16="http://schemas.microsoft.com/office/drawing/2014/main" id="{C49F9975-1A0C-B574-CF91-0F6EB33A7FC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407376" y="109984"/>
            <a:ext cx="3685193" cy="926997"/>
          </a:xfrm>
          <a:prstGeom prst="rect">
            <a:avLst/>
          </a:prstGeom>
        </p:spPr>
      </p:pic>
      <p:sp>
        <p:nvSpPr>
          <p:cNvPr id="6" name="TextBox 5">
            <a:extLst>
              <a:ext uri="{FF2B5EF4-FFF2-40B4-BE49-F238E27FC236}">
                <a16:creationId xmlns:a16="http://schemas.microsoft.com/office/drawing/2014/main" id="{F59AC9FF-58FA-E17D-5B9A-50793A90391C}"/>
              </a:ext>
            </a:extLst>
          </p:cNvPr>
          <p:cNvSpPr txBox="1"/>
          <p:nvPr/>
        </p:nvSpPr>
        <p:spPr>
          <a:xfrm>
            <a:off x="8142973" y="1577851"/>
            <a:ext cx="3782728" cy="2246769"/>
          </a:xfrm>
          <a:prstGeom prst="rect">
            <a:avLst/>
          </a:prstGeom>
          <a:solidFill>
            <a:schemeClr val="accent2">
              <a:lumMod val="20000"/>
              <a:lumOff val="80000"/>
            </a:schemeClr>
          </a:solidFill>
        </p:spPr>
        <p:txBody>
          <a:bodyPr wrap="square" rtlCol="0">
            <a:spAutoFit/>
          </a:bodyPr>
          <a:lstStyle/>
          <a:p>
            <a:r>
              <a:rPr lang="en-US" sz="1400"/>
              <a:t>Circle is the company that developed USDC in collaboration with Coinbase Global Inc. (NASDAQ: COIN). </a:t>
            </a:r>
          </a:p>
          <a:p>
            <a:endParaRPr lang="en-US" sz="1400"/>
          </a:p>
          <a:p>
            <a:r>
              <a:rPr lang="en-US" sz="1400"/>
              <a:t>In July 2021, Circle acknowledged that 61% of </a:t>
            </a:r>
            <a:r>
              <a:rPr lang="en-US" sz="1400" b="1">
                <a:solidFill>
                  <a:srgbClr val="FF0000"/>
                </a:solidFill>
              </a:rPr>
              <a:t>USDC reserves</a:t>
            </a:r>
            <a:r>
              <a:rPr lang="en-US" sz="1400"/>
              <a:t> were in cash or cash equivalents while the rest was invested in a variety of assets such as </a:t>
            </a:r>
            <a:r>
              <a:rPr lang="en-US" sz="1400" b="1">
                <a:solidFill>
                  <a:srgbClr val="00B050"/>
                </a:solidFill>
              </a:rPr>
              <a:t>Certificates of Deposit, corporate bonds, municipal bonds, U.S. Treasuries and commercial paper. </a:t>
            </a:r>
          </a:p>
        </p:txBody>
      </p:sp>
    </p:spTree>
    <p:extLst>
      <p:ext uri="{BB962C8B-B14F-4D97-AF65-F5344CB8AC3E}">
        <p14:creationId xmlns:p14="http://schemas.microsoft.com/office/powerpoint/2010/main" val="1933686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321C53-B3CC-5997-2096-993D9A151F0D}"/>
              </a:ext>
            </a:extLst>
          </p:cNvPr>
          <p:cNvSpPr txBox="1"/>
          <p:nvPr/>
        </p:nvSpPr>
        <p:spPr>
          <a:xfrm>
            <a:off x="0" y="0"/>
            <a:ext cx="3727048" cy="523220"/>
          </a:xfrm>
          <a:prstGeom prst="rect">
            <a:avLst/>
          </a:prstGeom>
          <a:noFill/>
        </p:spPr>
        <p:txBody>
          <a:bodyPr wrap="square" rtlCol="0">
            <a:spAutoFit/>
          </a:bodyPr>
          <a:lstStyle/>
          <a:p>
            <a:r>
              <a:rPr lang="en-US" sz="2800" b="1"/>
              <a:t>Binance USD / BUSD</a:t>
            </a:r>
            <a:endParaRPr lang="en-US" sz="2800" b="1" i="1">
              <a:solidFill>
                <a:srgbClr val="000000"/>
              </a:solidFill>
              <a:latin typeface="Helvetica" pitchFamily="2" charset="0"/>
            </a:endParaRPr>
          </a:p>
        </p:txBody>
      </p:sp>
      <p:sp>
        <p:nvSpPr>
          <p:cNvPr id="3" name="TextBox 2">
            <a:extLst>
              <a:ext uri="{FF2B5EF4-FFF2-40B4-BE49-F238E27FC236}">
                <a16:creationId xmlns:a16="http://schemas.microsoft.com/office/drawing/2014/main" id="{53637107-96D1-7118-D43C-2B79BC9B7805}"/>
              </a:ext>
            </a:extLst>
          </p:cNvPr>
          <p:cNvSpPr txBox="1"/>
          <p:nvPr/>
        </p:nvSpPr>
        <p:spPr>
          <a:xfrm>
            <a:off x="162045" y="659756"/>
            <a:ext cx="5266481" cy="738664"/>
          </a:xfrm>
          <a:prstGeom prst="rect">
            <a:avLst/>
          </a:prstGeom>
          <a:noFill/>
        </p:spPr>
        <p:txBody>
          <a:bodyPr wrap="square" rtlCol="0">
            <a:spAutoFit/>
          </a:bodyPr>
          <a:lstStyle/>
          <a:p>
            <a:pPr marL="285750" indent="-285750">
              <a:buFont typeface="Arial" panose="020B0604020202020204" pitchFamily="34" charset="0"/>
              <a:buChar char="•"/>
            </a:pPr>
            <a:r>
              <a:rPr lang="en-US" sz="1400">
                <a:hlinkClick r:id="rId2"/>
              </a:rPr>
              <a:t>https://www.binance.com/en/busd</a:t>
            </a:r>
            <a:endParaRPr lang="en-US" sz="1400"/>
          </a:p>
          <a:p>
            <a:pPr marL="285750" indent="-285750">
              <a:buFont typeface="Arial" panose="020B0604020202020204" pitchFamily="34" charset="0"/>
              <a:buChar char="•"/>
            </a:pPr>
            <a:r>
              <a:rPr lang="en-US" sz="1400">
                <a:hlinkClick r:id="rId3"/>
              </a:rPr>
              <a:t>https://paxos.com</a:t>
            </a:r>
            <a:r>
              <a:rPr lang="en-US" sz="1400"/>
              <a:t> - Paxos</a:t>
            </a:r>
          </a:p>
          <a:p>
            <a:pPr marL="285750" indent="-285750">
              <a:buFont typeface="Arial" panose="020B0604020202020204" pitchFamily="34" charset="0"/>
              <a:buChar char="•"/>
            </a:pPr>
            <a:r>
              <a:rPr lang="en-US" sz="1400">
                <a:hlinkClick r:id="rId4"/>
              </a:rPr>
              <a:t>https://en.wikipedia.org/wiki/Binance</a:t>
            </a:r>
            <a:endParaRPr lang="en-US" sz="1400"/>
          </a:p>
        </p:txBody>
      </p:sp>
      <p:sp>
        <p:nvSpPr>
          <p:cNvPr id="5" name="TextBox 4">
            <a:extLst>
              <a:ext uri="{FF2B5EF4-FFF2-40B4-BE49-F238E27FC236}">
                <a16:creationId xmlns:a16="http://schemas.microsoft.com/office/drawing/2014/main" id="{2B3C3E1E-A675-25A2-315C-EC65CEBD4134}"/>
              </a:ext>
            </a:extLst>
          </p:cNvPr>
          <p:cNvSpPr txBox="1"/>
          <p:nvPr/>
        </p:nvSpPr>
        <p:spPr>
          <a:xfrm>
            <a:off x="162044" y="1534956"/>
            <a:ext cx="5058137" cy="2893100"/>
          </a:xfrm>
          <a:prstGeom prst="rect">
            <a:avLst/>
          </a:prstGeom>
          <a:solidFill>
            <a:schemeClr val="accent4">
              <a:lumMod val="20000"/>
              <a:lumOff val="80000"/>
            </a:schemeClr>
          </a:solidFill>
        </p:spPr>
        <p:txBody>
          <a:bodyPr wrap="square" rtlCol="0">
            <a:spAutoFit/>
          </a:bodyPr>
          <a:lstStyle/>
          <a:p>
            <a:pPr marL="285750" indent="-285750">
              <a:buFont typeface="Arial" panose="020B0604020202020204" pitchFamily="34" charset="0"/>
              <a:buChar char="•"/>
            </a:pPr>
            <a:r>
              <a:rPr lang="en-US" sz="1400"/>
              <a:t>BUSD is a stablecoin founded by Paxos and Binance</a:t>
            </a:r>
          </a:p>
          <a:p>
            <a:pPr marL="285750" indent="-285750">
              <a:buFont typeface="Arial" panose="020B0604020202020204" pitchFamily="34" charset="0"/>
              <a:buChar char="•"/>
            </a:pPr>
            <a:r>
              <a:rPr lang="en-US" sz="1400"/>
              <a:t>1:1 USD-backed</a:t>
            </a:r>
          </a:p>
          <a:p>
            <a:pPr marL="285750" indent="-285750">
              <a:buFont typeface="Arial" panose="020B0604020202020204" pitchFamily="34" charset="0"/>
              <a:buChar char="•"/>
            </a:pPr>
            <a:r>
              <a:rPr lang="en-US" sz="1400"/>
              <a:t>BUSD is one of the few stablecoins that are compliant with the strict regulatory standards of NYDFS</a:t>
            </a:r>
            <a:br>
              <a:rPr lang="en-US" sz="1400"/>
            </a:br>
            <a:r>
              <a:rPr lang="en-US" sz="1400"/>
              <a:t>In addition, there are currently more than 36 exchanges and more than 20 wallets supporting BUSD, making it a reliable option for stablecoins</a:t>
            </a:r>
          </a:p>
          <a:p>
            <a:pPr marL="285750" indent="-285750">
              <a:buFont typeface="Arial" panose="020B0604020202020204" pitchFamily="34" charset="0"/>
              <a:buChar char="•"/>
            </a:pPr>
            <a:r>
              <a:rPr lang="en-US" sz="1400"/>
              <a:t>Purchase and redeem with Zero Fees. Binance and Paxos don’t charge a fee for the purchase or redemption of Binance USD (BUSD) However bank charges/wire fees may apply</a:t>
            </a:r>
          </a:p>
          <a:p>
            <a:pPr marL="285750" indent="-285750">
              <a:buFont typeface="Arial" panose="020B0604020202020204" pitchFamily="34" charset="0"/>
              <a:buChar char="•"/>
            </a:pPr>
            <a:r>
              <a:rPr lang="en-US" sz="1400"/>
              <a:t>Transfer globally, fast and low-cost. Supported on both ERC-20 and BEP-2; transfer your dollars anywhere in minutes, with low cost and on the blockchain.</a:t>
            </a:r>
          </a:p>
        </p:txBody>
      </p:sp>
      <p:pic>
        <p:nvPicPr>
          <p:cNvPr id="6" name="Picture 5">
            <a:extLst>
              <a:ext uri="{FF2B5EF4-FFF2-40B4-BE49-F238E27FC236}">
                <a16:creationId xmlns:a16="http://schemas.microsoft.com/office/drawing/2014/main" id="{420E0C10-82B8-632A-C1DB-B5B4631525B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340769" y="6952"/>
            <a:ext cx="2775031" cy="603013"/>
          </a:xfrm>
          <a:prstGeom prst="rect">
            <a:avLst/>
          </a:prstGeom>
        </p:spPr>
      </p:pic>
    </p:spTree>
    <p:extLst>
      <p:ext uri="{BB962C8B-B14F-4D97-AF65-F5344CB8AC3E}">
        <p14:creationId xmlns:p14="http://schemas.microsoft.com/office/powerpoint/2010/main" val="131089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5DF907-7EBF-7549-8D3E-F5457C861D89}"/>
              </a:ext>
            </a:extLst>
          </p:cNvPr>
          <p:cNvSpPr txBox="1"/>
          <p:nvPr/>
        </p:nvSpPr>
        <p:spPr>
          <a:xfrm>
            <a:off x="89942" y="89942"/>
            <a:ext cx="2572235" cy="523220"/>
          </a:xfrm>
          <a:prstGeom prst="rect">
            <a:avLst/>
          </a:prstGeom>
          <a:noFill/>
        </p:spPr>
        <p:txBody>
          <a:bodyPr wrap="square" rtlCol="0">
            <a:spAutoFit/>
          </a:bodyPr>
          <a:lstStyle/>
          <a:p>
            <a:r>
              <a:rPr lang="en-US" sz="2800" b="1"/>
              <a:t>Dai (DAI) </a:t>
            </a:r>
            <a:endParaRPr lang="en-US" sz="2800" b="1" i="1">
              <a:solidFill>
                <a:srgbClr val="000000"/>
              </a:solidFill>
              <a:latin typeface="Helvetica" pitchFamily="2" charset="0"/>
            </a:endParaRPr>
          </a:p>
        </p:txBody>
      </p:sp>
      <p:sp>
        <p:nvSpPr>
          <p:cNvPr id="3" name="TextBox 2">
            <a:extLst>
              <a:ext uri="{FF2B5EF4-FFF2-40B4-BE49-F238E27FC236}">
                <a16:creationId xmlns:a16="http://schemas.microsoft.com/office/drawing/2014/main" id="{9878BC53-76DB-5840-BF70-8CAA1E071491}"/>
              </a:ext>
            </a:extLst>
          </p:cNvPr>
          <p:cNvSpPr txBox="1"/>
          <p:nvPr/>
        </p:nvSpPr>
        <p:spPr>
          <a:xfrm>
            <a:off x="190293" y="1049373"/>
            <a:ext cx="5905707" cy="2031325"/>
          </a:xfrm>
          <a:prstGeom prst="rect">
            <a:avLst/>
          </a:prstGeom>
          <a:solidFill>
            <a:schemeClr val="accent4">
              <a:lumMod val="20000"/>
              <a:lumOff val="80000"/>
            </a:schemeClr>
          </a:solidFill>
        </p:spPr>
        <p:txBody>
          <a:bodyPr wrap="square" rtlCol="0">
            <a:spAutoFit/>
          </a:bodyPr>
          <a:lstStyle/>
          <a:p>
            <a:pPr marL="380990" indent="-380990">
              <a:buFont typeface="Arial" panose="020B0604020202020204" pitchFamily="34" charset="0"/>
              <a:buChar char="•"/>
            </a:pPr>
            <a:r>
              <a:rPr lang="en-US" sz="1400"/>
              <a:t>Dai is a stablecoin cryptocurrency on the Ethereum blockchain</a:t>
            </a:r>
          </a:p>
          <a:p>
            <a:pPr marL="380990" indent="-380990">
              <a:buFont typeface="Arial" panose="020B0604020202020204" pitchFamily="34" charset="0"/>
              <a:buChar char="•"/>
            </a:pPr>
            <a:r>
              <a:rPr lang="en-US" sz="1400"/>
              <a:t>aims to keep its value as close to one United States dollar as possible</a:t>
            </a:r>
          </a:p>
          <a:p>
            <a:pPr marL="380990" indent="-380990">
              <a:buFont typeface="Arial" panose="020B0604020202020204" pitchFamily="34" charset="0"/>
              <a:buChar char="•"/>
            </a:pPr>
            <a:r>
              <a:rPr lang="en-US" sz="1400"/>
              <a:t>through a system of smart contracts and the decentralized participants</a:t>
            </a:r>
          </a:p>
          <a:p>
            <a:pPr marL="380990" indent="-380990">
              <a:buFont typeface="Arial" panose="020B0604020202020204" pitchFamily="34" charset="0"/>
              <a:buChar char="•"/>
            </a:pPr>
            <a:r>
              <a:rPr lang="en-US" sz="1400"/>
              <a:t>Since 2017</a:t>
            </a:r>
          </a:p>
          <a:p>
            <a:pPr marL="380990" indent="-380990">
              <a:buFont typeface="Arial" panose="020B0604020202020204" pitchFamily="34" charset="0"/>
              <a:buChar char="•"/>
            </a:pPr>
            <a:r>
              <a:rPr lang="en-US" sz="1400"/>
              <a:t>Developer(s): Maker Foundation</a:t>
            </a:r>
            <a:br>
              <a:rPr lang="en-US" sz="1400"/>
            </a:br>
            <a:r>
              <a:rPr lang="en-US" sz="1400"/>
              <a:t>.. </a:t>
            </a:r>
            <a:r>
              <a:rPr lang="en-US" sz="1400">
                <a:hlinkClick r:id="rId2"/>
              </a:rPr>
              <a:t>https://github.com/makerdao</a:t>
            </a:r>
            <a:br>
              <a:rPr lang="en-US" sz="1400"/>
            </a:br>
            <a:r>
              <a:rPr lang="en-US" sz="1400"/>
              <a:t>.. </a:t>
            </a:r>
            <a:r>
              <a:rPr lang="en-US" sz="1400">
                <a:hlinkClick r:id="rId3"/>
              </a:rPr>
              <a:t>https://makerdao.com</a:t>
            </a:r>
            <a:endParaRPr lang="en-US" sz="1400"/>
          </a:p>
          <a:p>
            <a:pPr marL="380990" indent="-380990">
              <a:buFont typeface="Arial" panose="020B0604020202020204" pitchFamily="34" charset="0"/>
              <a:buChar char="•"/>
            </a:pPr>
            <a:r>
              <a:rPr lang="en-US" sz="1400"/>
              <a:t>Exchange rate: $1.00 USD</a:t>
            </a:r>
          </a:p>
          <a:p>
            <a:pPr marL="380990" indent="-380990">
              <a:buFont typeface="Arial" panose="020B0604020202020204" pitchFamily="34" charset="0"/>
              <a:buChar char="•"/>
            </a:pPr>
            <a:r>
              <a:rPr lang="en-US" sz="1400"/>
              <a:t>License: AGPL v3.0 (part of GNU GPL family)</a:t>
            </a:r>
          </a:p>
        </p:txBody>
      </p:sp>
      <p:pic>
        <p:nvPicPr>
          <p:cNvPr id="4" name="Picture 3">
            <a:extLst>
              <a:ext uri="{FF2B5EF4-FFF2-40B4-BE49-F238E27FC236}">
                <a16:creationId xmlns:a16="http://schemas.microsoft.com/office/drawing/2014/main" id="{797FD6B1-DDE3-92A0-4E7C-EC0E018F741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380958" y="306101"/>
            <a:ext cx="3378200" cy="1231900"/>
          </a:xfrm>
          <a:prstGeom prst="rect">
            <a:avLst/>
          </a:prstGeom>
        </p:spPr>
      </p:pic>
      <p:sp>
        <p:nvSpPr>
          <p:cNvPr id="5" name="TextBox 4">
            <a:extLst>
              <a:ext uri="{FF2B5EF4-FFF2-40B4-BE49-F238E27FC236}">
                <a16:creationId xmlns:a16="http://schemas.microsoft.com/office/drawing/2014/main" id="{D068A124-80B6-D0DB-722C-26CECC062B85}"/>
              </a:ext>
            </a:extLst>
          </p:cNvPr>
          <p:cNvSpPr txBox="1"/>
          <p:nvPr/>
        </p:nvSpPr>
        <p:spPr>
          <a:xfrm>
            <a:off x="5996539" y="3657600"/>
            <a:ext cx="3513221" cy="369332"/>
          </a:xfrm>
          <a:prstGeom prst="rect">
            <a:avLst/>
          </a:prstGeom>
          <a:noFill/>
        </p:spPr>
        <p:txBody>
          <a:bodyPr wrap="square" rtlCol="0">
            <a:spAutoFit/>
          </a:bodyPr>
          <a:lstStyle/>
          <a:p>
            <a:r>
              <a:rPr lang="en-US">
                <a:solidFill>
                  <a:srgbClr val="FF0000"/>
                </a:solidFill>
              </a:rPr>
              <a:t>Why DAI is called DAI ??</a:t>
            </a:r>
          </a:p>
        </p:txBody>
      </p:sp>
    </p:spTree>
    <p:extLst>
      <p:ext uri="{BB962C8B-B14F-4D97-AF65-F5344CB8AC3E}">
        <p14:creationId xmlns:p14="http://schemas.microsoft.com/office/powerpoint/2010/main" val="4319256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2334</TotalTime>
  <Words>2932</Words>
  <Application>Microsoft Macintosh PowerPoint</Application>
  <PresentationFormat>Widescreen</PresentationFormat>
  <Paragraphs>241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197</cp:revision>
  <dcterms:modified xsi:type="dcterms:W3CDTF">2022-05-08T05:19:41Z</dcterms:modified>
</cp:coreProperties>
</file>