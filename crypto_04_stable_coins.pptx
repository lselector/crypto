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22"/>
  </p:notesMasterIdLst>
  <p:sldIdLst>
    <p:sldId id="320" r:id="rId2"/>
    <p:sldId id="316" r:id="rId3"/>
    <p:sldId id="274" r:id="rId4"/>
    <p:sldId id="319" r:id="rId5"/>
    <p:sldId id="326" r:id="rId6"/>
    <p:sldId id="318" r:id="rId7"/>
    <p:sldId id="309" r:id="rId8"/>
    <p:sldId id="310" r:id="rId9"/>
    <p:sldId id="311" r:id="rId10"/>
    <p:sldId id="312" r:id="rId11"/>
    <p:sldId id="307" r:id="rId12"/>
    <p:sldId id="321" r:id="rId13"/>
    <p:sldId id="313" r:id="rId14"/>
    <p:sldId id="314" r:id="rId15"/>
    <p:sldId id="308" r:id="rId16"/>
    <p:sldId id="315" r:id="rId17"/>
    <p:sldId id="322" r:id="rId18"/>
    <p:sldId id="323" r:id="rId19"/>
    <p:sldId id="324" r:id="rId20"/>
    <p:sldId id="32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72"/>
    <p:restoredTop sz="92354"/>
  </p:normalViewPr>
  <p:slideViewPr>
    <p:cSldViewPr snapToGrid="0" snapToObjects="1">
      <p:cViewPr varScale="1">
        <p:scale>
          <a:sx n="135" d="100"/>
          <a:sy n="135" d="100"/>
        </p:scale>
        <p:origin x="26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5/13/22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5/13/22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5/13/22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5/13/22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5/13/22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5/13/22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5/13/22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5/13/22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5/13/22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statista.com/statistics/1255835/stablecoin-market-capitalization/" TargetMode="External"/><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ww.cbinsights.com/research/report/what-are-stablecoins/"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 Id="rId5" Type="http://schemas.openxmlformats.org/officeDocument/2006/relationships/hyperlink" Target="https://www.benzinga.com/money/how-do-stablecoins-make-money/" TargetMode="External"/><Relationship Id="rId4" Type="http://schemas.openxmlformats.org/officeDocument/2006/relationships/hyperlink" Target="https://cointelegraph.com/explained/how-stablecoins-stay-stable-explained"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paxos.com/" TargetMode="External"/><Relationship Id="rId7" Type="http://schemas.openxmlformats.org/officeDocument/2006/relationships/hyperlink" Target="https://www.binance.us/" TargetMode="External"/><Relationship Id="rId2" Type="http://schemas.openxmlformats.org/officeDocument/2006/relationships/hyperlink" Target="https://paxos.com/2021/07/21/a-regulated-stablecoin-means-having-a-regulator/" TargetMode="External"/><Relationship Id="rId1" Type="http://schemas.openxmlformats.org/officeDocument/2006/relationships/slideLayout" Target="../slideLayouts/slideLayout7.xml"/><Relationship Id="rId6" Type="http://schemas.openxmlformats.org/officeDocument/2006/relationships/hyperlink" Target="https://www.gemini.com/"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www.weforum.org/agenda/2022/03/where-is-cryptocurrency-regulation-heading/"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9.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10.png"/><Relationship Id="rId4" Type="http://schemas.openxmlformats.org/officeDocument/2006/relationships/hyperlink" Target="https://www.bitfinex.com/"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hyperlink" Target="https://en.wikipedia.org/wiki/Binance"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diem/diem" TargetMode="External"/><Relationship Id="rId2" Type="http://schemas.openxmlformats.org/officeDocument/2006/relationships/hyperlink" Target="https://en.wikipedia.org/wiki/Diem_(digital_currency)" TargetMode="Externa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hyperlink" Target="https://www.kraken.com/en-us/learn/what-is-waves" TargetMode="External"/><Relationship Id="rId2" Type="http://schemas.openxmlformats.org/officeDocument/2006/relationships/hyperlink" Target="https://waves.exchange/" TargetMode="Externa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115338-0946-0876-FFF5-B5F8BA015CAB}"/>
              </a:ext>
            </a:extLst>
          </p:cNvPr>
          <p:cNvSpPr txBox="1"/>
          <p:nvPr/>
        </p:nvSpPr>
        <p:spPr>
          <a:xfrm>
            <a:off x="3343175" y="201637"/>
            <a:ext cx="5505650" cy="1015663"/>
          </a:xfrm>
          <a:prstGeom prst="rect">
            <a:avLst/>
          </a:prstGeom>
          <a:noFill/>
        </p:spPr>
        <p:txBody>
          <a:bodyPr wrap="square" rtlCol="0">
            <a:spAutoFit/>
          </a:bodyPr>
          <a:lstStyle/>
          <a:p>
            <a:pPr algn="ctr"/>
            <a:r>
              <a:rPr lang="en-US" sz="6000" b="1">
                <a:solidFill>
                  <a:srgbClr val="00B050"/>
                </a:solidFill>
              </a:rPr>
              <a:t>Stablecoins</a:t>
            </a:r>
          </a:p>
        </p:txBody>
      </p:sp>
      <p:sp>
        <p:nvSpPr>
          <p:cNvPr id="3" name="TextBox 2">
            <a:extLst>
              <a:ext uri="{FF2B5EF4-FFF2-40B4-BE49-F238E27FC236}">
                <a16:creationId xmlns:a16="http://schemas.microsoft.com/office/drawing/2014/main" id="{20A65F56-6BB0-C16B-C56D-D4835F4EF12F}"/>
              </a:ext>
            </a:extLst>
          </p:cNvPr>
          <p:cNvSpPr txBox="1"/>
          <p:nvPr/>
        </p:nvSpPr>
        <p:spPr>
          <a:xfrm>
            <a:off x="1289538" y="1331828"/>
            <a:ext cx="9624647" cy="4770537"/>
          </a:xfrm>
          <a:prstGeom prst="rect">
            <a:avLst/>
          </a:prstGeom>
          <a:noFill/>
        </p:spPr>
        <p:txBody>
          <a:bodyPr wrap="square" rtlCol="0">
            <a:spAutoFit/>
          </a:bodyPr>
          <a:lstStyle/>
          <a:p>
            <a:r>
              <a:rPr lang="en-US" sz="1600" b="1">
                <a:solidFill>
                  <a:srgbClr val="00B050"/>
                </a:solidFill>
              </a:rPr>
              <a:t>Stablecoins</a:t>
            </a:r>
            <a:r>
              <a:rPr lang="en-US" sz="1600"/>
              <a:t> are cryptocurrencies that attempt to keep their price close to $1 USD (or some other external value). </a:t>
            </a:r>
          </a:p>
          <a:p>
            <a:pPr marL="285750" indent="-285750">
              <a:buFont typeface="Arial" panose="020B0604020202020204" pitchFamily="34" charset="0"/>
              <a:buChar char="•"/>
            </a:pPr>
            <a:r>
              <a:rPr lang="en-US" sz="1600" b="1">
                <a:solidFill>
                  <a:srgbClr val="00B050"/>
                </a:solidFill>
              </a:rPr>
              <a:t>Stablecoins</a:t>
            </a:r>
            <a:r>
              <a:rPr lang="en-US" sz="1600"/>
              <a:t> are more convenient for contractual payments (less volatile than Bitcoin and other crypto). </a:t>
            </a:r>
          </a:p>
          <a:p>
            <a:pPr marL="285750" indent="-285750">
              <a:buFont typeface="Arial" panose="020B0604020202020204" pitchFamily="34" charset="0"/>
              <a:buChar char="•"/>
            </a:pPr>
            <a:r>
              <a:rPr lang="en-US" sz="1600" b="1">
                <a:solidFill>
                  <a:srgbClr val="00B050"/>
                </a:solidFill>
              </a:rPr>
              <a:t>Stablecoins</a:t>
            </a:r>
            <a:r>
              <a:rPr lang="en-US" sz="1600"/>
              <a:t> help to do fast international payments. A person in India could receive USD-backed stablecoins without converting them into rupees and losing a percentage to fees.</a:t>
            </a:r>
          </a:p>
          <a:p>
            <a:pPr marL="285750" indent="-285750">
              <a:buFont typeface="Arial" panose="020B0604020202020204" pitchFamily="34" charset="0"/>
              <a:buChar char="•"/>
            </a:pPr>
            <a:r>
              <a:rPr lang="en-US" sz="1600" b="1">
                <a:solidFill>
                  <a:srgbClr val="00B050"/>
                </a:solidFill>
              </a:rPr>
              <a:t>Stablecoins</a:t>
            </a:r>
            <a:r>
              <a:rPr lang="en-US" sz="1600"/>
              <a:t> payments and transfers can be automated using smart contracts</a:t>
            </a:r>
          </a:p>
          <a:p>
            <a:pPr marL="285750" indent="-285750">
              <a:buFont typeface="Arial" panose="020B0604020202020204" pitchFamily="34" charset="0"/>
              <a:buChar char="•"/>
            </a:pPr>
            <a:r>
              <a:rPr lang="en-US" sz="1600"/>
              <a:t>Few crypto exchanges currently support fiat currencies due to strict regulations. </a:t>
            </a:r>
            <a:br>
              <a:rPr lang="en-US" sz="1600"/>
            </a:br>
            <a:r>
              <a:rPr lang="en-US" sz="1600"/>
              <a:t>But </a:t>
            </a:r>
            <a:r>
              <a:rPr lang="en-US" sz="1600" b="1">
                <a:solidFill>
                  <a:srgbClr val="00B050"/>
                </a:solidFill>
              </a:rPr>
              <a:t>stablecoins</a:t>
            </a:r>
            <a:r>
              <a:rPr lang="en-US" sz="1600"/>
              <a:t> can be used on all crypto exchanges (instead of fiat currencies)</a:t>
            </a:r>
          </a:p>
          <a:p>
            <a:pPr marL="285750" indent="-285750">
              <a:buFont typeface="Arial" panose="020B0604020202020204" pitchFamily="34" charset="0"/>
              <a:buChar char="•"/>
            </a:pPr>
            <a:r>
              <a:rPr lang="en-US" sz="1600"/>
              <a:t>Also crypto holders can easily and cheaply convert their bitcoin into </a:t>
            </a:r>
            <a:r>
              <a:rPr lang="en-US" sz="1600" b="1">
                <a:solidFill>
                  <a:srgbClr val="00B050"/>
                </a:solidFill>
              </a:rPr>
              <a:t>stablecoins</a:t>
            </a:r>
            <a:r>
              <a:rPr lang="en-US" sz="1600"/>
              <a:t> for safety </a:t>
            </a:r>
            <a:br>
              <a:rPr lang="en-US" sz="1600"/>
            </a:br>
            <a:r>
              <a:rPr lang="en-US" sz="1600"/>
              <a:t>(if Bitcoin price begin to drop rapidly)</a:t>
            </a:r>
          </a:p>
          <a:p>
            <a:pPr marL="285750" indent="-285750">
              <a:buFont typeface="Arial" panose="020B0604020202020204" pitchFamily="34" charset="0"/>
              <a:buChar char="•"/>
            </a:pPr>
            <a:r>
              <a:rPr lang="en-US" sz="1600" b="1">
                <a:solidFill>
                  <a:srgbClr val="00B050"/>
                </a:solidFill>
              </a:rPr>
              <a:t>Stablecoins</a:t>
            </a:r>
            <a:r>
              <a:rPr lang="en-US" sz="1600"/>
              <a:t> can be used as a fast and cost-efficient way to send humanitarian aid to another country. </a:t>
            </a:r>
            <a:br>
              <a:rPr lang="en-US" sz="1600"/>
            </a:br>
            <a:r>
              <a:rPr lang="en-US" sz="1600" b="1">
                <a:solidFill>
                  <a:srgbClr val="00B050"/>
                </a:solidFill>
              </a:rPr>
              <a:t>Stablecoins</a:t>
            </a:r>
            <a:r>
              <a:rPr lang="en-US" sz="1600"/>
              <a:t> can also improve transparency and accountability in donations</a:t>
            </a:r>
          </a:p>
          <a:p>
            <a:endParaRPr lang="en-US" sz="1600"/>
          </a:p>
          <a:p>
            <a:r>
              <a:rPr lang="en-US" sz="1600" b="1">
                <a:solidFill>
                  <a:srgbClr val="00B050"/>
                </a:solidFill>
              </a:rPr>
              <a:t>How it works (example):</a:t>
            </a:r>
          </a:p>
          <a:p>
            <a:pPr marL="285750" indent="-285750">
              <a:buFont typeface="Arial" panose="020B0604020202020204" pitchFamily="34" charset="0"/>
              <a:buChar char="•"/>
            </a:pPr>
            <a:r>
              <a:rPr lang="en-US" sz="1600"/>
              <a:t>A user sends $1,000 US dollars to the coin issuer's bank account</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uses a smart contract to create crypto stablecoins and send them to the user</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keeps the dollars in reserve. </a:t>
            </a:r>
            <a:br>
              <a:rPr lang="en-US" sz="1600"/>
            </a:br>
            <a:r>
              <a:rPr lang="en-US" sz="1600"/>
              <a:t>In reality most </a:t>
            </a:r>
            <a:r>
              <a:rPr lang="en-US" sz="1600" b="1">
                <a:solidFill>
                  <a:srgbClr val="00B0F0"/>
                </a:solidFill>
              </a:rPr>
              <a:t>issuers</a:t>
            </a:r>
            <a:r>
              <a:rPr lang="en-US" sz="1600"/>
              <a:t> invest part of this money to make money for themselves</a:t>
            </a:r>
          </a:p>
          <a:p>
            <a:pPr marL="285750" indent="-285750">
              <a:buFont typeface="Arial" panose="020B0604020202020204" pitchFamily="34" charset="0"/>
              <a:buChar char="•"/>
            </a:pPr>
            <a:r>
              <a:rPr lang="en-US" sz="1600"/>
              <a:t>The user can redeem the coins for original amount of US dollars (minus small fee)</a:t>
            </a:r>
            <a:br>
              <a:rPr lang="en-US" sz="1600"/>
            </a:br>
            <a:r>
              <a:rPr lang="en-US" sz="1600"/>
              <a:t>of course only if (hopefully) the issuer haven't lost the money on speculations</a:t>
            </a:r>
          </a:p>
        </p:txBody>
      </p:sp>
    </p:spTree>
    <p:extLst>
      <p:ext uri="{BB962C8B-B14F-4D97-AF65-F5344CB8AC3E}">
        <p14:creationId xmlns:p14="http://schemas.microsoft.com/office/powerpoint/2010/main" val="350686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881476-DFB3-9EA2-ED8B-95DE2BF18270}"/>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482365" y="523220"/>
            <a:ext cx="5437789" cy="2653709"/>
          </a:xfrm>
          <a:prstGeom prst="rect">
            <a:avLst/>
          </a:prstGeom>
        </p:spPr>
      </p:pic>
      <p:sp>
        <p:nvSpPr>
          <p:cNvPr id="3" name="TextBox 2">
            <a:extLst>
              <a:ext uri="{FF2B5EF4-FFF2-40B4-BE49-F238E27FC236}">
                <a16:creationId xmlns:a16="http://schemas.microsoft.com/office/drawing/2014/main" id="{EC1ED24C-EEAD-31B9-C510-8FC905D9314A}"/>
              </a:ext>
            </a:extLst>
          </p:cNvPr>
          <p:cNvSpPr txBox="1"/>
          <p:nvPr/>
        </p:nvSpPr>
        <p:spPr>
          <a:xfrm>
            <a:off x="1" y="1"/>
            <a:ext cx="7045692" cy="523220"/>
          </a:xfrm>
          <a:prstGeom prst="rect">
            <a:avLst/>
          </a:prstGeom>
          <a:noFill/>
        </p:spPr>
        <p:txBody>
          <a:bodyPr wrap="square" rtlCol="0">
            <a:spAutoFit/>
          </a:bodyPr>
          <a:lstStyle/>
          <a:p>
            <a:r>
              <a:rPr lang="en-US" sz="2800" b="1"/>
              <a:t>Stablecoins Marketcap growth in 2021-2022</a:t>
            </a:r>
          </a:p>
        </p:txBody>
      </p:sp>
      <p:sp>
        <p:nvSpPr>
          <p:cNvPr id="4" name="TextBox 3">
            <a:extLst>
              <a:ext uri="{FF2B5EF4-FFF2-40B4-BE49-F238E27FC236}">
                <a16:creationId xmlns:a16="http://schemas.microsoft.com/office/drawing/2014/main" id="{C5A30EC2-DCF6-E3E0-85EC-B558AAD66EAD}"/>
              </a:ext>
            </a:extLst>
          </p:cNvPr>
          <p:cNvSpPr txBox="1"/>
          <p:nvPr/>
        </p:nvSpPr>
        <p:spPr>
          <a:xfrm>
            <a:off x="5984730" y="598384"/>
            <a:ext cx="2637322" cy="307777"/>
          </a:xfrm>
          <a:prstGeom prst="rect">
            <a:avLst/>
          </a:prstGeom>
          <a:noFill/>
        </p:spPr>
        <p:txBody>
          <a:bodyPr wrap="square" rtlCol="0">
            <a:spAutoFit/>
          </a:bodyPr>
          <a:lstStyle/>
          <a:p>
            <a:r>
              <a:rPr lang="en-US" sz="1400"/>
              <a:t>April 2022 – $182 Bln</a:t>
            </a:r>
          </a:p>
        </p:txBody>
      </p:sp>
      <p:sp>
        <p:nvSpPr>
          <p:cNvPr id="5" name="TextBox 4">
            <a:extLst>
              <a:ext uri="{FF2B5EF4-FFF2-40B4-BE49-F238E27FC236}">
                <a16:creationId xmlns:a16="http://schemas.microsoft.com/office/drawing/2014/main" id="{C310968D-79B0-D1C9-85B7-6802C6D5B5AE}"/>
              </a:ext>
            </a:extLst>
          </p:cNvPr>
          <p:cNvSpPr txBox="1"/>
          <p:nvPr/>
        </p:nvSpPr>
        <p:spPr>
          <a:xfrm>
            <a:off x="5962387" y="823151"/>
            <a:ext cx="4790239" cy="261610"/>
          </a:xfrm>
          <a:prstGeom prst="rect">
            <a:avLst/>
          </a:prstGeom>
          <a:noFill/>
        </p:spPr>
        <p:txBody>
          <a:bodyPr wrap="square" rtlCol="0">
            <a:spAutoFit/>
          </a:bodyPr>
          <a:lstStyle/>
          <a:p>
            <a:r>
              <a:rPr lang="en-US" sz="1100">
                <a:hlinkClick r:id="rId3"/>
              </a:rPr>
              <a:t>https://www.statista.com/statistics/1255835/stablecoin-market-capitalization/</a:t>
            </a:r>
            <a:endParaRPr lang="en-US" sz="1100"/>
          </a:p>
        </p:txBody>
      </p:sp>
      <p:sp>
        <p:nvSpPr>
          <p:cNvPr id="7" name="TextBox 6">
            <a:extLst>
              <a:ext uri="{FF2B5EF4-FFF2-40B4-BE49-F238E27FC236}">
                <a16:creationId xmlns:a16="http://schemas.microsoft.com/office/drawing/2014/main" id="{232B1655-CDBC-4638-EC2B-DB410ECFD39E}"/>
              </a:ext>
            </a:extLst>
          </p:cNvPr>
          <p:cNvSpPr txBox="1"/>
          <p:nvPr/>
        </p:nvSpPr>
        <p:spPr>
          <a:xfrm>
            <a:off x="3533444" y="5226076"/>
            <a:ext cx="1165893" cy="954107"/>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Investments</a:t>
            </a:r>
          </a:p>
          <a:p>
            <a:pPr algn="ctr"/>
            <a:r>
              <a:rPr lang="en-US" sz="1400"/>
              <a:t>earning interest</a:t>
            </a:r>
          </a:p>
          <a:p>
            <a:pPr algn="ctr"/>
            <a:r>
              <a:rPr lang="en-US" sz="1400"/>
              <a:t>for issuer</a:t>
            </a:r>
          </a:p>
        </p:txBody>
      </p:sp>
      <p:sp>
        <p:nvSpPr>
          <p:cNvPr id="8" name="TextBox 7">
            <a:extLst>
              <a:ext uri="{FF2B5EF4-FFF2-40B4-BE49-F238E27FC236}">
                <a16:creationId xmlns:a16="http://schemas.microsoft.com/office/drawing/2014/main" id="{49ED8CAF-1129-42E0-097D-EFC235C5A054}"/>
              </a:ext>
            </a:extLst>
          </p:cNvPr>
          <p:cNvSpPr txBox="1"/>
          <p:nvPr/>
        </p:nvSpPr>
        <p:spPr>
          <a:xfrm>
            <a:off x="5489029" y="4795189"/>
            <a:ext cx="991401"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Stablecoin issuer</a:t>
            </a:r>
          </a:p>
        </p:txBody>
      </p:sp>
      <p:sp>
        <p:nvSpPr>
          <p:cNvPr id="9" name="TextBox 8">
            <a:extLst>
              <a:ext uri="{FF2B5EF4-FFF2-40B4-BE49-F238E27FC236}">
                <a16:creationId xmlns:a16="http://schemas.microsoft.com/office/drawing/2014/main" id="{70DD035D-C290-5F0E-D848-AEA2C77ADA74}"/>
              </a:ext>
            </a:extLst>
          </p:cNvPr>
          <p:cNvSpPr txBox="1"/>
          <p:nvPr/>
        </p:nvSpPr>
        <p:spPr>
          <a:xfrm>
            <a:off x="3533444" y="4272121"/>
            <a:ext cx="1170899"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Collateral</a:t>
            </a:r>
          </a:p>
          <a:p>
            <a:pPr algn="ctr"/>
            <a:r>
              <a:rPr lang="en-US" sz="1400"/>
              <a:t>reserve</a:t>
            </a:r>
          </a:p>
        </p:txBody>
      </p:sp>
      <p:sp>
        <p:nvSpPr>
          <p:cNvPr id="10" name="Left-Right Arrow 9">
            <a:extLst>
              <a:ext uri="{FF2B5EF4-FFF2-40B4-BE49-F238E27FC236}">
                <a16:creationId xmlns:a16="http://schemas.microsoft.com/office/drawing/2014/main" id="{049BD8FE-5557-BE17-2303-4726A8B30501}"/>
              </a:ext>
            </a:extLst>
          </p:cNvPr>
          <p:cNvSpPr/>
          <p:nvPr/>
        </p:nvSpPr>
        <p:spPr>
          <a:xfrm rot="1922511">
            <a:off x="4784161" y="4666926"/>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Left-Right Arrow 10">
            <a:extLst>
              <a:ext uri="{FF2B5EF4-FFF2-40B4-BE49-F238E27FC236}">
                <a16:creationId xmlns:a16="http://schemas.microsoft.com/office/drawing/2014/main" id="{D08E5A63-F290-6C5F-1601-85C374ACA111}"/>
              </a:ext>
            </a:extLst>
          </p:cNvPr>
          <p:cNvSpPr/>
          <p:nvPr/>
        </p:nvSpPr>
        <p:spPr>
          <a:xfrm rot="19455993">
            <a:off x="4775127" y="5313258"/>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a:extLst>
              <a:ext uri="{FF2B5EF4-FFF2-40B4-BE49-F238E27FC236}">
                <a16:creationId xmlns:a16="http://schemas.microsoft.com/office/drawing/2014/main" id="{E4F0BB39-AF37-4347-ED92-CEDE85B8C282}"/>
              </a:ext>
            </a:extLst>
          </p:cNvPr>
          <p:cNvSpPr/>
          <p:nvPr/>
        </p:nvSpPr>
        <p:spPr>
          <a:xfrm>
            <a:off x="6525087" y="4975121"/>
            <a:ext cx="451723" cy="16335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EE84D0E-DEF5-6C6C-6BB8-386E4AC3BAB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21467" y="4340401"/>
            <a:ext cx="2014419" cy="1589855"/>
          </a:xfrm>
          <a:prstGeom prst="rect">
            <a:avLst/>
          </a:prstGeom>
        </p:spPr>
      </p:pic>
      <p:sp>
        <p:nvSpPr>
          <p:cNvPr id="14" name="TextBox 13">
            <a:extLst>
              <a:ext uri="{FF2B5EF4-FFF2-40B4-BE49-F238E27FC236}">
                <a16:creationId xmlns:a16="http://schemas.microsoft.com/office/drawing/2014/main" id="{B59E8B8B-5132-1EC7-32CA-9B44B94F21DB}"/>
              </a:ext>
            </a:extLst>
          </p:cNvPr>
          <p:cNvSpPr txBox="1"/>
          <p:nvPr/>
        </p:nvSpPr>
        <p:spPr>
          <a:xfrm>
            <a:off x="6468242" y="4512597"/>
            <a:ext cx="565411" cy="461665"/>
          </a:xfrm>
          <a:prstGeom prst="rect">
            <a:avLst/>
          </a:prstGeom>
          <a:noFill/>
        </p:spPr>
        <p:txBody>
          <a:bodyPr wrap="square" rtlCol="0">
            <a:spAutoFit/>
          </a:bodyPr>
          <a:lstStyle/>
          <a:p>
            <a:pPr algn="ctr"/>
            <a:r>
              <a:rPr lang="en-US" sz="1200"/>
              <a:t>Small Fee</a:t>
            </a:r>
          </a:p>
        </p:txBody>
      </p:sp>
      <p:sp>
        <p:nvSpPr>
          <p:cNvPr id="16" name="TextBox 15">
            <a:extLst>
              <a:ext uri="{FF2B5EF4-FFF2-40B4-BE49-F238E27FC236}">
                <a16:creationId xmlns:a16="http://schemas.microsoft.com/office/drawing/2014/main" id="{5C4365BB-BA63-2EA3-CE48-8B4120A2B954}"/>
              </a:ext>
            </a:extLst>
          </p:cNvPr>
          <p:cNvSpPr txBox="1"/>
          <p:nvPr/>
        </p:nvSpPr>
        <p:spPr>
          <a:xfrm>
            <a:off x="7178961" y="3964344"/>
            <a:ext cx="1709526" cy="307777"/>
          </a:xfrm>
          <a:prstGeom prst="rect">
            <a:avLst/>
          </a:prstGeom>
          <a:noFill/>
        </p:spPr>
        <p:txBody>
          <a:bodyPr wrap="square" rtlCol="0">
            <a:spAutoFit/>
          </a:bodyPr>
          <a:lstStyle/>
          <a:p>
            <a:pPr algn="ctr"/>
            <a:r>
              <a:rPr lang="en-US" sz="1400"/>
              <a:t>Crypto markets</a:t>
            </a:r>
          </a:p>
        </p:txBody>
      </p:sp>
      <p:sp>
        <p:nvSpPr>
          <p:cNvPr id="15" name="TextBox 14">
            <a:extLst>
              <a:ext uri="{FF2B5EF4-FFF2-40B4-BE49-F238E27FC236}">
                <a16:creationId xmlns:a16="http://schemas.microsoft.com/office/drawing/2014/main" id="{0718DC3C-DA7D-98BC-BF6A-54E9931F754C}"/>
              </a:ext>
            </a:extLst>
          </p:cNvPr>
          <p:cNvSpPr txBox="1"/>
          <p:nvPr/>
        </p:nvSpPr>
        <p:spPr>
          <a:xfrm>
            <a:off x="7031878" y="1539591"/>
            <a:ext cx="4092340" cy="1384995"/>
          </a:xfrm>
          <a:prstGeom prst="rect">
            <a:avLst/>
          </a:prstGeom>
          <a:noFill/>
        </p:spPr>
        <p:txBody>
          <a:bodyPr wrap="square" rtlCol="0">
            <a:spAutoFit/>
          </a:bodyPr>
          <a:lstStyle/>
          <a:p>
            <a:r>
              <a:rPr lang="en-US" sz="1400"/>
              <a:t>There are now more than 200 stablecoins globally.</a:t>
            </a:r>
          </a:p>
          <a:p>
            <a:r>
              <a:rPr lang="en-US" sz="1400"/>
              <a:t>Only three have been approved and regulated by the New York State Department of Financial Services:</a:t>
            </a:r>
          </a:p>
          <a:p>
            <a:pPr marL="285750" indent="-285750">
              <a:buFont typeface="Arial" panose="020B0604020202020204" pitchFamily="34" charset="0"/>
              <a:buChar char="•"/>
            </a:pPr>
            <a:r>
              <a:rPr lang="en-US" sz="1400"/>
              <a:t>Binance USD (BUSD)</a:t>
            </a:r>
          </a:p>
          <a:p>
            <a:pPr marL="285750" indent="-285750">
              <a:buFont typeface="Arial" panose="020B0604020202020204" pitchFamily="34" charset="0"/>
              <a:buChar char="•"/>
            </a:pPr>
            <a:r>
              <a:rPr lang="en-US" sz="1400"/>
              <a:t>Paxos Standard (PAX)</a:t>
            </a:r>
          </a:p>
          <a:p>
            <a:pPr marL="285750" indent="-285750">
              <a:buFont typeface="Arial" panose="020B0604020202020204" pitchFamily="34" charset="0"/>
              <a:buChar char="•"/>
            </a:pPr>
            <a:r>
              <a:rPr lang="en-US" sz="1400"/>
              <a:t>Gemini Dollar (GUSD)</a:t>
            </a:r>
          </a:p>
        </p:txBody>
      </p:sp>
    </p:spTree>
    <p:extLst>
      <p:ext uri="{BB962C8B-B14F-4D97-AF65-F5344CB8AC3E}">
        <p14:creationId xmlns:p14="http://schemas.microsoft.com/office/powerpoint/2010/main" val="3956524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Stablecoins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3525835093"/>
              </p:ext>
            </p:extLst>
          </p:nvPr>
        </p:nvGraphicFramePr>
        <p:xfrm>
          <a:off x="5966710" y="593962"/>
          <a:ext cx="6082417" cy="4095220"/>
        </p:xfrm>
        <a:graphic>
          <a:graphicData uri="http://schemas.openxmlformats.org/drawingml/2006/table">
            <a:tbl>
              <a:tblPr firstRow="1">
                <a:tableStyleId>{E8B1032C-EA38-4F05-BA0D-38AFFFC7BED3}</a:tableStyleId>
              </a:tblPr>
              <a:tblGrid>
                <a:gridCol w="1348490">
                  <a:extLst>
                    <a:ext uri="{9D8B030D-6E8A-4147-A177-3AD203B41FA5}">
                      <a16:colId xmlns:a16="http://schemas.microsoft.com/office/drawing/2014/main" val="2982074288"/>
                    </a:ext>
                  </a:extLst>
                </a:gridCol>
                <a:gridCol w="660400">
                  <a:extLst>
                    <a:ext uri="{9D8B030D-6E8A-4147-A177-3AD203B41FA5}">
                      <a16:colId xmlns:a16="http://schemas.microsoft.com/office/drawing/2014/main" val="1493870040"/>
                    </a:ext>
                  </a:extLst>
                </a:gridCol>
                <a:gridCol w="863600">
                  <a:extLst>
                    <a:ext uri="{9D8B030D-6E8A-4147-A177-3AD203B41FA5}">
                      <a16:colId xmlns:a16="http://schemas.microsoft.com/office/drawing/2014/main" val="1003406525"/>
                    </a:ext>
                  </a:extLst>
                </a:gridCol>
                <a:gridCol w="2400300">
                  <a:extLst>
                    <a:ext uri="{9D8B030D-6E8A-4147-A177-3AD203B41FA5}">
                      <a16:colId xmlns:a16="http://schemas.microsoft.com/office/drawing/2014/main" val="572861281"/>
                    </a:ext>
                  </a:extLst>
                </a:gridCol>
                <a:gridCol w="809627">
                  <a:extLst>
                    <a:ext uri="{9D8B030D-6E8A-4147-A177-3AD203B41FA5}">
                      <a16:colId xmlns:a16="http://schemas.microsoft.com/office/drawing/2014/main" val="3767544795"/>
                    </a:ext>
                  </a:extLst>
                </a:gridCol>
              </a:tblGrid>
              <a:tr h="363691">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Price 5/13/22</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31943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73</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u="none" strike="noStrike" kern="1200">
                        <a:solidFill>
                          <a:schemeClr val="tx1"/>
                        </a:solidFill>
                        <a:effectLst/>
                        <a:latin typeface="+mn-lt"/>
                        <a:ea typeface="+mn-ea"/>
                        <a:cs typeface="+mn-cs"/>
                      </a:endParaRPr>
                    </a:p>
                  </a:txBody>
                  <a:tcPr marL="12700" marR="12700" marT="12700" marB="0" anchor="ctr"/>
                </a:tc>
                <a:extLst>
                  <a:ext uri="{0D108BD9-81ED-4DB2-BD59-A6C34878D82A}">
                    <a16:rowId xmlns:a16="http://schemas.microsoft.com/office/drawing/2014/main" val="582522162"/>
                  </a:ext>
                </a:extLst>
              </a:tr>
              <a:tr h="47453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34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 Paxos</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txBody>
                  <a:tcPr marL="12700" marR="12700" marT="12700" marB="0" anchor="ctr"/>
                </a:tc>
                <a:extLst>
                  <a:ext uri="{0D108BD9-81ED-4DB2-BD59-A6C34878D82A}">
                    <a16:rowId xmlns:a16="http://schemas.microsoft.com/office/drawing/2014/main" val="2234970906"/>
                  </a:ext>
                </a:extLst>
              </a:tr>
              <a:tr h="319430">
                <a:tc>
                  <a:txBody>
                    <a:bodyPr/>
                    <a:lstStyle/>
                    <a:p>
                      <a:pPr algn="l" fontAlgn="b"/>
                      <a:r>
                        <a:rPr lang="en-US" sz="1400" b="1" u="none" strike="noStrike">
                          <a:solidFill>
                            <a:srgbClr val="00B050"/>
                          </a:solidFill>
                          <a:effectLst/>
                        </a:rPr>
                        <a:t>Binance USD / BUSD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14</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 Coinbase Pro (as ERC-20 token on the Ethereum</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u="none" strike="noStrike" kern="1200">
                        <a:solidFill>
                          <a:schemeClr val="tx1"/>
                        </a:solidFill>
                        <a:effectLst/>
                        <a:latin typeface="+mn-lt"/>
                        <a:ea typeface="+mn-ea"/>
                        <a:cs typeface="+mn-cs"/>
                      </a:endParaRPr>
                    </a:p>
                  </a:txBody>
                  <a:tcPr marL="12700" marR="12700" marT="12700" marB="0" anchor="ctr"/>
                </a:tc>
                <a:extLst>
                  <a:ext uri="{0D108BD9-81ED-4DB2-BD59-A6C34878D82A}">
                    <a16:rowId xmlns:a16="http://schemas.microsoft.com/office/drawing/2014/main" val="2204012459"/>
                  </a:ext>
                </a:extLst>
              </a:tr>
              <a:tr h="22157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221570">
                <a:tc>
                  <a:txBody>
                    <a:bodyPr/>
                    <a:lstStyle/>
                    <a:p>
                      <a:pPr algn="l" fontAlgn="b"/>
                      <a:r>
                        <a:rPr lang="en-US" sz="1400" u="none" strike="noStrike">
                          <a:solidFill>
                            <a:srgbClr val="00B0F0"/>
                          </a:solidFill>
                          <a:effectLst/>
                        </a:rPr>
                        <a:t>TerraUSD / UST</a:t>
                      </a:r>
                      <a:endParaRPr lang="en-US" sz="1400" b="0" i="1" u="none" strike="noStrike">
                        <a:solidFill>
                          <a:srgbClr val="00B0F0"/>
                        </a:solidFill>
                        <a:effectLst/>
                        <a:latin typeface="Helvetica" pitchFamily="2" charset="0"/>
                      </a:endParaRPr>
                    </a:p>
                  </a:txBody>
                  <a:tcPr marL="12700" marR="12700" marT="12700" marB="0" anchor="ctr"/>
                </a:tc>
                <a:tc>
                  <a:txBody>
                    <a:bodyPr/>
                    <a:lstStyle/>
                    <a:p>
                      <a:pPr algn="ctr" fontAlgn="b"/>
                      <a:r>
                        <a:rPr lang="en-US" sz="1400" b="0" i="1" u="none" strike="noStrike">
                          <a:solidFill>
                            <a:srgbClr val="00B0F0"/>
                          </a:solidFill>
                          <a:effectLst/>
                          <a:latin typeface="Helvetica" pitchFamily="2" charset="0"/>
                        </a:rPr>
                        <a:t>3</a:t>
                      </a:r>
                    </a:p>
                  </a:txBody>
                  <a:tcPr marL="12700" marR="12700" marT="12700" marB="0" anchor="ctr"/>
                </a:tc>
                <a:tc>
                  <a:txBody>
                    <a:bodyPr/>
                    <a:lstStyle/>
                    <a:p>
                      <a:pPr algn="l" fontAlgn="b"/>
                      <a:r>
                        <a:rPr lang="en-US" sz="1400" u="none" strike="noStrike">
                          <a:solidFill>
                            <a:srgbClr val="00B0F0"/>
                          </a:solidFill>
                          <a:effectLst/>
                        </a:rPr>
                        <a:t>Alternative</a:t>
                      </a:r>
                      <a:endParaRPr lang="en-US" sz="1400" b="0" i="1" u="none" strike="noStrike">
                        <a:solidFill>
                          <a:srgbClr val="00B0F0"/>
                        </a:solidFill>
                        <a:effectLst/>
                        <a:latin typeface="Helvetica" pitchFamily="2" charset="0"/>
                      </a:endParaRPr>
                    </a:p>
                  </a:txBody>
                  <a:tcPr marL="12700" marR="12700" marT="12700" marB="0" anchor="ctr"/>
                </a:tc>
                <a:tc>
                  <a:txBody>
                    <a:bodyPr/>
                    <a:lstStyle/>
                    <a:p>
                      <a:pPr algn="l" fontAlgn="b"/>
                      <a:r>
                        <a:rPr lang="en-US" sz="1400" u="none" strike="noStrike" kern="1200">
                          <a:solidFill>
                            <a:srgbClr val="00B0F0"/>
                          </a:solidFill>
                          <a:effectLst/>
                          <a:latin typeface="+mn-lt"/>
                          <a:ea typeface="+mn-ea"/>
                          <a:cs typeface="+mn-cs"/>
                        </a:rPr>
                        <a:t>Ethereum</a:t>
                      </a:r>
                    </a:p>
                  </a:txBody>
                  <a:tcPr marL="12700" marR="12700" marT="12700" marB="0" anchor="ctr"/>
                </a:tc>
                <a:tc>
                  <a:txBody>
                    <a:bodyPr/>
                    <a:lstStyle/>
                    <a:p>
                      <a:pPr algn="l" fontAlgn="b"/>
                      <a:r>
                        <a:rPr lang="en-US" sz="1400" u="none" strike="noStrike" kern="1200">
                          <a:solidFill>
                            <a:srgbClr val="00B0F0"/>
                          </a:solidFill>
                          <a:effectLst/>
                          <a:latin typeface="+mn-lt"/>
                          <a:ea typeface="+mn-ea"/>
                          <a:cs typeface="+mn-cs"/>
                        </a:rPr>
                        <a:t>0.16, Halted</a:t>
                      </a:r>
                    </a:p>
                  </a:txBody>
                  <a:tcPr marL="12700" marR="12700" marT="12700" marB="0" anchor="ctr"/>
                </a:tc>
                <a:extLst>
                  <a:ext uri="{0D108BD9-81ED-4DB2-BD59-A6C34878D82A}">
                    <a16:rowId xmlns:a16="http://schemas.microsoft.com/office/drawing/2014/main" val="3163262355"/>
                  </a:ext>
                </a:extLst>
              </a:tr>
              <a:tr h="47453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r h="474530">
                <a:tc>
                  <a:txBody>
                    <a:bodyPr/>
                    <a:lstStyle/>
                    <a:p>
                      <a:pPr algn="l" fontAlgn="b"/>
                      <a:r>
                        <a:rPr lang="en-US" sz="1400" b="1">
                          <a:solidFill>
                            <a:srgbClr val="00B050"/>
                          </a:solidFill>
                        </a:rPr>
                        <a:t>Paxos Standard / PAX</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0.99</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Paxos, coinbase, Binance, ...</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835084257"/>
                  </a:ext>
                </a:extLst>
              </a:tr>
              <a:tr h="474530">
                <a:tc>
                  <a:txBody>
                    <a:bodyPr/>
                    <a:lstStyle/>
                    <a:p>
                      <a:pPr algn="l" fontAlgn="b"/>
                      <a:r>
                        <a:rPr lang="en-US" sz="1400" b="1">
                          <a:solidFill>
                            <a:srgbClr val="00B050"/>
                          </a:solidFill>
                        </a:rPr>
                        <a:t>Gemini Dollar / GUSD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400" u="none" strike="noStrike">
                          <a:effectLst/>
                        </a:rPr>
                        <a:t>0.21</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25 exchanges and platforms</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txBody>
                  <a:tcPr marL="12700" marR="12700" marT="12700" marB="0" anchor="ctr"/>
                </a:tc>
                <a:extLst>
                  <a:ext uri="{0D108BD9-81ED-4DB2-BD59-A6C34878D82A}">
                    <a16:rowId xmlns:a16="http://schemas.microsoft.com/office/drawing/2014/main" val="3028082187"/>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142874" y="5634443"/>
            <a:ext cx="8365859" cy="954107"/>
          </a:xfrm>
          <a:prstGeom prst="rect">
            <a:avLst/>
          </a:prstGeom>
          <a:noFill/>
        </p:spPr>
        <p:txBody>
          <a:bodyPr wrap="square" rtlCol="0">
            <a:spAutoFit/>
          </a:bodyPr>
          <a:lstStyle/>
          <a:p>
            <a:pPr marL="285750" indent="-285750">
              <a:buFont typeface="Arial" panose="020B0604020202020204" pitchFamily="34" charset="0"/>
              <a:buChar char="•"/>
            </a:pPr>
            <a:r>
              <a:rPr lang="en-US" sz="1400"/>
              <a:t>What is Stablecoin</a:t>
            </a:r>
            <a:r>
              <a:rPr lang="en-US" sz="1200"/>
              <a:t> - </a:t>
            </a:r>
            <a:r>
              <a:rPr lang="en-US" sz="1200">
                <a:hlinkClick r:id="rId2"/>
              </a:rPr>
              <a:t>https://www.investopedia.com/terms/s/stablecoin.asp</a:t>
            </a:r>
            <a:r>
              <a:rPr lang="en-US" sz="1200"/>
              <a:t> </a:t>
            </a:r>
          </a:p>
          <a:p>
            <a:pPr marL="285750" indent="-285750">
              <a:buFont typeface="Arial" panose="020B0604020202020204" pitchFamily="34" charset="0"/>
              <a:buChar char="•"/>
            </a:pPr>
            <a:r>
              <a:rPr lang="en-US" sz="1400"/>
              <a:t>What Are Stablecoins</a:t>
            </a:r>
            <a:r>
              <a:rPr lang="en-US" sz="1200"/>
              <a:t> - </a:t>
            </a:r>
            <a:r>
              <a:rPr lang="en-US" sz="1200">
                <a:hlinkClick r:id="rId3"/>
              </a:rPr>
              <a:t>https://www.cbinsights.com/research/report/what-are-stablecoins/</a:t>
            </a:r>
            <a:endParaRPr lang="en-US" sz="1200"/>
          </a:p>
          <a:p>
            <a:pPr marL="285750" indent="-285750">
              <a:buFont typeface="Arial" panose="020B0604020202020204" pitchFamily="34" charset="0"/>
              <a:buChar char="•"/>
            </a:pPr>
            <a:r>
              <a:rPr lang="en-US" sz="1400"/>
              <a:t>How Stable Coins Stay Stable? </a:t>
            </a:r>
            <a:r>
              <a:rPr lang="en-US" sz="1200"/>
              <a:t>- </a:t>
            </a:r>
            <a:r>
              <a:rPr lang="en-US" sz="1200">
                <a:hlinkClick r:id="rId4"/>
              </a:rPr>
              <a:t>https://cointelegraph.com/explained/how-stablecoins-stay-stable-explained</a:t>
            </a:r>
            <a:endParaRPr lang="en-US" sz="1200"/>
          </a:p>
          <a:p>
            <a:pPr marL="285750" indent="-285750">
              <a:buFont typeface="Arial" panose="020B0604020202020204" pitchFamily="34" charset="0"/>
              <a:buChar char="•"/>
            </a:pPr>
            <a:r>
              <a:rPr lang="en-US" sz="1400"/>
              <a:t>How Do Stablecoins Make Money?</a:t>
            </a:r>
            <a:r>
              <a:rPr lang="en-US" sz="1200"/>
              <a:t> - </a:t>
            </a:r>
            <a:r>
              <a:rPr lang="en-US" sz="1200">
                <a:hlinkClick r:id="rId5"/>
              </a:rPr>
              <a:t>https://www.benzinga.com/money/how-do-stablecoins-make-money/</a:t>
            </a:r>
            <a:r>
              <a:rPr lang="en-US" sz="1200"/>
              <a:t>  cc</a:t>
            </a:r>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589081"/>
            <a:ext cx="5656042" cy="2246769"/>
          </a:xfrm>
          <a:prstGeom prst="rect">
            <a:avLst/>
          </a:prstGeom>
          <a:solidFill>
            <a:schemeClr val="accent2">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that attempt to peg their market value to something external like a currency (USD), or commodity's price (gold), etc. while maintaining the security, speed, and low cost of virtual asset transactions</a:t>
            </a:r>
          </a:p>
          <a:p>
            <a:pPr marL="285750" indent="-285750">
              <a:buFont typeface="Arial" panose="020B0604020202020204" pitchFamily="34" charset="0"/>
              <a:buChar char="•"/>
            </a:pPr>
            <a:r>
              <a:rPr lang="en-US" sz="1400" b="1">
                <a:solidFill>
                  <a:srgbClr val="00B050"/>
                </a:solidFill>
              </a:rPr>
              <a:t>Stablecoins main benefits</a:t>
            </a:r>
            <a:r>
              <a:rPr lang="en-US" sz="1400"/>
              <a:t> - minimize the impact of the crypto price volatility in trading and serve as a bridge for financial institutions to facilitate payments</a:t>
            </a:r>
          </a:p>
          <a:p>
            <a:pPr marL="285750" indent="-285750">
              <a:buFont typeface="Arial" panose="020B0604020202020204" pitchFamily="34" charset="0"/>
              <a:buChar char="•"/>
            </a:pPr>
            <a:r>
              <a:rPr lang="en-US" sz="1400" b="1">
                <a:solidFill>
                  <a:srgbClr val="00B050"/>
                </a:solidFill>
              </a:rPr>
              <a:t>Stablecoins</a:t>
            </a:r>
            <a:r>
              <a:rPr lang="en-US" sz="1400"/>
              <a:t> achieve their price stability via algorithmic mechanisms of trading reference asset or its derivatives. Also by backing with some collateral</a:t>
            </a:r>
          </a:p>
        </p:txBody>
      </p:sp>
      <p:sp>
        <p:nvSpPr>
          <p:cNvPr id="4" name="TextBox 3">
            <a:extLst>
              <a:ext uri="{FF2B5EF4-FFF2-40B4-BE49-F238E27FC236}">
                <a16:creationId xmlns:a16="http://schemas.microsoft.com/office/drawing/2014/main" id="{C9984FAF-1699-1E4E-C63B-A37B81BD69D4}"/>
              </a:ext>
            </a:extLst>
          </p:cNvPr>
          <p:cNvSpPr txBox="1"/>
          <p:nvPr/>
        </p:nvSpPr>
        <p:spPr>
          <a:xfrm>
            <a:off x="142874" y="3029772"/>
            <a:ext cx="5656041" cy="224676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Holding stablecoins will not earn money since the value is pegged to stay at the same value. </a:t>
            </a:r>
          </a:p>
          <a:p>
            <a:pPr marL="285750" indent="-285750">
              <a:buFont typeface="Arial" panose="020B0604020202020204" pitchFamily="34" charset="0"/>
              <a:buChar char="•"/>
            </a:pPr>
            <a:r>
              <a:rPr lang="en-US" sz="1400"/>
              <a:t>You can earn interest on your stablecoins by </a:t>
            </a:r>
            <a:r>
              <a:rPr lang="en-US" sz="1400" b="1">
                <a:solidFill>
                  <a:srgbClr val="00B050"/>
                </a:solidFill>
              </a:rPr>
              <a:t>lending them out</a:t>
            </a:r>
            <a:r>
              <a:rPr lang="en-US" sz="1400"/>
              <a:t> on various protocols. For example, in March 2022, lending your DAI tokens on Compound pays an </a:t>
            </a:r>
            <a:r>
              <a:rPr lang="en-US" sz="1400" b="1">
                <a:solidFill>
                  <a:srgbClr val="00B050"/>
                </a:solidFill>
              </a:rPr>
              <a:t>APY (Annual Percentage Yield)</a:t>
            </a:r>
            <a:r>
              <a:rPr lang="en-US" sz="1400"/>
              <a:t> of 2.56% while lending USDC pays an APY of 2.03%.</a:t>
            </a:r>
          </a:p>
          <a:p>
            <a:pPr marL="285750" indent="-285750">
              <a:buFont typeface="Arial" panose="020B0604020202020204" pitchFamily="34" charset="0"/>
              <a:buChar char="•"/>
            </a:pPr>
            <a:r>
              <a:rPr lang="en-US" sz="1400"/>
              <a:t>You can earn 5-9% </a:t>
            </a:r>
            <a:r>
              <a:rPr lang="en-US" sz="1400" b="1">
                <a:solidFill>
                  <a:srgbClr val="00B050"/>
                </a:solidFill>
              </a:rPr>
              <a:t>APR (Annual Percentage Rate)</a:t>
            </a:r>
            <a:r>
              <a:rPr lang="en-US" sz="1400"/>
              <a:t> on stablecoins from creating an interest-bearing crypto account with a platform like </a:t>
            </a:r>
            <a:r>
              <a:rPr lang="en-US" sz="1400" b="1">
                <a:solidFill>
                  <a:srgbClr val="00B0F0"/>
                </a:solidFill>
              </a:rPr>
              <a:t>Gemini</a:t>
            </a:r>
            <a:r>
              <a:rPr lang="en-US" sz="1400"/>
              <a:t>, </a:t>
            </a:r>
            <a:r>
              <a:rPr lang="en-US" sz="1400" b="1">
                <a:solidFill>
                  <a:srgbClr val="00B0F0"/>
                </a:solidFill>
              </a:rPr>
              <a:t>Hodlnaut</a:t>
            </a:r>
            <a:r>
              <a:rPr lang="en-US" sz="1400"/>
              <a:t> or </a:t>
            </a:r>
            <a:r>
              <a:rPr lang="en-US" sz="1400" b="1">
                <a:solidFill>
                  <a:srgbClr val="00B0F0"/>
                </a:solidFill>
              </a:rPr>
              <a:t>Celsius</a:t>
            </a:r>
            <a:r>
              <a:rPr lang="en-US" sz="1400"/>
              <a:t> (with less risk than with traditional cryptocurrencies).</a:t>
            </a:r>
          </a:p>
        </p:txBody>
      </p:sp>
      <p:sp>
        <p:nvSpPr>
          <p:cNvPr id="3" name="TextBox 2">
            <a:extLst>
              <a:ext uri="{FF2B5EF4-FFF2-40B4-BE49-F238E27FC236}">
                <a16:creationId xmlns:a16="http://schemas.microsoft.com/office/drawing/2014/main" id="{A15DE737-C54C-88E8-BC0F-7221C59F5F6E}"/>
              </a:ext>
            </a:extLst>
          </p:cNvPr>
          <p:cNvSpPr txBox="1"/>
          <p:nvPr/>
        </p:nvSpPr>
        <p:spPr>
          <a:xfrm>
            <a:off x="5919386" y="269450"/>
            <a:ext cx="2974357" cy="307777"/>
          </a:xfrm>
          <a:prstGeom prst="rect">
            <a:avLst/>
          </a:prstGeom>
          <a:noFill/>
        </p:spPr>
        <p:txBody>
          <a:bodyPr wrap="square" rtlCol="0">
            <a:spAutoFit/>
          </a:bodyPr>
          <a:lstStyle/>
          <a:p>
            <a:r>
              <a:rPr lang="en-US" sz="1400" b="1">
                <a:solidFill>
                  <a:srgbClr val="00B050"/>
                </a:solidFill>
              </a:rPr>
              <a:t>In Green – US regulated stablecoins</a:t>
            </a:r>
          </a:p>
        </p:txBody>
      </p:sp>
    </p:spTree>
    <p:extLst>
      <p:ext uri="{BB962C8B-B14F-4D97-AF65-F5344CB8AC3E}">
        <p14:creationId xmlns:p14="http://schemas.microsoft.com/office/powerpoint/2010/main" val="427244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884A0FA-FFB0-EC7B-0195-B4DF00B22BC0}"/>
              </a:ext>
            </a:extLst>
          </p:cNvPr>
          <p:cNvSpPr txBox="1"/>
          <p:nvPr/>
        </p:nvSpPr>
        <p:spPr>
          <a:xfrm>
            <a:off x="214491" y="1004711"/>
            <a:ext cx="5192888" cy="5078313"/>
          </a:xfrm>
          <a:prstGeom prst="rect">
            <a:avLst/>
          </a:prstGeom>
          <a:solidFill>
            <a:schemeClr val="accent4">
              <a:lumMod val="20000"/>
              <a:lumOff val="80000"/>
            </a:schemeClr>
          </a:solidFill>
        </p:spPr>
        <p:txBody>
          <a:bodyPr wrap="square" rtlCol="0">
            <a:spAutoFit/>
          </a:bodyPr>
          <a:lstStyle/>
          <a:p>
            <a:r>
              <a:rPr lang="en-US" sz="1200"/>
              <a:t>Dan Burstein wrote in 2021: </a:t>
            </a:r>
            <a:r>
              <a:rPr lang="en-US" sz="1200">
                <a:hlinkClick r:id="rId2"/>
              </a:rPr>
              <a:t>https://paxos.com/2021/07/21/a-regulated-stablecoin-means-having-a-regulator/</a:t>
            </a:r>
            <a:endParaRPr lang="en-US" sz="1200"/>
          </a:p>
          <a:p>
            <a:endParaRPr lang="en-US" sz="1200"/>
          </a:p>
          <a:p>
            <a:endParaRPr lang="en-US" sz="1200"/>
          </a:p>
          <a:p>
            <a:pPr marL="171450" indent="-171450">
              <a:buFont typeface="Arial" panose="020B0604020202020204" pitchFamily="34" charset="0"/>
              <a:buChar char="•"/>
            </a:pPr>
            <a:r>
              <a:rPr lang="en-US" sz="1200"/>
              <a:t>Neither </a:t>
            </a:r>
            <a:r>
              <a:rPr lang="en-US" sz="1200" b="1">
                <a:solidFill>
                  <a:srgbClr val="FF0000"/>
                </a:solidFill>
              </a:rPr>
              <a:t>USDC</a:t>
            </a:r>
            <a:r>
              <a:rPr lang="en-US" sz="1200"/>
              <a:t> nor </a:t>
            </a:r>
            <a:r>
              <a:rPr lang="en-US" sz="1200" b="1">
                <a:solidFill>
                  <a:srgbClr val="FF0000"/>
                </a:solidFill>
              </a:rPr>
              <a:t>Tether</a:t>
            </a:r>
            <a:r>
              <a:rPr lang="en-US" sz="1200"/>
              <a:t> is a regulated digital asset, for the simple reason that neither token has a regulator</a:t>
            </a:r>
          </a:p>
          <a:p>
            <a:pPr marL="171450" indent="-171450">
              <a:buFont typeface="Arial" panose="020B0604020202020204" pitchFamily="34" charset="0"/>
              <a:buChar char="•"/>
            </a:pPr>
            <a:r>
              <a:rPr lang="en-US" sz="1200" b="1">
                <a:solidFill>
                  <a:srgbClr val="FF0000"/>
                </a:solidFill>
              </a:rPr>
              <a:t>In fact, neither USDC nor Tether tokens are “stablecoins” in anything other than name</a:t>
            </a:r>
          </a:p>
          <a:p>
            <a:pPr marL="171450" indent="-171450">
              <a:buFont typeface="Arial" panose="020B0604020202020204" pitchFamily="34" charset="0"/>
              <a:buChar char="•"/>
            </a:pPr>
            <a:r>
              <a:rPr lang="en-US" sz="1200"/>
              <a:t>These tokens are backed by </a:t>
            </a:r>
            <a:r>
              <a:rPr lang="en-US" sz="1200" b="1">
                <a:solidFill>
                  <a:srgbClr val="00B050"/>
                </a:solidFill>
              </a:rPr>
              <a:t>illiquid and risky debt obligations</a:t>
            </a:r>
            <a:r>
              <a:rPr lang="en-US" sz="1200"/>
              <a:t> – a critical weakness that no prudential regulator would allow to exist as this creates undue risk for their customers.</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This is the key issue. Even if USDC or Tether adjusted their reserving practices so that their tokens were to actually become stablecoins (legitimately backed, 1:1, by US dollar or equivalents), rather than just in name, that should still be of grave concern to customers, regulators and public interest groups. </a:t>
            </a:r>
          </a:p>
          <a:p>
            <a:pPr marL="171450" indent="-171450">
              <a:buFont typeface="Arial" panose="020B0604020202020204" pitchFamily="34" charset="0"/>
              <a:buChar char="•"/>
            </a:pPr>
            <a:r>
              <a:rPr lang="en-US" sz="1200"/>
              <a:t>As we have all seen time and again, proper regulation of financial services firms – which must include comprehensive oversight of the products and services offered by those firms – is the only way to protect clients and customers. </a:t>
            </a:r>
          </a:p>
          <a:p>
            <a:pPr marL="171450" indent="-171450">
              <a:buFont typeface="Arial" panose="020B0604020202020204" pitchFamily="34" charset="0"/>
              <a:buChar char="•"/>
            </a:pPr>
            <a:r>
              <a:rPr lang="en-US" sz="1200"/>
              <a:t>What does that mean tangibly? There is direct oversight of client protections, resolution planning if there is a failure, privacy protections, consistent reserving practices plus audits and exams to verify this. </a:t>
            </a:r>
          </a:p>
          <a:p>
            <a:pPr marL="171450" indent="-171450">
              <a:buFont typeface="Arial" panose="020B0604020202020204" pitchFamily="34" charset="0"/>
              <a:buChar char="•"/>
            </a:pPr>
            <a:r>
              <a:rPr lang="en-US" sz="1200"/>
              <a:t>In other words, even if USDC or Tether decided to now fully back their tokens with dollars, there would be nothing to prevent them from changing those practices back at will.</a:t>
            </a:r>
          </a:p>
        </p:txBody>
      </p:sp>
      <p:sp>
        <p:nvSpPr>
          <p:cNvPr id="4" name="TextBox 3">
            <a:extLst>
              <a:ext uri="{FF2B5EF4-FFF2-40B4-BE49-F238E27FC236}">
                <a16:creationId xmlns:a16="http://schemas.microsoft.com/office/drawing/2014/main" id="{F6C4CC4E-C7D2-A3EF-EC6A-8F5A39B760D9}"/>
              </a:ext>
            </a:extLst>
          </p:cNvPr>
          <p:cNvSpPr txBox="1"/>
          <p:nvPr/>
        </p:nvSpPr>
        <p:spPr>
          <a:xfrm>
            <a:off x="5971821" y="1004711"/>
            <a:ext cx="5793521" cy="2893100"/>
          </a:xfrm>
          <a:prstGeom prst="rect">
            <a:avLst/>
          </a:prstGeom>
          <a:solidFill>
            <a:schemeClr val="accent4">
              <a:lumMod val="20000"/>
              <a:lumOff val="80000"/>
            </a:schemeClr>
          </a:solidFill>
        </p:spPr>
        <p:txBody>
          <a:bodyPr wrap="square" rtlCol="0">
            <a:spAutoFit/>
          </a:bodyPr>
          <a:lstStyle/>
          <a:p>
            <a:r>
              <a:rPr lang="en-US" sz="1400"/>
              <a:t>As of today (2021), there are exactly three regulated dollar-backed stablecoins in the world: </a:t>
            </a:r>
          </a:p>
          <a:p>
            <a:pPr marL="285750" indent="-285750">
              <a:buFont typeface="Arial" panose="020B0604020202020204" pitchFamily="34" charset="0"/>
              <a:buChar char="•"/>
            </a:pPr>
            <a:r>
              <a:rPr lang="en-US" sz="1400"/>
              <a:t>Paxos Standard ("</a:t>
            </a:r>
            <a:r>
              <a:rPr lang="en-US" sz="1400" b="1">
                <a:solidFill>
                  <a:srgbClr val="FF0000"/>
                </a:solidFill>
              </a:rPr>
              <a:t>PAX</a:t>
            </a:r>
            <a:r>
              <a:rPr lang="en-US" sz="1400"/>
              <a:t>")  - issued by Paxos Trust Company</a:t>
            </a:r>
          </a:p>
          <a:p>
            <a:pPr marL="285750" indent="-285750">
              <a:buFont typeface="Arial" panose="020B0604020202020204" pitchFamily="34" charset="0"/>
              <a:buChar char="•"/>
            </a:pPr>
            <a:r>
              <a:rPr lang="en-US" sz="1400"/>
              <a:t>Binance Dollar ("</a:t>
            </a:r>
            <a:r>
              <a:rPr lang="en-US" sz="1400" b="1">
                <a:solidFill>
                  <a:srgbClr val="FF0000"/>
                </a:solidFill>
              </a:rPr>
              <a:t>BUSD</a:t>
            </a:r>
            <a:r>
              <a:rPr lang="en-US" sz="1400"/>
              <a:t>")  - issued by Paxos Trust Company</a:t>
            </a:r>
          </a:p>
          <a:p>
            <a:pPr marL="285750" indent="-285750">
              <a:buFont typeface="Arial" panose="020B0604020202020204" pitchFamily="34" charset="0"/>
              <a:buChar char="•"/>
            </a:pPr>
            <a:r>
              <a:rPr lang="en-US" sz="1400"/>
              <a:t>Gemini Dollar ("</a:t>
            </a:r>
            <a:r>
              <a:rPr lang="en-US" sz="1400" b="1">
                <a:solidFill>
                  <a:srgbClr val="FF0000"/>
                </a:solidFill>
              </a:rPr>
              <a:t>GUSD</a:t>
            </a:r>
            <a:r>
              <a:rPr lang="en-US" sz="1400"/>
              <a:t>") - issued by Gemini Trust Company</a:t>
            </a:r>
          </a:p>
          <a:p>
            <a:endParaRPr lang="en-US" sz="1400"/>
          </a:p>
          <a:p>
            <a:r>
              <a:rPr lang="en-US" sz="1400"/>
              <a:t>===============</a:t>
            </a:r>
          </a:p>
          <a:p>
            <a:pPr marL="285750" indent="-285750">
              <a:buFont typeface="Arial" panose="020B0604020202020204" pitchFamily="34" charset="0"/>
              <a:buChar char="•"/>
            </a:pPr>
            <a:r>
              <a:rPr lang="en-US" sz="1400"/>
              <a:t>Paxos and Gemini are both Trust companies regulated by the New York State Department of Financial Services (“NYDFS”). </a:t>
            </a:r>
          </a:p>
          <a:p>
            <a:pPr marL="285750" indent="-285750">
              <a:buFont typeface="Arial" panose="020B0604020202020204" pitchFamily="34" charset="0"/>
              <a:buChar char="•"/>
            </a:pPr>
            <a:r>
              <a:rPr lang="en-US" sz="1400"/>
              <a:t>Trusts are required to have their products and services approved and supervised by NYDFS. </a:t>
            </a:r>
          </a:p>
          <a:p>
            <a:pPr marL="285750" indent="-285750">
              <a:buFont typeface="Arial" panose="020B0604020202020204" pitchFamily="34" charset="0"/>
              <a:buChar char="•"/>
            </a:pPr>
            <a:r>
              <a:rPr lang="en-US" sz="1400"/>
              <a:t>PAX, BUSD and GUSD are expressly approved by the NYDFS and supervised by the regulator on an ongoing basis. </a:t>
            </a:r>
          </a:p>
        </p:txBody>
      </p:sp>
      <p:sp>
        <p:nvSpPr>
          <p:cNvPr id="5" name="TextBox 4">
            <a:extLst>
              <a:ext uri="{FF2B5EF4-FFF2-40B4-BE49-F238E27FC236}">
                <a16:creationId xmlns:a16="http://schemas.microsoft.com/office/drawing/2014/main" id="{05A5E82B-126F-E6BF-4239-B7AF0FBC5BB3}"/>
              </a:ext>
            </a:extLst>
          </p:cNvPr>
          <p:cNvSpPr txBox="1"/>
          <p:nvPr/>
        </p:nvSpPr>
        <p:spPr>
          <a:xfrm>
            <a:off x="0" y="79022"/>
            <a:ext cx="5407379" cy="523220"/>
          </a:xfrm>
          <a:prstGeom prst="rect">
            <a:avLst/>
          </a:prstGeom>
          <a:noFill/>
        </p:spPr>
        <p:txBody>
          <a:bodyPr wrap="square" rtlCol="0">
            <a:spAutoFit/>
          </a:bodyPr>
          <a:lstStyle/>
          <a:p>
            <a:r>
              <a:rPr lang="en-US" sz="2800" b="1"/>
              <a:t>Most stablecoins are not "stable"</a:t>
            </a:r>
          </a:p>
        </p:txBody>
      </p:sp>
      <p:sp>
        <p:nvSpPr>
          <p:cNvPr id="6" name="TextBox 5">
            <a:extLst>
              <a:ext uri="{FF2B5EF4-FFF2-40B4-BE49-F238E27FC236}">
                <a16:creationId xmlns:a16="http://schemas.microsoft.com/office/drawing/2014/main" id="{26040A90-432E-DF58-ECD7-5DA95C8AEAFE}"/>
              </a:ext>
            </a:extLst>
          </p:cNvPr>
          <p:cNvSpPr txBox="1"/>
          <p:nvPr/>
        </p:nvSpPr>
        <p:spPr>
          <a:xfrm>
            <a:off x="6365977" y="4853950"/>
            <a:ext cx="1682046" cy="307777"/>
          </a:xfrm>
          <a:prstGeom prst="rect">
            <a:avLst/>
          </a:prstGeom>
          <a:noFill/>
        </p:spPr>
        <p:txBody>
          <a:bodyPr wrap="square" rtlCol="0">
            <a:spAutoFit/>
          </a:bodyPr>
          <a:lstStyle/>
          <a:p>
            <a:r>
              <a:rPr lang="en-US" sz="1400">
                <a:hlinkClick r:id="rId3"/>
              </a:rPr>
              <a:t>https://paxos.com</a:t>
            </a:r>
            <a:endParaRPr lang="en-US" sz="1400"/>
          </a:p>
        </p:txBody>
      </p:sp>
      <p:pic>
        <p:nvPicPr>
          <p:cNvPr id="7" name="Picture 6">
            <a:extLst>
              <a:ext uri="{FF2B5EF4-FFF2-40B4-BE49-F238E27FC236}">
                <a16:creationId xmlns:a16="http://schemas.microsoft.com/office/drawing/2014/main" id="{78648C0B-C289-165F-3109-7B44FB0F8A2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971821" y="4066311"/>
            <a:ext cx="2470358" cy="789142"/>
          </a:xfrm>
          <a:prstGeom prst="rect">
            <a:avLst/>
          </a:prstGeom>
        </p:spPr>
      </p:pic>
      <p:pic>
        <p:nvPicPr>
          <p:cNvPr id="8" name="Picture 7">
            <a:extLst>
              <a:ext uri="{FF2B5EF4-FFF2-40B4-BE49-F238E27FC236}">
                <a16:creationId xmlns:a16="http://schemas.microsoft.com/office/drawing/2014/main" id="{5DF0A200-6337-5C60-15C9-E2093FFF7E4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06621" y="4231269"/>
            <a:ext cx="2758721" cy="634675"/>
          </a:xfrm>
          <a:prstGeom prst="rect">
            <a:avLst/>
          </a:prstGeom>
        </p:spPr>
      </p:pic>
      <p:sp>
        <p:nvSpPr>
          <p:cNvPr id="9" name="TextBox 8">
            <a:extLst>
              <a:ext uri="{FF2B5EF4-FFF2-40B4-BE49-F238E27FC236}">
                <a16:creationId xmlns:a16="http://schemas.microsoft.com/office/drawing/2014/main" id="{2AB40C0B-BAA6-2C56-7272-53B4A4BB11F0}"/>
              </a:ext>
            </a:extLst>
          </p:cNvPr>
          <p:cNvSpPr txBox="1"/>
          <p:nvPr/>
        </p:nvSpPr>
        <p:spPr>
          <a:xfrm>
            <a:off x="9221111" y="4882606"/>
            <a:ext cx="2201334" cy="307777"/>
          </a:xfrm>
          <a:prstGeom prst="rect">
            <a:avLst/>
          </a:prstGeom>
          <a:noFill/>
        </p:spPr>
        <p:txBody>
          <a:bodyPr wrap="square" rtlCol="0">
            <a:spAutoFit/>
          </a:bodyPr>
          <a:lstStyle/>
          <a:p>
            <a:r>
              <a:rPr lang="en-US" sz="1400">
                <a:hlinkClick r:id="rId6"/>
              </a:rPr>
              <a:t>https://www.gemini.com</a:t>
            </a:r>
            <a:endParaRPr lang="en-US" sz="1400"/>
          </a:p>
        </p:txBody>
      </p:sp>
      <p:sp>
        <p:nvSpPr>
          <p:cNvPr id="10" name="TextBox 9">
            <a:extLst>
              <a:ext uri="{FF2B5EF4-FFF2-40B4-BE49-F238E27FC236}">
                <a16:creationId xmlns:a16="http://schemas.microsoft.com/office/drawing/2014/main" id="{A767EF4A-3A51-5801-2C97-F73699ADD465}"/>
              </a:ext>
            </a:extLst>
          </p:cNvPr>
          <p:cNvSpPr txBox="1"/>
          <p:nvPr/>
        </p:nvSpPr>
        <p:spPr>
          <a:xfrm>
            <a:off x="6354211" y="6083024"/>
            <a:ext cx="2076202" cy="307777"/>
          </a:xfrm>
          <a:prstGeom prst="rect">
            <a:avLst/>
          </a:prstGeom>
          <a:noFill/>
        </p:spPr>
        <p:txBody>
          <a:bodyPr wrap="square" rtlCol="0">
            <a:spAutoFit/>
          </a:bodyPr>
          <a:lstStyle/>
          <a:p>
            <a:r>
              <a:rPr lang="en-US" sz="1400">
                <a:hlinkClick r:id="rId7"/>
              </a:rPr>
              <a:t>https://www.binance.us</a:t>
            </a:r>
            <a:endParaRPr lang="en-US" sz="1400"/>
          </a:p>
        </p:txBody>
      </p:sp>
      <p:pic>
        <p:nvPicPr>
          <p:cNvPr id="11" name="Picture 10">
            <a:extLst>
              <a:ext uri="{FF2B5EF4-FFF2-40B4-BE49-F238E27FC236}">
                <a16:creationId xmlns:a16="http://schemas.microsoft.com/office/drawing/2014/main" id="{D6BF2019-6145-00F9-10C4-D5E2D3FB61EF}"/>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095999" y="5596063"/>
            <a:ext cx="2328553" cy="408151"/>
          </a:xfrm>
          <a:prstGeom prst="rect">
            <a:avLst/>
          </a:prstGeom>
        </p:spPr>
      </p:pic>
    </p:spTree>
    <p:extLst>
      <p:ext uri="{BB962C8B-B14F-4D97-AF65-F5344CB8AC3E}">
        <p14:creationId xmlns:p14="http://schemas.microsoft.com/office/powerpoint/2010/main" val="2185660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B7BAD7-4524-9434-5B8C-CA57AF1161E2}"/>
              </a:ext>
            </a:extLst>
          </p:cNvPr>
          <p:cNvSpPr txBox="1"/>
          <p:nvPr/>
        </p:nvSpPr>
        <p:spPr>
          <a:xfrm>
            <a:off x="279133" y="1766093"/>
            <a:ext cx="3822967" cy="3108543"/>
          </a:xfrm>
          <a:prstGeom prst="rect">
            <a:avLst/>
          </a:prstGeom>
          <a:solidFill>
            <a:schemeClr val="accent4">
              <a:lumMod val="20000"/>
              <a:lumOff val="80000"/>
            </a:schemeClr>
          </a:solidFill>
        </p:spPr>
        <p:txBody>
          <a:bodyPr wrap="square" rtlCol="0">
            <a:spAutoFit/>
          </a:bodyPr>
          <a:lstStyle/>
          <a:p>
            <a:r>
              <a:rPr lang="en-US" sz="1400"/>
              <a:t>World Economic Forum (March 2022):</a:t>
            </a:r>
          </a:p>
          <a:p>
            <a:endParaRPr lang="en-US" sz="1400"/>
          </a:p>
          <a:p>
            <a:pPr marL="285750" indent="-285750">
              <a:buFont typeface="Arial" panose="020B0604020202020204" pitchFamily="34" charset="0"/>
              <a:buChar char="•"/>
            </a:pPr>
            <a:r>
              <a:rPr lang="en-US" sz="1400"/>
              <a:t>The total market cap of digital currencies is $1.7 trillion and over $90 billion worth is traded every day.</a:t>
            </a:r>
          </a:p>
          <a:p>
            <a:pPr marL="285750" indent="-285750">
              <a:buFont typeface="Arial" panose="020B0604020202020204" pitchFamily="34" charset="0"/>
              <a:buChar char="•"/>
            </a:pPr>
            <a:r>
              <a:rPr lang="en-US" sz="1400"/>
              <a:t>Analysts have warned that the industry is so large it could have macroeconomic consequences if mismanaged.</a:t>
            </a:r>
          </a:p>
          <a:p>
            <a:pPr marL="285750" indent="-285750">
              <a:buFont typeface="Arial" panose="020B0604020202020204" pitchFamily="34" charset="0"/>
              <a:buChar char="•"/>
            </a:pPr>
            <a:r>
              <a:rPr lang="en-US" sz="1400"/>
              <a:t>Piecemeal approaches to cryptocurrency regulation must be replaced by a globally coordinated framework.</a:t>
            </a:r>
          </a:p>
          <a:p>
            <a:endParaRPr lang="en-US" sz="1400"/>
          </a:p>
          <a:p>
            <a:r>
              <a:rPr lang="en-US" sz="1400">
                <a:hlinkClick r:id="rId2"/>
              </a:rPr>
              <a:t>https://www.weforum.org/agenda/2022/03/where-is-cryptocurrency-regulation-heading/</a:t>
            </a:r>
            <a:endParaRPr lang="en-US" sz="1400"/>
          </a:p>
        </p:txBody>
      </p:sp>
      <p:pic>
        <p:nvPicPr>
          <p:cNvPr id="3" name="Picture 2">
            <a:extLst>
              <a:ext uri="{FF2B5EF4-FFF2-40B4-BE49-F238E27FC236}">
                <a16:creationId xmlns:a16="http://schemas.microsoft.com/office/drawing/2014/main" id="{9EB4F70E-FA78-57F0-AAF8-2F7C58DC269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856524" y="2702936"/>
            <a:ext cx="3900375" cy="2603500"/>
          </a:xfrm>
          <a:prstGeom prst="rect">
            <a:avLst/>
          </a:prstGeom>
        </p:spPr>
      </p:pic>
      <p:sp>
        <p:nvSpPr>
          <p:cNvPr id="4" name="TextBox 3">
            <a:extLst>
              <a:ext uri="{FF2B5EF4-FFF2-40B4-BE49-F238E27FC236}">
                <a16:creationId xmlns:a16="http://schemas.microsoft.com/office/drawing/2014/main" id="{F8FBCD17-5011-0B74-699B-21A6C6D89D44}"/>
              </a:ext>
            </a:extLst>
          </p:cNvPr>
          <p:cNvSpPr txBox="1"/>
          <p:nvPr/>
        </p:nvSpPr>
        <p:spPr>
          <a:xfrm>
            <a:off x="6718300" y="443567"/>
            <a:ext cx="4648200" cy="1754326"/>
          </a:xfrm>
          <a:prstGeom prst="rect">
            <a:avLst/>
          </a:prstGeom>
          <a:noFill/>
        </p:spPr>
        <p:txBody>
          <a:bodyPr wrap="square" rtlCol="0">
            <a:spAutoFit/>
          </a:bodyPr>
          <a:lstStyle/>
          <a:p>
            <a:r>
              <a:rPr lang="en-US"/>
              <a:t>TerraUSD is (was?) one of the largest player in Stable Coin group with market cap $18.4 Bln.</a:t>
            </a:r>
            <a:br>
              <a:rPr lang="en-US"/>
            </a:br>
            <a:br>
              <a:rPr lang="en-US"/>
            </a:br>
            <a:r>
              <a:rPr lang="en-US"/>
              <a:t>It was supposed to be a stable coin with $1.00 price. Its price went down to $0.16. (16 cents) !! Then the network was halted (May 13, 2022)</a:t>
            </a:r>
          </a:p>
        </p:txBody>
      </p:sp>
    </p:spTree>
    <p:extLst>
      <p:ext uri="{BB962C8B-B14F-4D97-AF65-F5344CB8AC3E}">
        <p14:creationId xmlns:p14="http://schemas.microsoft.com/office/powerpoint/2010/main" val="8079070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1"/>
            <a:ext cx="6371923" cy="523220"/>
          </a:xfrm>
          <a:prstGeom prst="rect">
            <a:avLst/>
          </a:prstGeom>
          <a:noFill/>
        </p:spPr>
        <p:txBody>
          <a:bodyPr wrap="square" rtlCol="0">
            <a:spAutoFit/>
          </a:bodyPr>
          <a:lstStyle/>
          <a:p>
            <a:r>
              <a:rPr lang="en-US" sz="2800" b="1"/>
              <a:t>Stablecoins – Centralised vs Decentralised  </a:t>
            </a:r>
          </a:p>
        </p:txBody>
      </p:sp>
      <p:sp>
        <p:nvSpPr>
          <p:cNvPr id="7" name="TextBox 6">
            <a:extLst>
              <a:ext uri="{FF2B5EF4-FFF2-40B4-BE49-F238E27FC236}">
                <a16:creationId xmlns:a16="http://schemas.microsoft.com/office/drawing/2014/main" id="{BCDE16D8-B64D-BE3D-B9AE-E649B3F2FEC2}"/>
              </a:ext>
            </a:extLst>
          </p:cNvPr>
          <p:cNvSpPr txBox="1"/>
          <p:nvPr/>
        </p:nvSpPr>
        <p:spPr>
          <a:xfrm>
            <a:off x="424017" y="2787205"/>
            <a:ext cx="4960783" cy="1661993"/>
          </a:xfrm>
          <a:prstGeom prst="rect">
            <a:avLst/>
          </a:prstGeom>
          <a:solidFill>
            <a:schemeClr val="accent4">
              <a:lumMod val="20000"/>
              <a:lumOff val="80000"/>
            </a:schemeClr>
          </a:solidFill>
        </p:spPr>
        <p:txBody>
          <a:bodyPr wrap="square" rtlCol="0">
            <a:spAutoFit/>
          </a:bodyPr>
          <a:lstStyle/>
          <a:p>
            <a:r>
              <a:rPr lang="en-US" b="1">
                <a:solidFill>
                  <a:srgbClr val="FF0000"/>
                </a:solidFill>
              </a:rPr>
              <a:t>Centralised stablecoins</a:t>
            </a:r>
            <a:r>
              <a:rPr lang="en-US"/>
              <a:t> - </a:t>
            </a:r>
            <a:r>
              <a:rPr lang="en-US" b="1">
                <a:solidFill>
                  <a:srgbClr val="00B050"/>
                </a:solidFill>
              </a:rPr>
              <a:t>hold collateral off-chain. </a:t>
            </a:r>
          </a:p>
          <a:p>
            <a:endParaRPr lang="en-US" sz="1400" b="1">
              <a:solidFill>
                <a:srgbClr val="00B050"/>
              </a:solidFill>
            </a:endParaRPr>
          </a:p>
          <a:p>
            <a:r>
              <a:rPr lang="en-US" sz="1400"/>
              <a:t>Centralised stablecoins are issued by banks or other issuing entities. These entities make money through lending and investing, in a manner similar to traditional banks. Only a fraction of deposits are backed by physical cash on hand that can be withdrawn by investors.</a:t>
            </a:r>
          </a:p>
        </p:txBody>
      </p:sp>
      <p:sp>
        <p:nvSpPr>
          <p:cNvPr id="8" name="TextBox 7">
            <a:extLst>
              <a:ext uri="{FF2B5EF4-FFF2-40B4-BE49-F238E27FC236}">
                <a16:creationId xmlns:a16="http://schemas.microsoft.com/office/drawing/2014/main" id="{1D539DF3-BE86-5B38-E0CB-61A0A246BEAD}"/>
              </a:ext>
            </a:extLst>
          </p:cNvPr>
          <p:cNvSpPr txBox="1"/>
          <p:nvPr/>
        </p:nvSpPr>
        <p:spPr>
          <a:xfrm>
            <a:off x="6003053" y="2787205"/>
            <a:ext cx="5764929" cy="3662541"/>
          </a:xfrm>
          <a:prstGeom prst="rect">
            <a:avLst/>
          </a:prstGeom>
          <a:solidFill>
            <a:schemeClr val="accent4">
              <a:lumMod val="20000"/>
              <a:lumOff val="80000"/>
            </a:schemeClr>
          </a:solidFill>
        </p:spPr>
        <p:txBody>
          <a:bodyPr wrap="square" rtlCol="0">
            <a:spAutoFit/>
          </a:bodyPr>
          <a:lstStyle/>
          <a:p>
            <a:r>
              <a:rPr lang="en-US" b="1">
                <a:solidFill>
                  <a:srgbClr val="FF0000"/>
                </a:solidFill>
              </a:rPr>
              <a:t>Decentralized stablecoins</a:t>
            </a:r>
            <a:r>
              <a:rPr lang="en-US" b="1">
                <a:solidFill>
                  <a:srgbClr val="00B050"/>
                </a:solidFill>
              </a:rPr>
              <a:t> - hold their reserve assets on-chain using other cryptocurrencies and smart contracts. </a:t>
            </a:r>
          </a:p>
          <a:p>
            <a:endParaRPr lang="en-US" sz="1400"/>
          </a:p>
          <a:p>
            <a:pPr marL="285750" indent="-285750">
              <a:buFont typeface="Arial" panose="020B0604020202020204" pitchFamily="34" charset="0"/>
              <a:buChar char="•"/>
            </a:pPr>
            <a:r>
              <a:rPr lang="en-US" sz="1400"/>
              <a:t>This process helps solve the transparency issues that centralized stablecoin providers face. </a:t>
            </a:r>
          </a:p>
          <a:p>
            <a:pPr marL="285750" indent="-285750">
              <a:buFont typeface="Arial" panose="020B0604020202020204" pitchFamily="34" charset="0"/>
              <a:buChar char="•"/>
            </a:pPr>
            <a:r>
              <a:rPr lang="en-US" sz="1400"/>
              <a:t>These stablecoins use smart contracts to eliminate the need for a third party. </a:t>
            </a:r>
          </a:p>
          <a:p>
            <a:pPr marL="285750" indent="-285750">
              <a:buFont typeface="Arial" panose="020B0604020202020204" pitchFamily="34" charset="0"/>
              <a:buChar char="•"/>
            </a:pPr>
            <a:r>
              <a:rPr lang="en-US" sz="1400"/>
              <a:t>Decentralized stablecoins often issue an additional cryptocurrency along with the pegged stable cryptocurrency that serves different purposes such as governance and revenue sharing. For example, the MKR token of MakerDao is the more volatile governance token while the DAI token is the pegged stablecoin.</a:t>
            </a:r>
          </a:p>
          <a:p>
            <a:pPr marL="285750" indent="-285750">
              <a:buFont typeface="Arial" panose="020B0604020202020204" pitchFamily="34" charset="0"/>
              <a:buChar char="•"/>
            </a:pPr>
            <a:r>
              <a:rPr lang="en-US" sz="1400"/>
              <a:t>The MakerDao’s MKR token also provides rights to interest on collateral. The interest, which is known as the stability fee, is paid in MKR tokens, which are then subsequently burned. Burning decreases the supply of MKR and should lead to an increase in price. </a:t>
            </a:r>
          </a:p>
        </p:txBody>
      </p:sp>
      <p:pic>
        <p:nvPicPr>
          <p:cNvPr id="3" name="Picture 2">
            <a:extLst>
              <a:ext uri="{FF2B5EF4-FFF2-40B4-BE49-F238E27FC236}">
                <a16:creationId xmlns:a16="http://schemas.microsoft.com/office/drawing/2014/main" id="{5532B27C-C1E3-9B62-FA0E-9EB54F6145F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49285" y="1512711"/>
            <a:ext cx="1304925" cy="1159933"/>
          </a:xfrm>
          <a:prstGeom prst="rect">
            <a:avLst/>
          </a:prstGeom>
        </p:spPr>
      </p:pic>
      <p:pic>
        <p:nvPicPr>
          <p:cNvPr id="10" name="Picture 9">
            <a:extLst>
              <a:ext uri="{FF2B5EF4-FFF2-40B4-BE49-F238E27FC236}">
                <a16:creationId xmlns:a16="http://schemas.microsoft.com/office/drawing/2014/main" id="{956D6C09-0DA3-7175-BCBB-82D12449FE4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81635" y="1025842"/>
            <a:ext cx="1744826" cy="1646802"/>
          </a:xfrm>
          <a:prstGeom prst="rect">
            <a:avLst/>
          </a:prstGeom>
        </p:spPr>
      </p:pic>
    </p:spTree>
    <p:extLst>
      <p:ext uri="{BB962C8B-B14F-4D97-AF65-F5344CB8AC3E}">
        <p14:creationId xmlns:p14="http://schemas.microsoft.com/office/powerpoint/2010/main" val="3270941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4991099" y="630734"/>
            <a:ext cx="7047575" cy="5693866"/>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several cryptocurrencies. </a:t>
            </a:r>
          </a:p>
          <a:p>
            <a:endParaRPr lang="en-US" sz="1400"/>
          </a:p>
          <a:p>
            <a:r>
              <a:rPr lang="en-US" sz="1400"/>
              <a:t>As these cryptocurrencies are themselves </a:t>
            </a:r>
            <a:r>
              <a:rPr lang="en-US" sz="1400">
                <a:solidFill>
                  <a:srgbClr val="FF0000"/>
                </a:solidFill>
              </a:rPr>
              <a:t>highly volatile</a:t>
            </a:r>
            <a:r>
              <a:rPr lang="en-US" sz="1400"/>
              <a:t>, these stablecoins require to be </a:t>
            </a:r>
            <a:r>
              <a:rPr lang="en-US" sz="1400" b="1">
                <a:solidFill>
                  <a:srgbClr val="00B050"/>
                </a:solidFill>
              </a:rPr>
              <a:t>over-collateralized</a:t>
            </a:r>
            <a:r>
              <a:rPr lang="en-US" sz="1400"/>
              <a:t>. For example, to get $500 worth of stablecoins, you would need to deposit total of $1,000 worth of Ether (ETH). $500 to get coins, and other $500 will be the additional collateral locked into smart contracts that will be liquidated if ETH price drops too much. The collateral can be collected when redeeming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MakerDAO since then started diversifying its collateral base to include stablecoins like USDC (backed by cash and treasuries) and bonds.</a:t>
            </a:r>
          </a:p>
          <a:p>
            <a:endParaRPr lang="en-US" sz="1400"/>
          </a:p>
          <a:p>
            <a:r>
              <a:rPr lang="en-US" sz="1400"/>
              <a:t>It is getting some competition this summer (2021)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1" y="39811"/>
            <a:ext cx="9106931" cy="523220"/>
          </a:xfrm>
          <a:prstGeom prst="rect">
            <a:avLst/>
          </a:prstGeom>
          <a:noFill/>
        </p:spPr>
        <p:txBody>
          <a:bodyPr wrap="square" rtlCol="0">
            <a:spAutoFit/>
          </a:bodyPr>
          <a:lstStyle/>
          <a:p>
            <a:r>
              <a:rPr lang="en-US" sz="2800" b="1"/>
              <a:t>Everscale Network (Free TON), Octus Bridge (TON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a:t>
            </a:r>
            <a:r>
              <a:rPr lang="en-US" sz="1400" b="1">
                <a:solidFill>
                  <a:srgbClr val="FF0000"/>
                </a:solidFill>
              </a:rPr>
              <a:t>Everscale</a:t>
            </a:r>
            <a:r>
              <a:rPr lang="en-US" sz="1400"/>
              <a:t>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5478423"/>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r>
              <a:rPr lang="en-US" sz="1400"/>
              <a:t>Tether makes money from various fees, by issuing loans to other institutions, as well as through investments.</a:t>
            </a:r>
            <a:br>
              <a:rPr lang="en-US" sz="1400"/>
            </a:br>
            <a:r>
              <a:rPr lang="en-US" sz="1400"/>
              <a:t>Example: Tether loaned $1 billion to Celsius Network in October 2021. Celsius Network is supposed to pay Tether an interest rate of 5% to 6% per year. </a:t>
            </a:r>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529717D-C0F5-3F9A-2032-497949DFD9F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2525" y="2307492"/>
            <a:ext cx="7315200" cy="3683000"/>
          </a:xfrm>
          <a:prstGeom prst="rect">
            <a:avLst/>
          </a:prstGeom>
          <a:ln>
            <a:solidFill>
              <a:schemeClr val="accent1"/>
            </a:solidFill>
          </a:ln>
        </p:spPr>
      </p:pic>
      <p:sp>
        <p:nvSpPr>
          <p:cNvPr id="3" name="TextBox 2">
            <a:extLst>
              <a:ext uri="{FF2B5EF4-FFF2-40B4-BE49-F238E27FC236}">
                <a16:creationId xmlns:a16="http://schemas.microsoft.com/office/drawing/2014/main" id="{6BDF1805-6B75-9EC6-7F62-F64CCC31F5F0}"/>
              </a:ext>
            </a:extLst>
          </p:cNvPr>
          <p:cNvSpPr txBox="1"/>
          <p:nvPr/>
        </p:nvSpPr>
        <p:spPr>
          <a:xfrm>
            <a:off x="89942" y="89942"/>
            <a:ext cx="4482058" cy="523220"/>
          </a:xfrm>
          <a:prstGeom prst="rect">
            <a:avLst/>
          </a:prstGeom>
          <a:noFill/>
        </p:spPr>
        <p:txBody>
          <a:bodyPr wrap="square" rtlCol="0">
            <a:spAutoFit/>
          </a:bodyPr>
          <a:lstStyle/>
          <a:p>
            <a:r>
              <a:rPr lang="en-US" sz="2800" b="1"/>
              <a:t>Tether / USDT - continued</a:t>
            </a:r>
            <a:endParaRPr lang="en-US" sz="2800" b="1" i="1">
              <a:solidFill>
                <a:srgbClr val="000000"/>
              </a:solidFill>
              <a:latin typeface="Helvetica" pitchFamily="2" charset="0"/>
            </a:endParaRPr>
          </a:p>
        </p:txBody>
      </p:sp>
      <p:sp>
        <p:nvSpPr>
          <p:cNvPr id="4" name="TextBox 3">
            <a:extLst>
              <a:ext uri="{FF2B5EF4-FFF2-40B4-BE49-F238E27FC236}">
                <a16:creationId xmlns:a16="http://schemas.microsoft.com/office/drawing/2014/main" id="{492F01C5-2EF3-F6DE-0E70-BB4DE9AD610D}"/>
              </a:ext>
            </a:extLst>
          </p:cNvPr>
          <p:cNvSpPr txBox="1"/>
          <p:nvPr/>
        </p:nvSpPr>
        <p:spPr>
          <a:xfrm>
            <a:off x="402525" y="867508"/>
            <a:ext cx="6829548" cy="923330"/>
          </a:xfrm>
          <a:prstGeom prst="rect">
            <a:avLst/>
          </a:prstGeom>
          <a:noFill/>
        </p:spPr>
        <p:txBody>
          <a:bodyPr wrap="square" rtlCol="0">
            <a:spAutoFit/>
          </a:bodyPr>
          <a:lstStyle/>
          <a:p>
            <a:r>
              <a:rPr lang="en-US"/>
              <a:t>Tether Limited’s asset breakdown in its June 2021 attestation report shows that only 10% of its reserves were in cash and bank deposits at that time - a far cry from a 1:1 ratio:</a:t>
            </a:r>
          </a:p>
        </p:txBody>
      </p:sp>
    </p:spTree>
    <p:extLst>
      <p:ext uri="{BB962C8B-B14F-4D97-AF65-F5344CB8AC3E}">
        <p14:creationId xmlns:p14="http://schemas.microsoft.com/office/powerpoint/2010/main" val="29723741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99431" y="1527589"/>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
        <p:nvSpPr>
          <p:cNvPr id="6" name="TextBox 5">
            <a:extLst>
              <a:ext uri="{FF2B5EF4-FFF2-40B4-BE49-F238E27FC236}">
                <a16:creationId xmlns:a16="http://schemas.microsoft.com/office/drawing/2014/main" id="{F59AC9FF-58FA-E17D-5B9A-50793A90391C}"/>
              </a:ext>
            </a:extLst>
          </p:cNvPr>
          <p:cNvSpPr txBox="1"/>
          <p:nvPr/>
        </p:nvSpPr>
        <p:spPr>
          <a:xfrm>
            <a:off x="8142973" y="1694630"/>
            <a:ext cx="3782728" cy="2246769"/>
          </a:xfrm>
          <a:prstGeom prst="rect">
            <a:avLst/>
          </a:prstGeom>
          <a:solidFill>
            <a:schemeClr val="accent2">
              <a:lumMod val="20000"/>
              <a:lumOff val="80000"/>
            </a:schemeClr>
          </a:solidFill>
        </p:spPr>
        <p:txBody>
          <a:bodyPr wrap="square" rtlCol="0">
            <a:spAutoFit/>
          </a:bodyPr>
          <a:lstStyle/>
          <a:p>
            <a:r>
              <a:rPr lang="en-US" sz="1400"/>
              <a:t>Circle is the company that developed USDC in collaboration with Coinbase Global Inc. (NASDAQ: COIN). </a:t>
            </a:r>
          </a:p>
          <a:p>
            <a:endParaRPr lang="en-US" sz="1400"/>
          </a:p>
          <a:p>
            <a:r>
              <a:rPr lang="en-US" sz="1400"/>
              <a:t>In July 2021, Circle acknowledged that 61% of </a:t>
            </a:r>
            <a:r>
              <a:rPr lang="en-US" sz="1400" b="1">
                <a:solidFill>
                  <a:srgbClr val="FF0000"/>
                </a:solidFill>
              </a:rPr>
              <a:t>USDC reserves</a:t>
            </a:r>
            <a:r>
              <a:rPr lang="en-US" sz="1400"/>
              <a:t> were in cash or cash equivalents while the rest was invested in a variety of assets such as </a:t>
            </a:r>
            <a:r>
              <a:rPr lang="en-US" sz="1400" b="1">
                <a:solidFill>
                  <a:srgbClr val="00B050"/>
                </a:solidFill>
              </a:rPr>
              <a:t>Certificates of Deposit, corporate bonds, municipal bonds, U.S. Treasuries and commercial paper. </a:t>
            </a:r>
          </a:p>
        </p:txBody>
      </p:sp>
      <p:sp>
        <p:nvSpPr>
          <p:cNvPr id="7" name="TextBox 6">
            <a:extLst>
              <a:ext uri="{FF2B5EF4-FFF2-40B4-BE49-F238E27FC236}">
                <a16:creationId xmlns:a16="http://schemas.microsoft.com/office/drawing/2014/main" id="{C6945EA1-4103-D8CC-DB88-E7A6CAFD5F82}"/>
              </a:ext>
            </a:extLst>
          </p:cNvPr>
          <p:cNvSpPr txBox="1"/>
          <p:nvPr/>
        </p:nvSpPr>
        <p:spPr>
          <a:xfrm>
            <a:off x="8142973" y="4039985"/>
            <a:ext cx="3782728" cy="738664"/>
          </a:xfrm>
          <a:prstGeom prst="rect">
            <a:avLst/>
          </a:prstGeom>
          <a:solidFill>
            <a:schemeClr val="accent6">
              <a:lumMod val="20000"/>
              <a:lumOff val="80000"/>
            </a:schemeClr>
          </a:solidFill>
        </p:spPr>
        <p:txBody>
          <a:bodyPr wrap="square" rtlCol="0">
            <a:spAutoFit/>
          </a:bodyPr>
          <a:lstStyle/>
          <a:p>
            <a:r>
              <a:rPr lang="en-US" sz="1400"/>
              <a:t>August 2021 - Circle announced that USDC reserves going forward would comprise only cash and US Treasury bonds.</a:t>
            </a:r>
          </a:p>
        </p:txBody>
      </p:sp>
    </p:spTree>
    <p:extLst>
      <p:ext uri="{BB962C8B-B14F-4D97-AF65-F5344CB8AC3E}">
        <p14:creationId xmlns:p14="http://schemas.microsoft.com/office/powerpoint/2010/main" val="1933686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575959" y="922051"/>
            <a:ext cx="5905707" cy="2677656"/>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b="1">
                <a:solidFill>
                  <a:srgbClr val="FF0000"/>
                </a:solidFill>
              </a:rPr>
              <a:t>Dai</a:t>
            </a:r>
            <a:r>
              <a:rPr lang="en-US" sz="1400"/>
              <a:t> is a stablecoin cryptocurrency on the Ethereum blockchain</a:t>
            </a:r>
          </a:p>
          <a:p>
            <a:pPr marL="380990" indent="-380990">
              <a:buFont typeface="Arial" panose="020B0604020202020204" pitchFamily="34" charset="0"/>
              <a:buChar char="•"/>
            </a:pPr>
            <a:r>
              <a:rPr lang="en-US" sz="1400" b="1">
                <a:solidFill>
                  <a:srgbClr val="FF0000"/>
                </a:solidFill>
              </a:rPr>
              <a:t>Dai</a:t>
            </a:r>
            <a:r>
              <a:rPr lang="en-US" sz="1400"/>
              <a:t> aims to keep its value as close to $1 USD through a system of smart contracts and the decentralized participants</a:t>
            </a:r>
          </a:p>
          <a:p>
            <a:pPr marL="380990" indent="-380990">
              <a:buFont typeface="Arial" panose="020B0604020202020204" pitchFamily="34" charset="0"/>
              <a:buChar char="•"/>
            </a:pPr>
            <a:r>
              <a:rPr lang="en-US" sz="1400"/>
              <a:t>Since 2017, open source</a:t>
            </a:r>
          </a:p>
          <a:p>
            <a:pPr marL="380990" indent="-380990">
              <a:buFont typeface="Arial" panose="020B0604020202020204" pitchFamily="34" charset="0"/>
              <a:buChar char="•"/>
            </a:pPr>
            <a:r>
              <a:rPr lang="en-US" sz="1400"/>
              <a:t>Market Cap - $8 Bln (May 2022)</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According to Rune Christensen the name of the cryptocurrency is based on the Chinese character </a:t>
            </a:r>
            <a:r>
              <a:rPr lang="ja-JP" altLang="en-US" sz="1400"/>
              <a:t>貸</a:t>
            </a:r>
            <a:r>
              <a:rPr lang="en-US" altLang="ja-JP" sz="1400"/>
              <a:t>, </a:t>
            </a:r>
            <a:r>
              <a:rPr lang="en-US" sz="1400"/>
              <a:t>which he translated as "to lend or to provide capital for a loan"</a:t>
            </a:r>
            <a:br>
              <a:rPr lang="en-US" sz="1400"/>
            </a:br>
            <a:endParaRPr lang="en-US" sz="1400"/>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6" name="TextBox 5">
            <a:extLst>
              <a:ext uri="{FF2B5EF4-FFF2-40B4-BE49-F238E27FC236}">
                <a16:creationId xmlns:a16="http://schemas.microsoft.com/office/drawing/2014/main" id="{8AF3416D-85A5-B4E9-42A0-57378DD56F1B}"/>
              </a:ext>
            </a:extLst>
          </p:cNvPr>
          <p:cNvSpPr txBox="1"/>
          <p:nvPr/>
        </p:nvSpPr>
        <p:spPr>
          <a:xfrm>
            <a:off x="9292704" y="2105561"/>
            <a:ext cx="1554708" cy="1323439"/>
          </a:xfrm>
          <a:prstGeom prst="rect">
            <a:avLst/>
          </a:prstGeom>
          <a:noFill/>
        </p:spPr>
        <p:txBody>
          <a:bodyPr wrap="square" rtlCol="0">
            <a:spAutoFit/>
          </a:bodyPr>
          <a:lstStyle/>
          <a:p>
            <a:pPr algn="ctr"/>
            <a:r>
              <a:rPr lang="ja-JP" altLang="en-US" sz="8000" b="1"/>
              <a:t>貸</a:t>
            </a:r>
            <a:endParaRPr lang="en-US" sz="8000" b="1"/>
          </a:p>
        </p:txBody>
      </p:sp>
      <p:sp>
        <p:nvSpPr>
          <p:cNvPr id="7" name="TextBox 6">
            <a:extLst>
              <a:ext uri="{FF2B5EF4-FFF2-40B4-BE49-F238E27FC236}">
                <a16:creationId xmlns:a16="http://schemas.microsoft.com/office/drawing/2014/main" id="{106BEFFB-17A3-FD1A-532B-8E6D03AB9D21}"/>
              </a:ext>
            </a:extLst>
          </p:cNvPr>
          <p:cNvSpPr txBox="1"/>
          <p:nvPr/>
        </p:nvSpPr>
        <p:spPr>
          <a:xfrm>
            <a:off x="8881338" y="3350229"/>
            <a:ext cx="2377440" cy="646331"/>
          </a:xfrm>
          <a:prstGeom prst="rect">
            <a:avLst/>
          </a:prstGeom>
          <a:noFill/>
        </p:spPr>
        <p:txBody>
          <a:bodyPr wrap="square" rtlCol="0">
            <a:spAutoFit/>
          </a:bodyPr>
          <a:lstStyle/>
          <a:p>
            <a:pPr algn="ctr"/>
            <a:r>
              <a:rPr lang="en-US"/>
              <a:t>"to lend or to provide capital for a loan"</a:t>
            </a:r>
          </a:p>
        </p:txBody>
      </p:sp>
    </p:spTree>
    <p:extLst>
      <p:ext uri="{BB962C8B-B14F-4D97-AF65-F5344CB8AC3E}">
        <p14:creationId xmlns:p14="http://schemas.microsoft.com/office/powerpoint/2010/main" val="43192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0" y="0"/>
            <a:ext cx="4100362" cy="523220"/>
          </a:xfrm>
          <a:prstGeom prst="rect">
            <a:avLst/>
          </a:prstGeom>
          <a:noFill/>
        </p:spPr>
        <p:txBody>
          <a:bodyPr wrap="square" rtlCol="0">
            <a:spAutoFit/>
          </a:bodyPr>
          <a:lstStyle/>
          <a:p>
            <a:r>
              <a:rPr lang="en-US" sz="2800" b="1"/>
              <a:t>Facebook Libra Story</a:t>
            </a:r>
          </a:p>
        </p:txBody>
      </p:sp>
      <p:sp>
        <p:nvSpPr>
          <p:cNvPr id="3" name="TextBox 2">
            <a:extLst>
              <a:ext uri="{FF2B5EF4-FFF2-40B4-BE49-F238E27FC236}">
                <a16:creationId xmlns:a16="http://schemas.microsoft.com/office/drawing/2014/main" id="{D3E8FCD9-2FC1-6C47-7565-C67349FCFD85}"/>
              </a:ext>
            </a:extLst>
          </p:cNvPr>
          <p:cNvSpPr txBox="1"/>
          <p:nvPr/>
        </p:nvSpPr>
        <p:spPr>
          <a:xfrm>
            <a:off x="774834" y="879354"/>
            <a:ext cx="6107229" cy="5262979"/>
          </a:xfrm>
          <a:prstGeom prst="rect">
            <a:avLst/>
          </a:prstGeom>
          <a:noFill/>
        </p:spPr>
        <p:txBody>
          <a:bodyPr wrap="square" rtlCol="0">
            <a:spAutoFit/>
          </a:bodyPr>
          <a:lstStyle/>
          <a:p>
            <a:pPr marL="285750" indent="-285750">
              <a:buFont typeface="Arial" panose="020B0604020202020204" pitchFamily="34" charset="0"/>
              <a:buChar char="•"/>
            </a:pPr>
            <a:r>
              <a:rPr lang="en-US" sz="1400"/>
              <a:t>2019 - Facebook unveiled </a:t>
            </a:r>
            <a:r>
              <a:rPr lang="en-US" sz="1400" b="1">
                <a:solidFill>
                  <a:srgbClr val="FF0000"/>
                </a:solidFill>
              </a:rPr>
              <a:t>Libra</a:t>
            </a:r>
            <a:r>
              <a:rPr lang="en-US" sz="1400"/>
              <a:t> – a brand new cryptocurrency tied to a basket of fiat currencies and securities.</a:t>
            </a:r>
          </a:p>
          <a:p>
            <a:pPr marL="285750" indent="-285750">
              <a:buFont typeface="Arial" panose="020B0604020202020204" pitchFamily="34" charset="0"/>
              <a:buChar char="•"/>
            </a:pPr>
            <a:r>
              <a:rPr lang="en-US" sz="1400"/>
              <a:t>The </a:t>
            </a:r>
            <a:r>
              <a:rPr lang="en-US" sz="1400" b="1">
                <a:solidFill>
                  <a:srgbClr val="00B050"/>
                </a:solidFill>
              </a:rPr>
              <a:t>Libra Association</a:t>
            </a:r>
            <a:r>
              <a:rPr lang="en-US" sz="1400"/>
              <a:t> faced strong opposition from regulators and central banks – they thought that Libra would compete with sovereign currencies with profound macroeconomic effects. It could have led to shadow banking, inflation and would have been a way to escape monetary policies.</a:t>
            </a:r>
          </a:p>
          <a:p>
            <a:pPr marL="285750" indent="-285750">
              <a:buFont typeface="Arial" panose="020B0604020202020204" pitchFamily="34" charset="0"/>
              <a:buChar char="•"/>
            </a:pPr>
            <a:r>
              <a:rPr lang="en-US" sz="1400"/>
              <a:t>That’s why the </a:t>
            </a:r>
            <a:r>
              <a:rPr lang="en-US" sz="1400" b="1">
                <a:solidFill>
                  <a:srgbClr val="00B050"/>
                </a:solidFill>
              </a:rPr>
              <a:t>Libra Association</a:t>
            </a:r>
            <a:r>
              <a:rPr lang="en-US" sz="1400"/>
              <a:t> switched to launching several single-currency stablecoins – </a:t>
            </a:r>
            <a:r>
              <a:rPr lang="en-US" sz="1400" b="1">
                <a:solidFill>
                  <a:srgbClr val="FF0000"/>
                </a:solidFill>
              </a:rPr>
              <a:t>LibraUSD, LibraGBP, LibraEUR</a:t>
            </a:r>
            <a:r>
              <a:rPr lang="en-US" sz="1400"/>
              <a:t>, etc.</a:t>
            </a:r>
          </a:p>
          <a:p>
            <a:pPr marL="285750" indent="-285750">
              <a:buFont typeface="Arial" panose="020B0604020202020204" pitchFamily="34" charset="0"/>
              <a:buChar char="•"/>
            </a:pPr>
            <a:r>
              <a:rPr lang="en-US" sz="1400"/>
              <a:t>But that plan changed once again. The </a:t>
            </a:r>
            <a:r>
              <a:rPr lang="en-US" sz="1400" b="1">
                <a:solidFill>
                  <a:srgbClr val="00B050"/>
                </a:solidFill>
              </a:rPr>
              <a:t>Libra Association</a:t>
            </a:r>
            <a:r>
              <a:rPr lang="en-US" sz="1400"/>
              <a:t> became the </a:t>
            </a:r>
            <a:r>
              <a:rPr lang="en-US" sz="1400" b="1">
                <a:solidFill>
                  <a:srgbClr val="00B050"/>
                </a:solidFill>
              </a:rPr>
              <a:t>Diem Association</a:t>
            </a:r>
            <a:r>
              <a:rPr lang="en-US" sz="1400"/>
              <a:t>, and Facebook launched a pilot version of </a:t>
            </a:r>
            <a:r>
              <a:rPr lang="en-US" sz="1400" b="1">
                <a:solidFill>
                  <a:srgbClr val="FF0000"/>
                </a:solidFill>
              </a:rPr>
              <a:t>Novi</a:t>
            </a:r>
            <a:r>
              <a:rPr lang="en-US" sz="1400"/>
              <a:t>, crypto-wallet. Instead of using the association’s stablecoin (</a:t>
            </a:r>
            <a:r>
              <a:rPr lang="en-US" sz="1400" b="1">
                <a:solidFill>
                  <a:srgbClr val="FF0000"/>
                </a:solidFill>
              </a:rPr>
              <a:t>Diem</a:t>
            </a:r>
            <a:r>
              <a:rPr lang="en-US" sz="1400"/>
              <a:t>) on the association’s blockchain (the </a:t>
            </a:r>
            <a:r>
              <a:rPr lang="en-US" sz="1400" b="1">
                <a:solidFill>
                  <a:srgbClr val="FF0000"/>
                </a:solidFill>
              </a:rPr>
              <a:t>Diem network</a:t>
            </a:r>
            <a:r>
              <a:rPr lang="en-US" sz="1400"/>
              <a:t>), </a:t>
            </a:r>
            <a:r>
              <a:rPr lang="en-US" sz="1400" b="1">
                <a:solidFill>
                  <a:srgbClr val="FF0000"/>
                </a:solidFill>
              </a:rPr>
              <a:t>Novi</a:t>
            </a:r>
            <a:r>
              <a:rPr lang="en-US" sz="1400"/>
              <a:t> uses </a:t>
            </a:r>
            <a:r>
              <a:rPr lang="en-US" sz="1400" b="1">
                <a:solidFill>
                  <a:srgbClr val="FF0000"/>
                </a:solidFill>
              </a:rPr>
              <a:t>USDP</a:t>
            </a:r>
            <a:r>
              <a:rPr lang="en-US" sz="1400"/>
              <a:t> as its currency. This stablecoin is issued by </a:t>
            </a:r>
            <a:r>
              <a:rPr lang="en-US" sz="1400" b="1">
                <a:solidFill>
                  <a:srgbClr val="FF0000"/>
                </a:solidFill>
              </a:rPr>
              <a:t>Paxos</a:t>
            </a:r>
            <a:r>
              <a:rPr lang="en-US" sz="1400"/>
              <a:t>, with </a:t>
            </a:r>
            <a:r>
              <a:rPr lang="en-US" sz="1400" b="1">
                <a:solidFill>
                  <a:srgbClr val="FF0000"/>
                </a:solidFill>
              </a:rPr>
              <a:t>Coinbase</a:t>
            </a:r>
            <a:r>
              <a:rPr lang="en-US" sz="1400"/>
              <a:t> managing crypto custody.</a:t>
            </a:r>
          </a:p>
          <a:p>
            <a:pPr marL="285750" indent="-285750">
              <a:buFont typeface="Arial" panose="020B0604020202020204" pitchFamily="34" charset="0"/>
              <a:buChar char="•"/>
            </a:pPr>
            <a:r>
              <a:rPr lang="en-US" sz="1400"/>
              <a:t>end of 2021 – Facebook/Meta top crypto executive </a:t>
            </a:r>
            <a:r>
              <a:rPr lang="en-US" sz="1400" b="1">
                <a:solidFill>
                  <a:srgbClr val="00B050"/>
                </a:solidFill>
              </a:rPr>
              <a:t>David Marcus</a:t>
            </a:r>
            <a:r>
              <a:rPr lang="en-US" sz="1400"/>
              <a:t> left the company. While Diem’s cryptocurrencies have yet to launch, Silvergate Capital was supposed to issue some of the stablecoins and back them with cash in their account, according to the WSJ.</a:t>
            </a:r>
          </a:p>
          <a:p>
            <a:pPr marL="285750" indent="-285750">
              <a:buFont typeface="Arial" panose="020B0604020202020204" pitchFamily="34" charset="0"/>
              <a:buChar char="•"/>
            </a:pPr>
            <a:r>
              <a:rPr lang="en-US" sz="1400"/>
              <a:t>January 2022 - Silvergate Capital Corporation has acquired intellectual property and other technology assets related to running a blockchain-based payment network from Diem (for ~ $200 Mln)</a:t>
            </a:r>
          </a:p>
          <a:p>
            <a:pPr marL="285750" indent="-285750">
              <a:buFont typeface="Arial" panose="020B0604020202020204" pitchFamily="34" charset="0"/>
              <a:buChar char="•"/>
            </a:pPr>
            <a:r>
              <a:rPr lang="en-US" sz="1400"/>
              <a:t>May 2022 - Crypto Bank Silvergate To Become Issuer of Facebook-Backed Diem Stablecoin</a:t>
            </a:r>
          </a:p>
          <a:p>
            <a:pPr marL="285750" indent="-285750">
              <a:buFont typeface="Arial" panose="020B0604020202020204" pitchFamily="34" charset="0"/>
              <a:buChar char="•"/>
            </a:pPr>
            <a:r>
              <a:rPr lang="en-US" sz="1400">
                <a:hlinkClick r:id="rId2"/>
              </a:rPr>
              <a:t>https://en.wikipedia.org/wiki/Diem_(digital_currency)</a:t>
            </a:r>
            <a:endParaRPr lang="en-US" sz="1400"/>
          </a:p>
          <a:p>
            <a:pPr marL="285750" indent="-285750">
              <a:buFont typeface="Arial" panose="020B0604020202020204" pitchFamily="34" charset="0"/>
              <a:buChar char="•"/>
            </a:pPr>
            <a:r>
              <a:rPr lang="en-US" sz="1400">
                <a:hlinkClick r:id="rId3"/>
              </a:rPr>
              <a:t>https://github.com/diem/diem</a:t>
            </a:r>
            <a:endParaRPr lang="en-US" sz="1400"/>
          </a:p>
        </p:txBody>
      </p:sp>
      <p:pic>
        <p:nvPicPr>
          <p:cNvPr id="4" name="Picture 3">
            <a:extLst>
              <a:ext uri="{FF2B5EF4-FFF2-40B4-BE49-F238E27FC236}">
                <a16:creationId xmlns:a16="http://schemas.microsoft.com/office/drawing/2014/main" id="{3F76FF34-04B9-73CF-ADD0-86D9164CD9D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244397" y="70832"/>
            <a:ext cx="2849078" cy="808522"/>
          </a:xfrm>
          <a:prstGeom prst="rect">
            <a:avLst/>
          </a:prstGeom>
        </p:spPr>
      </p:pic>
      <p:pic>
        <p:nvPicPr>
          <p:cNvPr id="5" name="Picture 4">
            <a:extLst>
              <a:ext uri="{FF2B5EF4-FFF2-40B4-BE49-F238E27FC236}">
                <a16:creationId xmlns:a16="http://schemas.microsoft.com/office/drawing/2014/main" id="{AAC260F1-64B7-2E7F-8A73-F185AC5471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506" y="1617044"/>
            <a:ext cx="1505660" cy="1609174"/>
          </a:xfrm>
          <a:prstGeom prst="rect">
            <a:avLst/>
          </a:prstGeom>
        </p:spPr>
      </p:pic>
      <p:sp>
        <p:nvSpPr>
          <p:cNvPr id="6" name="TextBox 5">
            <a:extLst>
              <a:ext uri="{FF2B5EF4-FFF2-40B4-BE49-F238E27FC236}">
                <a16:creationId xmlns:a16="http://schemas.microsoft.com/office/drawing/2014/main" id="{C5CB8636-88B1-8796-8A0A-51FB860A068B}"/>
              </a:ext>
            </a:extLst>
          </p:cNvPr>
          <p:cNvSpPr txBox="1"/>
          <p:nvPr/>
        </p:nvSpPr>
        <p:spPr>
          <a:xfrm>
            <a:off x="9911506" y="3226218"/>
            <a:ext cx="1505660" cy="307777"/>
          </a:xfrm>
          <a:prstGeom prst="rect">
            <a:avLst/>
          </a:prstGeom>
          <a:noFill/>
        </p:spPr>
        <p:txBody>
          <a:bodyPr wrap="square" rtlCol="0">
            <a:spAutoFit/>
          </a:bodyPr>
          <a:lstStyle/>
          <a:p>
            <a:pPr algn="ctr"/>
            <a:r>
              <a:rPr lang="en-US" sz="1400"/>
              <a:t>David Marcus</a:t>
            </a:r>
          </a:p>
        </p:txBody>
      </p:sp>
    </p:spTree>
    <p:extLst>
      <p:ext uri="{BB962C8B-B14F-4D97-AF65-F5344CB8AC3E}">
        <p14:creationId xmlns:p14="http://schemas.microsoft.com/office/powerpoint/2010/main" val="1915040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D9ACD2-DA9B-89F3-1E66-A75227A967FF}"/>
              </a:ext>
            </a:extLst>
          </p:cNvPr>
          <p:cNvSpPr txBox="1"/>
          <p:nvPr/>
        </p:nvSpPr>
        <p:spPr>
          <a:xfrm>
            <a:off x="2264258" y="1913789"/>
            <a:ext cx="7508311" cy="2862322"/>
          </a:xfrm>
          <a:prstGeom prst="rect">
            <a:avLst/>
          </a:prstGeom>
          <a:noFill/>
        </p:spPr>
        <p:txBody>
          <a:bodyPr wrap="square" rtlCol="0">
            <a:spAutoFit/>
          </a:bodyPr>
          <a:lstStyle/>
          <a:p>
            <a:pPr marL="285750" indent="-285750">
              <a:buFont typeface="Arial" panose="020B0604020202020204" pitchFamily="34" charset="0"/>
              <a:buChar char="•"/>
            </a:pPr>
            <a:r>
              <a:rPr lang="en-US"/>
              <a:t>In September 2020, Waves.Exchange launched decentralized forex (DeFo). </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There are at least 10 stablecoins on the platform, including for the US dollar, British pound, Turkish lira, and Brazilian real.</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Unlike traditional forex that opens on specified market hours and can take a while to settle transactions, Waves.Exchange’s platform is open 24/7 and promises instant swaps.</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34K users, $1B cap (May 2022)</a:t>
            </a:r>
          </a:p>
        </p:txBody>
      </p:sp>
      <p:sp>
        <p:nvSpPr>
          <p:cNvPr id="3" name="TextBox 2">
            <a:extLst>
              <a:ext uri="{FF2B5EF4-FFF2-40B4-BE49-F238E27FC236}">
                <a16:creationId xmlns:a16="http://schemas.microsoft.com/office/drawing/2014/main" id="{78AC54E7-914D-6EBA-277B-68C7D6BAAFAE}"/>
              </a:ext>
            </a:extLst>
          </p:cNvPr>
          <p:cNvSpPr txBox="1"/>
          <p:nvPr/>
        </p:nvSpPr>
        <p:spPr>
          <a:xfrm>
            <a:off x="0" y="0"/>
            <a:ext cx="6018414" cy="523220"/>
          </a:xfrm>
          <a:prstGeom prst="rect">
            <a:avLst/>
          </a:prstGeom>
          <a:noFill/>
        </p:spPr>
        <p:txBody>
          <a:bodyPr wrap="square" rtlCol="0">
            <a:spAutoFit/>
          </a:bodyPr>
          <a:lstStyle/>
          <a:p>
            <a:r>
              <a:rPr lang="en-US" sz="2800" b="1"/>
              <a:t>DECENTRALIZED FOREX</a:t>
            </a:r>
          </a:p>
        </p:txBody>
      </p:sp>
      <p:sp>
        <p:nvSpPr>
          <p:cNvPr id="4" name="TextBox 3">
            <a:extLst>
              <a:ext uri="{FF2B5EF4-FFF2-40B4-BE49-F238E27FC236}">
                <a16:creationId xmlns:a16="http://schemas.microsoft.com/office/drawing/2014/main" id="{91776792-1AA8-B9E3-D80E-B11EF9F41FE3}"/>
              </a:ext>
            </a:extLst>
          </p:cNvPr>
          <p:cNvSpPr txBox="1"/>
          <p:nvPr/>
        </p:nvSpPr>
        <p:spPr>
          <a:xfrm>
            <a:off x="101245" y="569391"/>
            <a:ext cx="4421328" cy="52322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https://waves.exchange</a:t>
            </a:r>
            <a:endParaRPr lang="en-US" sz="1400"/>
          </a:p>
          <a:p>
            <a:pPr marL="285750" indent="-285750">
              <a:buFont typeface="Arial" panose="020B0604020202020204" pitchFamily="34" charset="0"/>
              <a:buChar char="•"/>
            </a:pPr>
            <a:r>
              <a:rPr lang="en-US" sz="1400">
                <a:hlinkClick r:id="rId3"/>
              </a:rPr>
              <a:t>https://www.kraken.com/en-us/learn/what-is-waves</a:t>
            </a:r>
            <a:endParaRPr lang="en-US" sz="1400"/>
          </a:p>
        </p:txBody>
      </p:sp>
      <p:pic>
        <p:nvPicPr>
          <p:cNvPr id="5" name="Picture 4">
            <a:extLst>
              <a:ext uri="{FF2B5EF4-FFF2-40B4-BE49-F238E27FC236}">
                <a16:creationId xmlns:a16="http://schemas.microsoft.com/office/drawing/2014/main" id="{87744735-63B9-5986-B79A-418F2C1860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945393" y="183900"/>
            <a:ext cx="4146035" cy="819040"/>
          </a:xfrm>
          <a:prstGeom prst="rect">
            <a:avLst/>
          </a:prstGeom>
        </p:spPr>
      </p:pic>
    </p:spTree>
    <p:extLst>
      <p:ext uri="{BB962C8B-B14F-4D97-AF65-F5344CB8AC3E}">
        <p14:creationId xmlns:p14="http://schemas.microsoft.com/office/powerpoint/2010/main" val="734906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23E210-D77F-4901-2585-28375EA920F5}"/>
              </a:ext>
            </a:extLst>
          </p:cNvPr>
          <p:cNvSpPr txBox="1"/>
          <p:nvPr/>
        </p:nvSpPr>
        <p:spPr>
          <a:xfrm>
            <a:off x="2206472" y="1228397"/>
            <a:ext cx="7089928" cy="4401205"/>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Most stablecoins are not transparent or regulated. Regular audits may help.</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Fiat-backed stablecoins (like Tether) are centralized, meaning they are run by a single entity. If the underlying fiat currency plummets, it would be disastrous for that stablecoin as well.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Possible solution - peg it to a basket of securities, like Facebook Libra was planning. But it has received so much regulatory resistance, that the project still not working.</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By nature of being more regulated, stablecoins may also have less liquidity than regular cryptocurrencies. This is especially true for commodity-backed stablecoins.</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vulnerable to price instability of the collateral.  In the event of a price crash, they will be auto-liquidated into the underlying crypto asset.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difficult to understand, which introduces a much higher risk for people holding them to face unexpected events.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Stablecoins face pushback from local governments. For instance, in a country with high inflation rates, the government may look to block stablecoins pegged to foreign currencies in order to protect demand for the local currency.</a:t>
            </a:r>
          </a:p>
        </p:txBody>
      </p:sp>
      <p:sp>
        <p:nvSpPr>
          <p:cNvPr id="3" name="TextBox 2">
            <a:extLst>
              <a:ext uri="{FF2B5EF4-FFF2-40B4-BE49-F238E27FC236}">
                <a16:creationId xmlns:a16="http://schemas.microsoft.com/office/drawing/2014/main" id="{473B332F-5DD1-B8DA-1F25-BCE5E9BB3FBF}"/>
              </a:ext>
            </a:extLst>
          </p:cNvPr>
          <p:cNvSpPr txBox="1"/>
          <p:nvPr/>
        </p:nvSpPr>
        <p:spPr>
          <a:xfrm>
            <a:off x="0" y="0"/>
            <a:ext cx="5978769" cy="523220"/>
          </a:xfrm>
          <a:prstGeom prst="rect">
            <a:avLst/>
          </a:prstGeom>
          <a:noFill/>
        </p:spPr>
        <p:txBody>
          <a:bodyPr wrap="square" rtlCol="0">
            <a:spAutoFit/>
          </a:bodyPr>
          <a:lstStyle/>
          <a:p>
            <a:r>
              <a:rPr lang="en-US" sz="2800" b="1"/>
              <a:t>Limitations of Stablecoins</a:t>
            </a:r>
          </a:p>
        </p:txBody>
      </p:sp>
    </p:spTree>
    <p:extLst>
      <p:ext uri="{BB962C8B-B14F-4D97-AF65-F5344CB8AC3E}">
        <p14:creationId xmlns:p14="http://schemas.microsoft.com/office/powerpoint/2010/main" val="16997059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370FDF-F865-E42E-39EA-05C6D7186AD3}"/>
              </a:ext>
            </a:extLst>
          </p:cNvPr>
          <p:cNvSpPr txBox="1"/>
          <p:nvPr/>
        </p:nvSpPr>
        <p:spPr>
          <a:xfrm>
            <a:off x="2303116" y="589200"/>
            <a:ext cx="7432430" cy="6124754"/>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Risk of </a:t>
            </a:r>
            <a:r>
              <a:rPr lang="en-US" sz="1400" b="1">
                <a:solidFill>
                  <a:srgbClr val="00B050"/>
                </a:solidFill>
              </a:rPr>
              <a:t>monopoly of one "large" coin</a:t>
            </a:r>
            <a:r>
              <a:rPr lang="en-US" sz="1400"/>
              <a:t>. For example, Tether's has 50+ % market share. </a:t>
            </a:r>
            <a:br>
              <a:rPr lang="en-US" sz="1400"/>
            </a:br>
            <a:r>
              <a:rPr lang="en-US" sz="1400"/>
              <a:t>If Tether fails (because its non-cash investmets lose value),  investors might try to cash out their stablecoins ("run on the bank").</a:t>
            </a:r>
          </a:p>
          <a:p>
            <a:pPr marL="285750" indent="-285750">
              <a:buFont typeface="Arial" panose="020B0604020202020204" pitchFamily="34" charset="0"/>
              <a:buChar char="•"/>
            </a:pPr>
            <a:r>
              <a:rPr lang="en-US" sz="1400"/>
              <a:t>Risk of </a:t>
            </a:r>
            <a:r>
              <a:rPr lang="en-US" sz="1400" b="1">
                <a:solidFill>
                  <a:srgbClr val="00B050"/>
                </a:solidFill>
              </a:rPr>
              <a:t>not having enough bandwidth</a:t>
            </a:r>
            <a:r>
              <a:rPr lang="en-US" sz="1400"/>
              <a:t> to handle millions of transactions with stablecoins.</a:t>
            </a:r>
          </a:p>
          <a:p>
            <a:pPr marL="285750" indent="-285750">
              <a:buFont typeface="Arial" panose="020B0604020202020204" pitchFamily="34" charset="0"/>
              <a:buChar char="•"/>
            </a:pPr>
            <a:r>
              <a:rPr lang="en-US" sz="1400"/>
              <a:t>Risk of increased </a:t>
            </a:r>
            <a:r>
              <a:rPr lang="en-US" sz="1400" b="1">
                <a:solidFill>
                  <a:srgbClr val="00B050"/>
                </a:solidFill>
              </a:rPr>
              <a:t>speculations, market manipulation, insider trading, and front running</a:t>
            </a:r>
            <a:r>
              <a:rPr lang="en-US" sz="1400"/>
              <a:t>. For instance, coin holders could speculate on an issuer’s intention to change or rebalance its portfolio of reserve assets. The holders might buy and sell different assets while also making stablecoin purchases or redemptions in order to front-run their purchases.</a:t>
            </a:r>
          </a:p>
          <a:p>
            <a:pPr marL="285750" indent="-285750">
              <a:buFont typeface="Arial" panose="020B0604020202020204" pitchFamily="34" charset="0"/>
              <a:buChar char="•"/>
            </a:pPr>
            <a:r>
              <a:rPr lang="en-US" sz="1400"/>
              <a:t>A </a:t>
            </a:r>
            <a:r>
              <a:rPr lang="en-US" sz="1400" b="1">
                <a:solidFill>
                  <a:srgbClr val="00B050"/>
                </a:solidFill>
              </a:rPr>
              <a:t>conflict of interest</a:t>
            </a:r>
            <a:r>
              <a:rPr lang="en-US" sz="1400"/>
              <a:t> could arise when the stablecoin issuer also plays other closely related roles, such as operating a custodial wallet or owning an e-commerce platform that disproportionately incentivizes the use of their own coin.</a:t>
            </a:r>
          </a:p>
          <a:p>
            <a:pPr marL="285750" indent="-285750">
              <a:buFont typeface="Arial" panose="020B0604020202020204" pitchFamily="34" charset="0"/>
              <a:buChar char="•"/>
            </a:pPr>
            <a:r>
              <a:rPr lang="en-US" sz="1400"/>
              <a:t>There is also a </a:t>
            </a:r>
            <a:r>
              <a:rPr lang="en-US" sz="1400" b="1">
                <a:solidFill>
                  <a:srgbClr val="00B050"/>
                </a:solidFill>
              </a:rPr>
              <a:t>lack of clarity and transparency</a:t>
            </a:r>
            <a:r>
              <a:rPr lang="en-US" sz="1400"/>
              <a:t> on how the prices of some stablecoins are determined. In the aftermath of Black Thursday, MakerDAO users claimed they were told they would take only up to a 13% haircut in a liquidation event. However, many users completely lost their holdings.</a:t>
            </a:r>
          </a:p>
          <a:p>
            <a:pPr marL="285750" indent="-285750">
              <a:buFont typeface="Arial" panose="020B0604020202020204" pitchFamily="34" charset="0"/>
              <a:buChar char="•"/>
            </a:pPr>
            <a:r>
              <a:rPr lang="en-US" sz="1400"/>
              <a:t>Stablecoins may be misused to break laws on </a:t>
            </a:r>
            <a:r>
              <a:rPr lang="en-US" sz="1400" b="1">
                <a:solidFill>
                  <a:srgbClr val="00B050"/>
                </a:solidFill>
              </a:rPr>
              <a:t>AML (Anti-Money Laundering)</a:t>
            </a:r>
            <a:r>
              <a:rPr lang="en-US" sz="1400"/>
              <a:t> and </a:t>
            </a:r>
            <a:r>
              <a:rPr lang="en-US" sz="1400" b="1">
                <a:solidFill>
                  <a:srgbClr val="00B050"/>
                </a:solidFill>
              </a:rPr>
              <a:t>CFT (Countering the Financing of Terrorism)</a:t>
            </a:r>
            <a:r>
              <a:rPr lang="en-US" sz="1400"/>
              <a:t>. They may also help enable other illicit activities (scams, darknet market, ransomware).</a:t>
            </a:r>
          </a:p>
          <a:p>
            <a:pPr marL="285750" indent="-285750">
              <a:buFont typeface="Arial" panose="020B0604020202020204" pitchFamily="34" charset="0"/>
              <a:buChar char="•"/>
            </a:pPr>
            <a:r>
              <a:rPr lang="en-US" sz="1400"/>
              <a:t>Contributing factors – no global standards for stablecoin providers, the uneven implementation of </a:t>
            </a:r>
            <a:r>
              <a:rPr lang="en-US" sz="1400" b="1">
                <a:solidFill>
                  <a:srgbClr val="00B050"/>
                </a:solidFill>
              </a:rPr>
              <a:t>AML/CFT standards</a:t>
            </a:r>
            <a:r>
              <a:rPr lang="en-US" sz="1400"/>
              <a:t> among different countries, and the potential for anonymity when transacting in stablecoin.</a:t>
            </a:r>
          </a:p>
          <a:p>
            <a:pPr marL="285750" indent="-285750">
              <a:buFont typeface="Arial" panose="020B0604020202020204" pitchFamily="34" charset="0"/>
              <a:buChar char="•"/>
            </a:pPr>
            <a:r>
              <a:rPr lang="en-US" sz="1400"/>
              <a:t>Recommended tighter regulation:</a:t>
            </a:r>
            <a:br>
              <a:rPr lang="en-US" sz="1400"/>
            </a:br>
            <a:r>
              <a:rPr lang="en-US" sz="1400"/>
              <a:t>.. Requiring stablecoin issuers to be </a:t>
            </a:r>
            <a:r>
              <a:rPr lang="en-US" sz="1400" b="1">
                <a:solidFill>
                  <a:srgbClr val="00B050"/>
                </a:solidFill>
              </a:rPr>
              <a:t>insured depository institutions</a:t>
            </a:r>
            <a:br>
              <a:rPr lang="en-US" sz="1400"/>
            </a:br>
            <a:r>
              <a:rPr lang="en-US" sz="1400"/>
              <a:t>.. Requiring </a:t>
            </a:r>
            <a:r>
              <a:rPr lang="en-US" sz="1400" b="1">
                <a:solidFill>
                  <a:srgbClr val="00B050"/>
                </a:solidFill>
              </a:rPr>
              <a:t>custodial wallet providers</a:t>
            </a:r>
            <a:r>
              <a:rPr lang="en-US" sz="1400"/>
              <a:t> to be subject to “</a:t>
            </a:r>
            <a:r>
              <a:rPr lang="en-US" sz="1400" b="1">
                <a:solidFill>
                  <a:srgbClr val="00B050"/>
                </a:solidFill>
              </a:rPr>
              <a:t>appropriate federal oversight</a:t>
            </a:r>
            <a:r>
              <a:rPr lang="en-US" sz="1400"/>
              <a:t>”</a:t>
            </a:r>
            <a:br>
              <a:rPr lang="en-US" sz="1400"/>
            </a:br>
            <a:r>
              <a:rPr lang="en-US" sz="1400"/>
              <a:t>.. Requiring the implementation of </a:t>
            </a:r>
            <a:r>
              <a:rPr lang="en-US" sz="1400" b="1">
                <a:solidFill>
                  <a:srgbClr val="00B050"/>
                </a:solidFill>
              </a:rPr>
              <a:t>interoperability standards</a:t>
            </a:r>
            <a:r>
              <a:rPr lang="en-US" sz="1400"/>
              <a:t> among stablecoins</a:t>
            </a:r>
            <a:br>
              <a:rPr lang="en-US" sz="1400"/>
            </a:br>
            <a:r>
              <a:rPr lang="en-US" sz="1400"/>
              <a:t>.. Additional consumer protection requirements</a:t>
            </a:r>
            <a:br>
              <a:rPr lang="en-US" sz="1400"/>
            </a:br>
            <a:r>
              <a:rPr lang="en-US" sz="1400"/>
              <a:t>.. Tax reporting</a:t>
            </a:r>
            <a:br>
              <a:rPr lang="en-US" sz="1400"/>
            </a:br>
            <a:r>
              <a:rPr lang="en-US" sz="1400"/>
              <a:t>.. Adhere to international </a:t>
            </a:r>
            <a:r>
              <a:rPr lang="en-US" sz="1400" b="1">
                <a:solidFill>
                  <a:srgbClr val="00B050"/>
                </a:solidFill>
              </a:rPr>
              <a:t>standards for payment, clearing, and settlement systems</a:t>
            </a:r>
          </a:p>
        </p:txBody>
      </p:sp>
      <p:sp>
        <p:nvSpPr>
          <p:cNvPr id="3" name="TextBox 2">
            <a:extLst>
              <a:ext uri="{FF2B5EF4-FFF2-40B4-BE49-F238E27FC236}">
                <a16:creationId xmlns:a16="http://schemas.microsoft.com/office/drawing/2014/main" id="{82EB08D9-3D80-B99D-2967-8F95A78000F8}"/>
              </a:ext>
            </a:extLst>
          </p:cNvPr>
          <p:cNvSpPr txBox="1"/>
          <p:nvPr/>
        </p:nvSpPr>
        <p:spPr>
          <a:xfrm>
            <a:off x="0" y="0"/>
            <a:ext cx="5650523" cy="523220"/>
          </a:xfrm>
          <a:prstGeom prst="rect">
            <a:avLst/>
          </a:prstGeom>
          <a:noFill/>
        </p:spPr>
        <p:txBody>
          <a:bodyPr wrap="square" rtlCol="0">
            <a:spAutoFit/>
          </a:bodyPr>
          <a:lstStyle/>
          <a:p>
            <a:r>
              <a:rPr lang="en-US" sz="2800" b="1"/>
              <a:t>Stablecoins - Risks and Regulations</a:t>
            </a:r>
          </a:p>
        </p:txBody>
      </p:sp>
    </p:spTree>
    <p:extLst>
      <p:ext uri="{BB962C8B-B14F-4D97-AF65-F5344CB8AC3E}">
        <p14:creationId xmlns:p14="http://schemas.microsoft.com/office/powerpoint/2010/main" val="32376376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610843-547C-A4A2-ECB6-D54E2EC7DBCF}"/>
              </a:ext>
            </a:extLst>
          </p:cNvPr>
          <p:cNvSpPr txBox="1"/>
          <p:nvPr/>
        </p:nvSpPr>
        <p:spPr>
          <a:xfrm>
            <a:off x="101600" y="90311"/>
            <a:ext cx="3122047" cy="523220"/>
          </a:xfrm>
          <a:prstGeom prst="rect">
            <a:avLst/>
          </a:prstGeom>
          <a:noFill/>
        </p:spPr>
        <p:txBody>
          <a:bodyPr wrap="square" rtlCol="0">
            <a:spAutoFit/>
          </a:bodyPr>
          <a:lstStyle/>
          <a:p>
            <a:r>
              <a:rPr lang="en-US" sz="2800" b="1"/>
              <a:t>TerraUSD / UST</a:t>
            </a:r>
          </a:p>
        </p:txBody>
      </p:sp>
      <p:sp>
        <p:nvSpPr>
          <p:cNvPr id="4" name="TextBox 3">
            <a:extLst>
              <a:ext uri="{FF2B5EF4-FFF2-40B4-BE49-F238E27FC236}">
                <a16:creationId xmlns:a16="http://schemas.microsoft.com/office/drawing/2014/main" id="{00AA84FD-7CE7-F57E-48E4-FD6F786BBEBE}"/>
              </a:ext>
            </a:extLst>
          </p:cNvPr>
          <p:cNvSpPr txBox="1"/>
          <p:nvPr/>
        </p:nvSpPr>
        <p:spPr>
          <a:xfrm>
            <a:off x="203200" y="812799"/>
            <a:ext cx="6383580" cy="2031325"/>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UST (terraUSD) is an algorithmic stablecoin</a:t>
            </a:r>
          </a:p>
          <a:p>
            <a:pPr marL="285750" indent="-285750">
              <a:buFont typeface="Arial" panose="020B0604020202020204" pitchFamily="34" charset="0"/>
              <a:buChar char="•"/>
            </a:pPr>
            <a:r>
              <a:rPr lang="en-US" sz="1400"/>
              <a:t>developed by Singapore-based Terraform Labs</a:t>
            </a:r>
          </a:p>
          <a:p>
            <a:pPr marL="285750" indent="-285750">
              <a:buFont typeface="Arial" panose="020B0604020202020204" pitchFamily="34" charset="0"/>
              <a:buChar char="•"/>
            </a:pPr>
            <a:r>
              <a:rPr lang="en-US" sz="1400"/>
              <a:t>pegged to $1 USD – but without any actual cash reserve</a:t>
            </a:r>
          </a:p>
          <a:p>
            <a:pPr marL="285750" indent="-285750">
              <a:buFont typeface="Arial" panose="020B0604020202020204" pitchFamily="34" charset="0"/>
              <a:buChar char="•"/>
            </a:pPr>
            <a:r>
              <a:rPr lang="en-US" sz="1400"/>
              <a:t>UST is created by destroying a sister token, known as </a:t>
            </a:r>
            <a:r>
              <a:rPr lang="en-US" sz="1400" b="1">
                <a:solidFill>
                  <a:srgbClr val="FF0000"/>
                </a:solidFill>
              </a:rPr>
              <a:t>Luna</a:t>
            </a:r>
            <a:r>
              <a:rPr lang="en-US" sz="1400"/>
              <a:t>, using smart contracts. And vice versa — new </a:t>
            </a:r>
            <a:r>
              <a:rPr lang="en-US" sz="1400" b="1">
                <a:solidFill>
                  <a:srgbClr val="FF0000"/>
                </a:solidFill>
              </a:rPr>
              <a:t>Luna</a:t>
            </a:r>
            <a:r>
              <a:rPr lang="en-US" sz="1400"/>
              <a:t> is minted by burning UST and other algorithmic stablecoins that Terra supports.</a:t>
            </a:r>
          </a:p>
          <a:p>
            <a:pPr marL="285750" indent="-285750">
              <a:buFont typeface="Arial" panose="020B0604020202020204" pitchFamily="34" charset="0"/>
              <a:buChar char="•"/>
            </a:pPr>
            <a:r>
              <a:rPr lang="en-US" sz="1400"/>
              <a:t>Market Cap ~$18+ Bln</a:t>
            </a:r>
          </a:p>
          <a:p>
            <a:pPr marL="285750" indent="-285750">
              <a:buFont typeface="Arial" panose="020B0604020202020204" pitchFamily="34" charset="0"/>
              <a:buChar char="•"/>
            </a:pPr>
            <a:r>
              <a:rPr lang="en-US" sz="1400"/>
              <a:t>May 10, 2022 - Crypto project Terra is buying billions in bitcoin to support UST</a:t>
            </a:r>
          </a:p>
          <a:p>
            <a:pPr marL="285750" indent="-285750">
              <a:buFont typeface="Arial" panose="020B0604020202020204" pitchFamily="34" charset="0"/>
              <a:buChar char="•"/>
            </a:pPr>
            <a:r>
              <a:rPr lang="en-US" sz="1400"/>
              <a:t>may 13 – the price dropped to $0.16, and the network was halted.</a:t>
            </a:r>
          </a:p>
        </p:txBody>
      </p:sp>
      <p:pic>
        <p:nvPicPr>
          <p:cNvPr id="5" name="Picture 4">
            <a:extLst>
              <a:ext uri="{FF2B5EF4-FFF2-40B4-BE49-F238E27FC236}">
                <a16:creationId xmlns:a16="http://schemas.microsoft.com/office/drawing/2014/main" id="{C32885DD-B18D-DCE3-17DB-52276A8EA45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307046" y="90311"/>
            <a:ext cx="1783353" cy="1738489"/>
          </a:xfrm>
          <a:prstGeom prst="rect">
            <a:avLst/>
          </a:prstGeom>
        </p:spPr>
      </p:pic>
      <p:sp>
        <p:nvSpPr>
          <p:cNvPr id="7" name="TextBox 6">
            <a:extLst>
              <a:ext uri="{FF2B5EF4-FFF2-40B4-BE49-F238E27FC236}">
                <a16:creationId xmlns:a16="http://schemas.microsoft.com/office/drawing/2014/main" id="{EBEE5E72-7519-80AE-CFB8-B83522934525}"/>
              </a:ext>
            </a:extLst>
          </p:cNvPr>
          <p:cNvSpPr txBox="1"/>
          <p:nvPr/>
        </p:nvSpPr>
        <p:spPr>
          <a:xfrm>
            <a:off x="4711485" y="3105434"/>
            <a:ext cx="1875295" cy="369332"/>
          </a:xfrm>
          <a:prstGeom prst="rect">
            <a:avLst/>
          </a:prstGeom>
          <a:noFill/>
        </p:spPr>
        <p:txBody>
          <a:bodyPr wrap="square" rtlCol="0">
            <a:spAutoFit/>
          </a:bodyPr>
          <a:lstStyle/>
          <a:p>
            <a:r>
              <a:rPr lang="en-US"/>
              <a:t>May 10-13, 2022</a:t>
            </a:r>
          </a:p>
        </p:txBody>
      </p:sp>
      <p:pic>
        <p:nvPicPr>
          <p:cNvPr id="8" name="Picture 7">
            <a:extLst>
              <a:ext uri="{FF2B5EF4-FFF2-40B4-BE49-F238E27FC236}">
                <a16:creationId xmlns:a16="http://schemas.microsoft.com/office/drawing/2014/main" id="{BF1532D1-14BB-DA2E-5689-AA1A4529DD1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3200" y="3474766"/>
            <a:ext cx="6383580" cy="3129234"/>
          </a:xfrm>
          <a:prstGeom prst="rect">
            <a:avLst/>
          </a:prstGeom>
        </p:spPr>
      </p:pic>
      <p:sp>
        <p:nvSpPr>
          <p:cNvPr id="9" name="TextBox 8">
            <a:extLst>
              <a:ext uri="{FF2B5EF4-FFF2-40B4-BE49-F238E27FC236}">
                <a16:creationId xmlns:a16="http://schemas.microsoft.com/office/drawing/2014/main" id="{51A54925-25C7-E8BE-30FC-B8BA4ADC1296}"/>
              </a:ext>
            </a:extLst>
          </p:cNvPr>
          <p:cNvSpPr txBox="1"/>
          <p:nvPr/>
        </p:nvSpPr>
        <p:spPr>
          <a:xfrm>
            <a:off x="7162800" y="3274875"/>
            <a:ext cx="4648200" cy="1384995"/>
          </a:xfrm>
          <a:prstGeom prst="rect">
            <a:avLst/>
          </a:prstGeom>
          <a:solidFill>
            <a:schemeClr val="accent4">
              <a:lumMod val="20000"/>
              <a:lumOff val="80000"/>
            </a:schemeClr>
          </a:solidFill>
        </p:spPr>
        <p:txBody>
          <a:bodyPr wrap="square" rtlCol="0">
            <a:spAutoFit/>
          </a:bodyPr>
          <a:lstStyle/>
          <a:p>
            <a:r>
              <a:rPr lang="en-US" sz="1400"/>
              <a:t>TerraUSD is (was?) one of the largest player in Stable Coin group with market cap $18.4 Bln.</a:t>
            </a:r>
            <a:br>
              <a:rPr lang="en-US" sz="1400"/>
            </a:br>
            <a:br>
              <a:rPr lang="en-US" sz="1400"/>
            </a:br>
            <a:r>
              <a:rPr lang="en-US" sz="1400"/>
              <a:t>It was supposed to be a stable coin with $1.00 price. Its price went down to $0.16. (16 cents) !! Then The network was halted (May 13, 2022)</a:t>
            </a:r>
          </a:p>
        </p:txBody>
      </p:sp>
    </p:spTree>
    <p:extLst>
      <p:ext uri="{BB962C8B-B14F-4D97-AF65-F5344CB8AC3E}">
        <p14:creationId xmlns:p14="http://schemas.microsoft.com/office/powerpoint/2010/main" val="414858111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2722</TotalTime>
  <Words>4790</Words>
  <Application>Microsoft Macintosh PowerPoint</Application>
  <PresentationFormat>Widescreen</PresentationFormat>
  <Paragraphs>374</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227</cp:revision>
  <dcterms:modified xsi:type="dcterms:W3CDTF">2022-05-13T20:32:41Z</dcterms:modified>
</cp:coreProperties>
</file>