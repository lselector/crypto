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9"/>
  </p:notesMasterIdLst>
  <p:sldIdLst>
    <p:sldId id="274" r:id="rId2"/>
    <p:sldId id="309" r:id="rId3"/>
    <p:sldId id="310" r:id="rId4"/>
    <p:sldId id="311" r:id="rId5"/>
    <p:sldId id="312" r:id="rId6"/>
    <p:sldId id="307" r:id="rId7"/>
    <p:sldId id="308"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212"/>
    <p:restoredTop sz="92290"/>
  </p:normalViewPr>
  <p:slideViewPr>
    <p:cSldViewPr snapToGrid="0" snapToObjects="1">
      <p:cViewPr varScale="1">
        <p:scale>
          <a:sx n="141" d="100"/>
          <a:sy n="141" d="100"/>
        </p:scale>
        <p:origin x="4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5/3/22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5/3/22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5/3/22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5/3/22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5/3/22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5/3/22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5/3/22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5/3/22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cointelegraph.com/explained/how-stablecoins-stay-stable-explained"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1.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 Coins</a:t>
            </a:r>
          </a:p>
        </p:txBody>
      </p:sp>
      <p:sp>
        <p:nvSpPr>
          <p:cNvPr id="3" name="TextBox 2">
            <a:extLst>
              <a:ext uri="{FF2B5EF4-FFF2-40B4-BE49-F238E27FC236}">
                <a16:creationId xmlns:a16="http://schemas.microsoft.com/office/drawing/2014/main" id="{CAB42B4C-7414-E84D-94A1-4CA7C8107427}"/>
              </a:ext>
            </a:extLst>
          </p:cNvPr>
          <p:cNvSpPr txBox="1"/>
          <p:nvPr/>
        </p:nvSpPr>
        <p:spPr>
          <a:xfrm>
            <a:off x="0" y="589081"/>
            <a:ext cx="5429251" cy="307777"/>
          </a:xfrm>
          <a:prstGeom prst="rect">
            <a:avLst/>
          </a:prstGeom>
          <a:noFill/>
        </p:spPr>
        <p:txBody>
          <a:bodyPr wrap="square" rtlCol="0">
            <a:spAutoFit/>
          </a:bodyPr>
          <a:lstStyle/>
          <a:p>
            <a:r>
              <a:rPr lang="en-US" sz="1400"/>
              <a:t> - </a:t>
            </a:r>
            <a:r>
              <a:rPr lang="en-US" sz="1400">
                <a:hlinkClick r:id="rId2"/>
              </a:rPr>
              <a:t>https://www.investopedia.com/terms/s/stablecoin.asp</a:t>
            </a:r>
            <a:r>
              <a:rPr lang="en-US" sz="1400"/>
              <a:t> - </a:t>
            </a:r>
          </a:p>
        </p:txBody>
      </p:sp>
      <p:sp>
        <p:nvSpPr>
          <p:cNvPr id="4" name="TextBox 3">
            <a:extLst>
              <a:ext uri="{FF2B5EF4-FFF2-40B4-BE49-F238E27FC236}">
                <a16:creationId xmlns:a16="http://schemas.microsoft.com/office/drawing/2014/main" id="{FA556A85-2EDA-6C4A-92BE-5A12AF9C0929}"/>
              </a:ext>
            </a:extLst>
          </p:cNvPr>
          <p:cNvSpPr txBox="1"/>
          <p:nvPr/>
        </p:nvSpPr>
        <p:spPr>
          <a:xfrm>
            <a:off x="142874" y="3712250"/>
            <a:ext cx="4057651" cy="2031325"/>
          </a:xfrm>
          <a:prstGeom prst="rect">
            <a:avLst/>
          </a:prstGeom>
          <a:noFill/>
        </p:spPr>
        <p:txBody>
          <a:bodyPr wrap="square" rtlCol="0">
            <a:spAutoFit/>
          </a:bodyPr>
          <a:lstStyle/>
          <a:p>
            <a:r>
              <a:rPr lang="en-US" sz="1400" b="1">
                <a:solidFill>
                  <a:srgbClr val="00B050"/>
                </a:solidFill>
              </a:rPr>
              <a:t>Stablecoins</a:t>
            </a:r>
            <a:r>
              <a:rPr lang="en-US" sz="1400"/>
              <a:t> are </a:t>
            </a:r>
            <a:r>
              <a:rPr lang="en-US" sz="1400" b="1">
                <a:solidFill>
                  <a:srgbClr val="FF0000"/>
                </a:solidFill>
              </a:rPr>
              <a:t>cryptocurrencies</a:t>
            </a:r>
            <a:r>
              <a:rPr lang="en-US" sz="1400"/>
              <a:t> </a:t>
            </a:r>
          </a:p>
          <a:p>
            <a:r>
              <a:rPr lang="en-US" sz="1400"/>
              <a:t>that attempt to peg their market value </a:t>
            </a:r>
          </a:p>
          <a:p>
            <a:r>
              <a:rPr lang="en-US" sz="1400"/>
              <a:t>to something external, like a currency (USD), </a:t>
            </a:r>
          </a:p>
          <a:p>
            <a:r>
              <a:rPr lang="en-US" sz="1400"/>
              <a:t>or commodity's price (gold), etc.</a:t>
            </a:r>
          </a:p>
          <a:p>
            <a:endParaRPr lang="en-US" sz="1400"/>
          </a:p>
          <a:p>
            <a:r>
              <a:rPr lang="en-US" sz="1400" b="1">
                <a:solidFill>
                  <a:srgbClr val="00B050"/>
                </a:solidFill>
              </a:rPr>
              <a:t>Stablecoins</a:t>
            </a:r>
            <a:r>
              <a:rPr lang="en-US" sz="1400"/>
              <a:t> achieve their price stability via </a:t>
            </a:r>
          </a:p>
          <a:p>
            <a:r>
              <a:rPr lang="en-US" sz="1400"/>
              <a:t>either collateralization (backing) </a:t>
            </a:r>
          </a:p>
          <a:p>
            <a:r>
              <a:rPr lang="en-US" sz="1400"/>
              <a:t>or through algorithmic mechanisms of buying </a:t>
            </a:r>
          </a:p>
          <a:p>
            <a:r>
              <a:rPr lang="en-US" sz="1400"/>
              <a:t>and selling the reference asset or its derivatives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3535208547"/>
              </p:ext>
            </p:extLst>
          </p:nvPr>
        </p:nvGraphicFramePr>
        <p:xfrm>
          <a:off x="6717838" y="1497256"/>
          <a:ext cx="4182533" cy="2133600"/>
        </p:xfrm>
        <a:graphic>
          <a:graphicData uri="http://schemas.openxmlformats.org/drawingml/2006/table">
            <a:tbl>
              <a:tblPr>
                <a:tableStyleId>{E8B1032C-EA38-4F05-BA0D-38AFFFC7BED3}</a:tableStyleId>
              </a:tblPr>
              <a:tblGrid>
                <a:gridCol w="1771851">
                  <a:extLst>
                    <a:ext uri="{9D8B030D-6E8A-4147-A177-3AD203B41FA5}">
                      <a16:colId xmlns:a16="http://schemas.microsoft.com/office/drawing/2014/main" val="2982074288"/>
                    </a:ext>
                  </a:extLst>
                </a:gridCol>
                <a:gridCol w="1205341">
                  <a:extLst>
                    <a:ext uri="{9D8B030D-6E8A-4147-A177-3AD203B41FA5}">
                      <a16:colId xmlns:a16="http://schemas.microsoft.com/office/drawing/2014/main" val="1493870040"/>
                    </a:ext>
                  </a:extLst>
                </a:gridCol>
                <a:gridCol w="1205341">
                  <a:extLst>
                    <a:ext uri="{9D8B030D-6E8A-4147-A177-3AD203B41FA5}">
                      <a16:colId xmlns:a16="http://schemas.microsoft.com/office/drawing/2014/main" val="1003406525"/>
                    </a:ext>
                  </a:extLst>
                </a:gridCol>
              </a:tblGrid>
              <a:tr h="304800">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b"/>
                </a:tc>
                <a:tc>
                  <a:txBody>
                    <a:bodyPr/>
                    <a:lstStyle/>
                    <a:p>
                      <a:pPr algn="l" fontAlgn="b"/>
                      <a:r>
                        <a:rPr lang="en-US" sz="1400" b="1" u="none" strike="noStrike">
                          <a:solidFill>
                            <a:srgbClr val="FF0000"/>
                          </a:solidFill>
                          <a:effectLst/>
                        </a:rPr>
                        <a:t>Market value</a:t>
                      </a:r>
                    </a:p>
                  </a:txBody>
                  <a:tcPr marL="12700" marR="12700" marT="12700" marB="0" anchor="b"/>
                </a:tc>
                <a:tc>
                  <a:txBody>
                    <a:bodyPr/>
                    <a:lstStyle/>
                    <a:p>
                      <a:pPr algn="l" fontAlgn="b"/>
                      <a:r>
                        <a:rPr lang="en-US" sz="1400" b="1" u="none" strike="noStrike">
                          <a:solidFill>
                            <a:srgbClr val="FF0000"/>
                          </a:solidFill>
                          <a:effectLst/>
                        </a:rPr>
                        <a:t>Backed by</a:t>
                      </a:r>
                    </a:p>
                  </a:txBody>
                  <a:tcPr marL="12700" marR="12700" marT="12700" marB="0" anchor="b"/>
                </a:tc>
                <a:extLst>
                  <a:ext uri="{0D108BD9-81ED-4DB2-BD59-A6C34878D82A}">
                    <a16:rowId xmlns:a16="http://schemas.microsoft.com/office/drawing/2014/main" val="3663642749"/>
                  </a:ext>
                </a:extLst>
              </a:tr>
              <a:tr h="30480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$ 73.32 Billion</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b"/>
                </a:tc>
                <a:extLst>
                  <a:ext uri="{0D108BD9-81ED-4DB2-BD59-A6C34878D82A}">
                    <a16:rowId xmlns:a16="http://schemas.microsoft.com/office/drawing/2014/main" val="582522162"/>
                  </a:ext>
                </a:extLst>
              </a:tr>
              <a:tr h="30480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$ 34.35 Billion</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b"/>
                </a:tc>
                <a:extLst>
                  <a:ext uri="{0D108BD9-81ED-4DB2-BD59-A6C34878D82A}">
                    <a16:rowId xmlns:a16="http://schemas.microsoft.com/office/drawing/2014/main" val="2234970906"/>
                  </a:ext>
                </a:extLst>
              </a:tr>
              <a:tr h="304800">
                <a:tc>
                  <a:txBody>
                    <a:bodyPr/>
                    <a:lstStyle/>
                    <a:p>
                      <a:pPr algn="l" fontAlgn="b"/>
                      <a:r>
                        <a:rPr lang="en-US" sz="1400" u="none" strike="noStrike">
                          <a:effectLst/>
                        </a:rPr>
                        <a:t>Binance USD / BUSD</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$ 13.54 Billion</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b"/>
                </a:tc>
                <a:extLst>
                  <a:ext uri="{0D108BD9-81ED-4DB2-BD59-A6C34878D82A}">
                    <a16:rowId xmlns:a16="http://schemas.microsoft.com/office/drawing/2014/main" val="2204012459"/>
                  </a:ext>
                </a:extLst>
              </a:tr>
              <a:tr h="30480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$ 6.47 Billion</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b"/>
                </a:tc>
                <a:extLst>
                  <a:ext uri="{0D108BD9-81ED-4DB2-BD59-A6C34878D82A}">
                    <a16:rowId xmlns:a16="http://schemas.microsoft.com/office/drawing/2014/main" val="4162962025"/>
                  </a:ext>
                </a:extLst>
              </a:tr>
              <a:tr h="304800">
                <a:tc>
                  <a:txBody>
                    <a:bodyPr/>
                    <a:lstStyle/>
                    <a:p>
                      <a:pPr algn="l" fontAlgn="b"/>
                      <a:r>
                        <a:rPr lang="en-US" sz="1400" u="none" strike="noStrike">
                          <a:effectLst/>
                        </a:rPr>
                        <a:t>TerraUSD / UST</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$ 2.88 Billion</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Alternative</a:t>
                      </a:r>
                      <a:endParaRPr lang="en-US" sz="1400" b="0" i="1" u="none" strike="noStrike">
                        <a:solidFill>
                          <a:srgbClr val="000000"/>
                        </a:solidFill>
                        <a:effectLst/>
                        <a:latin typeface="Helvetica" pitchFamily="2" charset="0"/>
                      </a:endParaRPr>
                    </a:p>
                  </a:txBody>
                  <a:tcPr marL="12700" marR="12700" marT="12700" marB="0" anchor="b"/>
                </a:tc>
                <a:extLst>
                  <a:ext uri="{0D108BD9-81ED-4DB2-BD59-A6C34878D82A}">
                    <a16:rowId xmlns:a16="http://schemas.microsoft.com/office/drawing/2014/main" val="3163262355"/>
                  </a:ext>
                </a:extLst>
              </a:tr>
              <a:tr h="30480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$ 1.25 Billion</a:t>
                      </a:r>
                      <a:endParaRPr lang="en-US" sz="1400" b="0" i="1" u="none" strike="noStrike">
                        <a:solidFill>
                          <a:srgbClr val="000000"/>
                        </a:solidFill>
                        <a:effectLst/>
                        <a:latin typeface="Helvetica" pitchFamily="2" charset="0"/>
                      </a:endParaRPr>
                    </a:p>
                  </a:txBody>
                  <a:tcPr marL="12700" marR="12700" marT="12700" marB="0" anchor="b"/>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b"/>
                </a:tc>
                <a:extLst>
                  <a:ext uri="{0D108BD9-81ED-4DB2-BD59-A6C34878D82A}">
                    <a16:rowId xmlns:a16="http://schemas.microsoft.com/office/drawing/2014/main" val="2235850486"/>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5940640" y="4204692"/>
            <a:ext cx="6108486" cy="523220"/>
          </a:xfrm>
          <a:prstGeom prst="rect">
            <a:avLst/>
          </a:prstGeom>
          <a:noFill/>
        </p:spPr>
        <p:txBody>
          <a:bodyPr wrap="square" rtlCol="0">
            <a:spAutoFit/>
          </a:bodyPr>
          <a:lstStyle/>
          <a:p>
            <a:r>
              <a:rPr lang="en-US" sz="1400"/>
              <a:t>How Stable Coins Stay Stable:</a:t>
            </a:r>
          </a:p>
          <a:p>
            <a:r>
              <a:rPr lang="en-US" sz="1400"/>
              <a:t> - </a:t>
            </a:r>
            <a:r>
              <a:rPr lang="en-US" sz="1400">
                <a:hlinkClick r:id="rId3"/>
              </a:rPr>
              <a:t>https://cointelegraph.com/explained/how-stablecoins-stay-stable-explained</a:t>
            </a:r>
            <a:endParaRPr lang="en-US" sz="1400"/>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1114425"/>
            <a:ext cx="6372225" cy="2246769"/>
          </a:xfrm>
          <a:prstGeom prst="rect">
            <a:avLst/>
          </a:prstGeom>
          <a:noFill/>
        </p:spPr>
        <p:txBody>
          <a:bodyPr wrap="square" rtlCol="0">
            <a:spAutoFit/>
          </a:bodyPr>
          <a:lstStyle/>
          <a:p>
            <a:pPr marL="285750" indent="-285750">
              <a:buFont typeface="Arial" panose="020B0604020202020204" pitchFamily="34" charset="0"/>
              <a:buChar char="•"/>
            </a:pPr>
            <a:r>
              <a:rPr lang="en-US" sz="1400"/>
              <a:t>Stablecoins are cryptocurrencies </a:t>
            </a:r>
          </a:p>
          <a:p>
            <a:pPr marL="285750" indent="-285750">
              <a:buFont typeface="Arial" panose="020B0604020202020204" pitchFamily="34" charset="0"/>
              <a:buChar char="•"/>
            </a:pPr>
            <a:r>
              <a:rPr lang="en-US" sz="1400"/>
              <a:t>designed to maintain the price stability of (strong) fiat currencies </a:t>
            </a:r>
          </a:p>
          <a:p>
            <a:pPr marL="285750" indent="-285750">
              <a:buFont typeface="Arial" panose="020B0604020202020204" pitchFamily="34" charset="0"/>
              <a:buChar char="•"/>
            </a:pPr>
            <a:r>
              <a:rPr lang="en-US" sz="1400"/>
              <a:t>while maintaining the security, speed, and low cost of virtual asset transactions</a:t>
            </a:r>
          </a:p>
          <a:p>
            <a:endParaRPr lang="en-US" sz="1400"/>
          </a:p>
          <a:p>
            <a:r>
              <a:rPr lang="en-US" sz="1400"/>
              <a:t>This was initially done:</a:t>
            </a:r>
          </a:p>
          <a:p>
            <a:pPr marL="285750" indent="-285750">
              <a:buFont typeface="Arial" panose="020B0604020202020204" pitchFamily="34" charset="0"/>
              <a:buChar char="•"/>
            </a:pPr>
            <a:r>
              <a:rPr lang="en-US" sz="1400"/>
              <a:t>to minimize the impact of the price volatility of cryptocurrencies in trading </a:t>
            </a:r>
          </a:p>
          <a:p>
            <a:pPr marL="285750" indent="-285750">
              <a:buFont typeface="Arial" panose="020B0604020202020204" pitchFamily="34" charset="0"/>
              <a:buChar char="•"/>
            </a:pPr>
            <a:r>
              <a:rPr lang="en-US" sz="1400"/>
              <a:t>and as a bridge to mainstream spending and financial institutions. </a:t>
            </a:r>
          </a:p>
          <a:p>
            <a:endParaRPr lang="en-US" sz="1400"/>
          </a:p>
          <a:p>
            <a:r>
              <a:rPr lang="en-US" sz="1400"/>
              <a:t>Now they are beginning to branch out into mainstream banking </a:t>
            </a:r>
            <a:br>
              <a:rPr lang="en-US" sz="1400"/>
            </a:br>
            <a:r>
              <a:rPr lang="en-US" sz="1400"/>
              <a:t>to ease the cost and burdens of </a:t>
            </a:r>
            <a:r>
              <a:rPr lang="en-US" sz="1400" b="1">
                <a:solidFill>
                  <a:srgbClr val="FF0000"/>
                </a:solidFill>
              </a:rPr>
              <a:t>making payments</a:t>
            </a:r>
            <a:r>
              <a:rPr lang="en-US" sz="1400"/>
              <a:t>.</a:t>
            </a:r>
          </a:p>
        </p:txBody>
      </p:sp>
    </p:spTree>
    <p:extLst>
      <p:ext uri="{BB962C8B-B14F-4D97-AF65-F5344CB8AC3E}">
        <p14:creationId xmlns:p14="http://schemas.microsoft.com/office/powerpoint/2010/main" val="4272448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11430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($62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63073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5219700" y="630734"/>
            <a:ext cx="6769100" cy="5909310"/>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more other cryptocurrencies. </a:t>
            </a:r>
          </a:p>
          <a:p>
            <a:endParaRPr lang="en-US" sz="1400"/>
          </a:p>
          <a:p>
            <a:r>
              <a:rPr lang="en-US" sz="1400"/>
              <a:t>As these cryptocurrencies are themselves highly volatile, these stablecoins are highly </a:t>
            </a:r>
            <a:r>
              <a:rPr lang="en-US" sz="1400" b="1">
                <a:solidFill>
                  <a:srgbClr val="00B050"/>
                </a:solidFill>
              </a:rPr>
              <a:t>overcollateralized</a:t>
            </a:r>
            <a:r>
              <a:rPr lang="en-US" sz="1400"/>
              <a:t>, and require purchasers to lock their collateral tokens into smart contracts that will be liquidated if the collateral drops in value too much. The collateral that can be collected by replacing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That was successful, and the stablecoin’s market capitalization is more than $4.8 billion at this writing.</a:t>
            </a:r>
          </a:p>
          <a:p>
            <a:endParaRPr lang="en-US" sz="1400"/>
          </a:p>
          <a:p>
            <a:r>
              <a:rPr lang="en-US" sz="1400"/>
              <a:t>It is getting some competition this summer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0" y="39811"/>
            <a:ext cx="4800600" cy="523220"/>
          </a:xfrm>
          <a:prstGeom prst="rect">
            <a:avLst/>
          </a:prstGeom>
          <a:noFill/>
        </p:spPr>
        <p:txBody>
          <a:bodyPr wrap="square" rtlCol="0">
            <a:spAutoFit/>
          </a:bodyPr>
          <a:lstStyle/>
          <a:p>
            <a:r>
              <a:rPr lang="en-US" sz="2800" b="1"/>
              <a:t>Free TON, Octus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Everscale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1179226"/>
            <a:ext cx="6555699" cy="3539430"/>
          </a:xfrm>
          <a:prstGeom prst="rect">
            <a:avLst/>
          </a:prstGeom>
          <a:no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b="1">
                <a:solidFill>
                  <a:srgbClr val="FF0000"/>
                </a:solidFill>
              </a:rPr>
              <a:t>Tether</a:t>
            </a:r>
            <a:r>
              <a:rPr lang="en-US" sz="1400"/>
              <a:t> is often called by its symbol USDT</a:t>
            </a:r>
          </a:p>
          <a:p>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endParaRPr lang="en-US" sz="1400"/>
          </a:p>
          <a:p>
            <a:pPr marL="380990" indent="-380990">
              <a:buFont typeface="Arial" panose="020B0604020202020204" pitchFamily="34" charset="0"/>
              <a:buChar char="•"/>
            </a:pPr>
            <a:r>
              <a:rPr lang="en-US" sz="1400" b="1">
                <a:solidFill>
                  <a:srgbClr val="FF0000"/>
                </a:solidFill>
              </a:rPr>
              <a:t>Tether</a:t>
            </a:r>
            <a:r>
              <a:rPr lang="en-US" sz="1400"/>
              <a:t> tokens are issued by the Hong Kong company </a:t>
            </a:r>
            <a:r>
              <a:rPr lang="en-US" sz="1400" b="1">
                <a:solidFill>
                  <a:srgbClr val="00B0F0"/>
                </a:solidFill>
              </a:rPr>
              <a:t>Tether Limited</a:t>
            </a:r>
            <a:r>
              <a:rPr lang="en-US" sz="1400"/>
              <a:t>, controlled by the owners of </a:t>
            </a:r>
            <a:r>
              <a:rPr lang="en-US" sz="1400" b="1">
                <a:solidFill>
                  <a:srgbClr val="00B0F0"/>
                </a:solidFill>
              </a:rPr>
              <a:t>Bitfinex</a:t>
            </a:r>
          </a:p>
          <a:p>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attached/fastened to restrict its range of movement</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Tree>
    <p:extLst>
      <p:ext uri="{BB962C8B-B14F-4D97-AF65-F5344CB8AC3E}">
        <p14:creationId xmlns:p14="http://schemas.microsoft.com/office/powerpoint/2010/main" val="2508513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190293" y="922051"/>
            <a:ext cx="6555699" cy="2031325"/>
          </a:xfrm>
          <a:prstGeom prst="rect">
            <a:avLst/>
          </a:prstGeom>
          <a:noFill/>
        </p:spPr>
        <p:txBody>
          <a:bodyPr wrap="square" rtlCol="0">
            <a:spAutoFit/>
          </a:bodyPr>
          <a:lstStyle/>
          <a:p>
            <a:pPr marL="380990" indent="-380990">
              <a:buFont typeface="Arial" panose="020B0604020202020204" pitchFamily="34" charset="0"/>
              <a:buChar char="•"/>
            </a:pPr>
            <a:r>
              <a:rPr lang="en-US" sz="1400"/>
              <a:t>Dai is a stablecoin cryptocurrency on the Ethereum blockchain</a:t>
            </a:r>
          </a:p>
          <a:p>
            <a:pPr marL="380990" indent="-380990">
              <a:buFont typeface="Arial" panose="020B0604020202020204" pitchFamily="34" charset="0"/>
              <a:buChar char="•"/>
            </a:pPr>
            <a:r>
              <a:rPr lang="en-US" sz="1400"/>
              <a:t>aims to keep its value as close to one United States dollar as possible</a:t>
            </a:r>
          </a:p>
          <a:p>
            <a:pPr marL="380990" indent="-380990">
              <a:buFont typeface="Arial" panose="020B0604020202020204" pitchFamily="34" charset="0"/>
              <a:buChar char="•"/>
            </a:pPr>
            <a:r>
              <a:rPr lang="en-US" sz="1400"/>
              <a:t>through a system of smart contracts and the decentralized participants</a:t>
            </a:r>
          </a:p>
          <a:p>
            <a:pPr marL="380990" indent="-380990">
              <a:buFont typeface="Arial" panose="020B0604020202020204" pitchFamily="34" charset="0"/>
              <a:buChar char="•"/>
            </a:pPr>
            <a:r>
              <a:rPr lang="en-US" sz="1400"/>
              <a:t>Since 2017</a:t>
            </a:r>
          </a:p>
          <a:p>
            <a:pPr marL="380990" indent="-380990">
              <a:buFont typeface="Arial" panose="020B0604020202020204" pitchFamily="34" charset="0"/>
              <a:buChar char="•"/>
            </a:pPr>
            <a:r>
              <a:rPr lang="en-US" sz="1400"/>
              <a:t>Developer(s): Maker Foundation</a:t>
            </a:r>
            <a:br>
              <a:rPr lang="en-US" sz="1400"/>
            </a:br>
            <a:r>
              <a:rPr lang="en-US" sz="1400"/>
              <a:t>.. https://github.com/makerdao</a:t>
            </a:r>
            <a:br>
              <a:rPr lang="en-US" sz="1400"/>
            </a:br>
            <a:r>
              <a:rPr lang="en-US" sz="1400"/>
              <a:t>.. https://makerdao.com</a:t>
            </a:r>
          </a:p>
          <a:p>
            <a:pPr marL="380990" indent="-380990">
              <a:buFont typeface="Arial" panose="020B0604020202020204" pitchFamily="34" charset="0"/>
              <a:buChar char="•"/>
            </a:pPr>
            <a:r>
              <a:rPr lang="en-US" sz="1400"/>
              <a:t>Exchange rate: $1.00 USD</a:t>
            </a:r>
          </a:p>
          <a:p>
            <a:pPr marL="380990" indent="-380990">
              <a:buFont typeface="Arial" panose="020B0604020202020204" pitchFamily="34" charset="0"/>
              <a:buChar char="•"/>
            </a:pPr>
            <a:r>
              <a:rPr lang="en-US" sz="1400"/>
              <a:t>License: AGPL v3.0 (part of GNU GPL family)</a:t>
            </a:r>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Tree>
    <p:extLst>
      <p:ext uri="{BB962C8B-B14F-4D97-AF65-F5344CB8AC3E}">
        <p14:creationId xmlns:p14="http://schemas.microsoft.com/office/powerpoint/2010/main" val="43192565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2055</TotalTime>
  <Words>1507</Words>
  <Application>Microsoft Macintosh PowerPoint</Application>
  <PresentationFormat>Widescreen</PresentationFormat>
  <Paragraphs>180</Paragraphs>
  <Slides>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181</cp:revision>
  <dcterms:modified xsi:type="dcterms:W3CDTF">2022-05-03T23:36:48Z</dcterms:modified>
</cp:coreProperties>
</file>