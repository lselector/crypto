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2"/>
  </p:notesMasterIdLst>
  <p:sldIdLst>
    <p:sldId id="320" r:id="rId2"/>
    <p:sldId id="316" r:id="rId3"/>
    <p:sldId id="274" r:id="rId4"/>
    <p:sldId id="319" r:id="rId5"/>
    <p:sldId id="326" r:id="rId6"/>
    <p:sldId id="318" r:id="rId7"/>
    <p:sldId id="309" r:id="rId8"/>
    <p:sldId id="310" r:id="rId9"/>
    <p:sldId id="311" r:id="rId10"/>
    <p:sldId id="312" r:id="rId11"/>
    <p:sldId id="307" r:id="rId12"/>
    <p:sldId id="321" r:id="rId13"/>
    <p:sldId id="313" r:id="rId14"/>
    <p:sldId id="314" r:id="rId15"/>
    <p:sldId id="308" r:id="rId16"/>
    <p:sldId id="315" r:id="rId17"/>
    <p:sldId id="322" r:id="rId18"/>
    <p:sldId id="323" r:id="rId19"/>
    <p:sldId id="324" r:id="rId20"/>
    <p:sldId id="32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96"/>
    <p:restoredTop sz="92334"/>
  </p:normalViewPr>
  <p:slideViewPr>
    <p:cSldViewPr snapToGrid="0" snapToObjects="1">
      <p:cViewPr varScale="1">
        <p:scale>
          <a:sx n="131" d="100"/>
          <a:sy n="131" d="100"/>
        </p:scale>
        <p:origin x="200" y="3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5/13/22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5/13/22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5/13/22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5/13/22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5/13/22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5/13/22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5/13/22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weforum.org/agenda/2022/03/where-is-cryptocurrency-regulation-heading/"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9.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10.png"/><Relationship Id="rId4" Type="http://schemas.openxmlformats.org/officeDocument/2006/relationships/hyperlink" Target="https://www.bitfinex.com/"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hyperlink" Target="https://en.wikipedia.org/wiki/Binanc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3525835093"/>
              </p:ext>
            </p:extLst>
          </p:nvPr>
        </p:nvGraphicFramePr>
        <p:xfrm>
          <a:off x="5966710" y="593962"/>
          <a:ext cx="6082417" cy="4095220"/>
        </p:xfrm>
        <a:graphic>
          <a:graphicData uri="http://schemas.openxmlformats.org/drawingml/2006/table">
            <a:tbl>
              <a:tblPr firstRow="1">
                <a:tableStyleId>{E8B1032C-EA38-4F05-BA0D-38AFFFC7BED3}</a:tableStyleId>
              </a:tblPr>
              <a:tblGrid>
                <a:gridCol w="1348490">
                  <a:extLst>
                    <a:ext uri="{9D8B030D-6E8A-4147-A177-3AD203B41FA5}">
                      <a16:colId xmlns:a16="http://schemas.microsoft.com/office/drawing/2014/main" val="2982074288"/>
                    </a:ext>
                  </a:extLst>
                </a:gridCol>
                <a:gridCol w="660400">
                  <a:extLst>
                    <a:ext uri="{9D8B030D-6E8A-4147-A177-3AD203B41FA5}">
                      <a16:colId xmlns:a16="http://schemas.microsoft.com/office/drawing/2014/main" val="1493870040"/>
                    </a:ext>
                  </a:extLst>
                </a:gridCol>
                <a:gridCol w="863600">
                  <a:extLst>
                    <a:ext uri="{9D8B030D-6E8A-4147-A177-3AD203B41FA5}">
                      <a16:colId xmlns:a16="http://schemas.microsoft.com/office/drawing/2014/main" val="1003406525"/>
                    </a:ext>
                  </a:extLst>
                </a:gridCol>
                <a:gridCol w="2400300">
                  <a:extLst>
                    <a:ext uri="{9D8B030D-6E8A-4147-A177-3AD203B41FA5}">
                      <a16:colId xmlns:a16="http://schemas.microsoft.com/office/drawing/2014/main" val="572861281"/>
                    </a:ext>
                  </a:extLst>
                </a:gridCol>
                <a:gridCol w="809627">
                  <a:extLst>
                    <a:ext uri="{9D8B030D-6E8A-4147-A177-3AD203B41FA5}">
                      <a16:colId xmlns:a16="http://schemas.microsoft.com/office/drawing/2014/main" val="3767544795"/>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Price 5/13/22</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solidFill>
                            <a:srgbClr val="00B0F0"/>
                          </a:solidFill>
                          <a:effectLst/>
                        </a:rPr>
                        <a:t>TerraUSD / UST</a:t>
                      </a:r>
                      <a:endParaRPr lang="en-US" sz="1400" b="0" i="1" u="none" strike="noStrike">
                        <a:solidFill>
                          <a:srgbClr val="00B0F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B0F0"/>
                          </a:solidFill>
                          <a:effectLst/>
                          <a:latin typeface="Helvetica" pitchFamily="2" charset="0"/>
                        </a:rPr>
                        <a:t>3</a:t>
                      </a:r>
                    </a:p>
                  </a:txBody>
                  <a:tcPr marL="12700" marR="12700" marT="12700" marB="0" anchor="ctr"/>
                </a:tc>
                <a:tc>
                  <a:txBody>
                    <a:bodyPr/>
                    <a:lstStyle/>
                    <a:p>
                      <a:pPr algn="l" fontAlgn="b"/>
                      <a:r>
                        <a:rPr lang="en-US" sz="1400" u="none" strike="noStrike">
                          <a:solidFill>
                            <a:srgbClr val="00B0F0"/>
                          </a:solidFill>
                          <a:effectLst/>
                        </a:rPr>
                        <a:t>Alternative</a:t>
                      </a:r>
                      <a:endParaRPr lang="en-US" sz="1400" b="0" i="1" u="none" strike="noStrike">
                        <a:solidFill>
                          <a:srgbClr val="00B0F0"/>
                        </a:solidFill>
                        <a:effectLst/>
                        <a:latin typeface="Helvetica" pitchFamily="2" charset="0"/>
                      </a:endParaRPr>
                    </a:p>
                  </a:txBody>
                  <a:tcPr marL="12700" marR="12700" marT="12700" marB="0" anchor="ctr"/>
                </a:tc>
                <a:tc>
                  <a:txBody>
                    <a:bodyPr/>
                    <a:lstStyle/>
                    <a:p>
                      <a:pPr algn="l" fontAlgn="b"/>
                      <a:r>
                        <a:rPr lang="en-US" sz="1400" u="none" strike="noStrike" kern="1200">
                          <a:solidFill>
                            <a:srgbClr val="00B0F0"/>
                          </a:solidFill>
                          <a:effectLst/>
                          <a:latin typeface="+mn-lt"/>
                          <a:ea typeface="+mn-ea"/>
                          <a:cs typeface="+mn-cs"/>
                        </a:rPr>
                        <a:t>Ethereum</a:t>
                      </a:r>
                    </a:p>
                  </a:txBody>
                  <a:tcPr marL="12700" marR="12700" marT="12700" marB="0" anchor="ctr"/>
                </a:tc>
                <a:tc>
                  <a:txBody>
                    <a:bodyPr/>
                    <a:lstStyle/>
                    <a:p>
                      <a:pPr algn="l" fontAlgn="b"/>
                      <a:r>
                        <a:rPr lang="en-US" sz="1400" u="none" strike="noStrike" kern="1200">
                          <a:solidFill>
                            <a:srgbClr val="00B0F0"/>
                          </a:solidFill>
                          <a:effectLst/>
                          <a:latin typeface="+mn-lt"/>
                          <a:ea typeface="+mn-ea"/>
                          <a:cs typeface="+mn-cs"/>
                        </a:rPr>
                        <a:t>0.16, Halted</a:t>
                      </a: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0.99</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0.21</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5919386" y="269450"/>
            <a:ext cx="2974357" cy="307777"/>
          </a:xfrm>
          <a:prstGeom prst="rect">
            <a:avLst/>
          </a:prstGeom>
          <a:noFill/>
        </p:spPr>
        <p:txBody>
          <a:bodyPr wrap="square" rtlCol="0">
            <a:spAutoFit/>
          </a:bodyPr>
          <a:lstStyle/>
          <a:p>
            <a:r>
              <a:rPr lang="en-US" sz="1400" b="1">
                <a:solidFill>
                  <a:srgbClr val="00B050"/>
                </a:solidFill>
              </a:rPr>
              <a:t>In Green – US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B7BAD7-4524-9434-5B8C-CA57AF1161E2}"/>
              </a:ext>
            </a:extLst>
          </p:cNvPr>
          <p:cNvSpPr txBox="1"/>
          <p:nvPr/>
        </p:nvSpPr>
        <p:spPr>
          <a:xfrm>
            <a:off x="279133" y="1766093"/>
            <a:ext cx="3822967" cy="3108543"/>
          </a:xfrm>
          <a:prstGeom prst="rect">
            <a:avLst/>
          </a:prstGeom>
          <a:solidFill>
            <a:schemeClr val="accent4">
              <a:lumMod val="20000"/>
              <a:lumOff val="80000"/>
            </a:schemeClr>
          </a:solidFill>
        </p:spPr>
        <p:txBody>
          <a:bodyPr wrap="square" rtlCol="0">
            <a:spAutoFit/>
          </a:bodyPr>
          <a:lstStyle/>
          <a:p>
            <a:r>
              <a:rPr lang="en-US" sz="1400"/>
              <a:t>World Economic Forum (March 2022):</a:t>
            </a:r>
          </a:p>
          <a:p>
            <a:endParaRPr lang="en-US" sz="1400"/>
          </a:p>
          <a:p>
            <a:pPr marL="285750" indent="-285750">
              <a:buFont typeface="Arial" panose="020B0604020202020204" pitchFamily="34" charset="0"/>
              <a:buChar char="•"/>
            </a:pPr>
            <a:r>
              <a:rPr lang="en-US" sz="1400"/>
              <a:t>The total market cap of digital currencies is $1.7 trillion and over $90 billion worth is traded every day.</a:t>
            </a:r>
          </a:p>
          <a:p>
            <a:pPr marL="285750" indent="-285750">
              <a:buFont typeface="Arial" panose="020B0604020202020204" pitchFamily="34" charset="0"/>
              <a:buChar char="•"/>
            </a:pPr>
            <a:r>
              <a:rPr lang="en-US" sz="1400"/>
              <a:t>Analysts have warned that the industry is so large it could have macroeconomic consequences if mismanaged.</a:t>
            </a:r>
          </a:p>
          <a:p>
            <a:pPr marL="285750" indent="-285750">
              <a:buFont typeface="Arial" panose="020B0604020202020204" pitchFamily="34" charset="0"/>
              <a:buChar char="•"/>
            </a:pPr>
            <a:r>
              <a:rPr lang="en-US" sz="1400"/>
              <a:t>Piecemeal approaches to cryptocurrency regulation must be replaced by a globally coordinated framework.</a:t>
            </a:r>
          </a:p>
          <a:p>
            <a:endParaRPr lang="en-US" sz="1400"/>
          </a:p>
          <a:p>
            <a:r>
              <a:rPr lang="en-US" sz="1400">
                <a:hlinkClick r:id="rId2"/>
              </a:rPr>
              <a:t>https://www.weforum.org/agenda/2022/03/where-is-cryptocurrency-regulation-heading/</a:t>
            </a:r>
            <a:endParaRPr lang="en-US" sz="1400"/>
          </a:p>
        </p:txBody>
      </p:sp>
      <p:pic>
        <p:nvPicPr>
          <p:cNvPr id="3" name="Picture 2">
            <a:extLst>
              <a:ext uri="{FF2B5EF4-FFF2-40B4-BE49-F238E27FC236}">
                <a16:creationId xmlns:a16="http://schemas.microsoft.com/office/drawing/2014/main" id="{9EB4F70E-FA78-57F0-AAF8-2F7C58DC26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56524" y="2702936"/>
            <a:ext cx="3900375" cy="2603500"/>
          </a:xfrm>
          <a:prstGeom prst="rect">
            <a:avLst/>
          </a:prstGeom>
        </p:spPr>
      </p:pic>
      <p:sp>
        <p:nvSpPr>
          <p:cNvPr id="4" name="TextBox 3">
            <a:extLst>
              <a:ext uri="{FF2B5EF4-FFF2-40B4-BE49-F238E27FC236}">
                <a16:creationId xmlns:a16="http://schemas.microsoft.com/office/drawing/2014/main" id="{F8FBCD17-5011-0B74-699B-21A6C6D89D44}"/>
              </a:ext>
            </a:extLst>
          </p:cNvPr>
          <p:cNvSpPr txBox="1"/>
          <p:nvPr/>
        </p:nvSpPr>
        <p:spPr>
          <a:xfrm>
            <a:off x="6718300" y="443567"/>
            <a:ext cx="4648200" cy="1754326"/>
          </a:xfrm>
          <a:prstGeom prst="rect">
            <a:avLst/>
          </a:prstGeom>
          <a:noFill/>
        </p:spPr>
        <p:txBody>
          <a:bodyPr wrap="square" rtlCol="0">
            <a:spAutoFit/>
          </a:bodyPr>
          <a:lstStyle/>
          <a:p>
            <a:r>
              <a:rPr lang="en-US"/>
              <a:t>TerraUSD is (was?) one of the largest player in Stable Coin group with market cap $18.4 Bln.</a:t>
            </a:r>
            <a:br>
              <a:rPr lang="en-US"/>
            </a:br>
            <a:br>
              <a:rPr lang="en-US"/>
            </a:br>
            <a:r>
              <a:rPr lang="en-US"/>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8079070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45393" y="183900"/>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610843-547C-A4A2-ECB6-D54E2EC7DBCF}"/>
              </a:ext>
            </a:extLst>
          </p:cNvPr>
          <p:cNvSpPr txBox="1"/>
          <p:nvPr/>
        </p:nvSpPr>
        <p:spPr>
          <a:xfrm>
            <a:off x="101600" y="90311"/>
            <a:ext cx="3122047" cy="523220"/>
          </a:xfrm>
          <a:prstGeom prst="rect">
            <a:avLst/>
          </a:prstGeom>
          <a:noFill/>
        </p:spPr>
        <p:txBody>
          <a:bodyPr wrap="square" rtlCol="0">
            <a:spAutoFit/>
          </a:bodyPr>
          <a:lstStyle/>
          <a:p>
            <a:r>
              <a:rPr lang="en-US" sz="2800" b="1"/>
              <a:t>TerraUSD / UST</a:t>
            </a:r>
          </a:p>
        </p:txBody>
      </p:sp>
      <p:sp>
        <p:nvSpPr>
          <p:cNvPr id="4" name="TextBox 3">
            <a:extLst>
              <a:ext uri="{FF2B5EF4-FFF2-40B4-BE49-F238E27FC236}">
                <a16:creationId xmlns:a16="http://schemas.microsoft.com/office/drawing/2014/main" id="{00AA84FD-7CE7-F57E-48E4-FD6F786BBEBE}"/>
              </a:ext>
            </a:extLst>
          </p:cNvPr>
          <p:cNvSpPr txBox="1"/>
          <p:nvPr/>
        </p:nvSpPr>
        <p:spPr>
          <a:xfrm>
            <a:off x="203200" y="812799"/>
            <a:ext cx="6383580" cy="203132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UST (terraUSD) is an algorithmic stablecoin</a:t>
            </a:r>
          </a:p>
          <a:p>
            <a:pPr marL="285750" indent="-285750">
              <a:buFont typeface="Arial" panose="020B0604020202020204" pitchFamily="34" charset="0"/>
              <a:buChar char="•"/>
            </a:pPr>
            <a:r>
              <a:rPr lang="en-US" sz="1400"/>
              <a:t>developed by Singapore-based Terraform Labs</a:t>
            </a:r>
          </a:p>
          <a:p>
            <a:pPr marL="285750" indent="-285750">
              <a:buFont typeface="Arial" panose="020B0604020202020204" pitchFamily="34" charset="0"/>
              <a:buChar char="•"/>
            </a:pPr>
            <a:r>
              <a:rPr lang="en-US" sz="1400"/>
              <a:t>pegged to $1 USD – but without any actual cash reserve</a:t>
            </a:r>
          </a:p>
          <a:p>
            <a:pPr marL="285750" indent="-285750">
              <a:buFont typeface="Arial" panose="020B0604020202020204" pitchFamily="34" charset="0"/>
              <a:buChar char="•"/>
            </a:pPr>
            <a:r>
              <a:rPr lang="en-US" sz="1400"/>
              <a:t>UST is created by destroying a sister token, known as </a:t>
            </a:r>
            <a:r>
              <a:rPr lang="en-US" sz="1400" b="1">
                <a:solidFill>
                  <a:srgbClr val="FF0000"/>
                </a:solidFill>
              </a:rPr>
              <a:t>Luna</a:t>
            </a:r>
            <a:r>
              <a:rPr lang="en-US" sz="1400"/>
              <a:t>, using smart contracts. And vice versa — new </a:t>
            </a:r>
            <a:r>
              <a:rPr lang="en-US" sz="1400" b="1">
                <a:solidFill>
                  <a:srgbClr val="FF0000"/>
                </a:solidFill>
              </a:rPr>
              <a:t>Luna</a:t>
            </a:r>
            <a:r>
              <a:rPr lang="en-US" sz="1400"/>
              <a:t> is minted by burning UST and other algorithmic stablecoins that Terra supports.</a:t>
            </a:r>
          </a:p>
          <a:p>
            <a:pPr marL="285750" indent="-285750">
              <a:buFont typeface="Arial" panose="020B0604020202020204" pitchFamily="34" charset="0"/>
              <a:buChar char="•"/>
            </a:pPr>
            <a:r>
              <a:rPr lang="en-US" sz="1400"/>
              <a:t>Market Cap ~$18+ Bln</a:t>
            </a:r>
          </a:p>
          <a:p>
            <a:pPr marL="285750" indent="-285750">
              <a:buFont typeface="Arial" panose="020B0604020202020204" pitchFamily="34" charset="0"/>
              <a:buChar char="•"/>
            </a:pPr>
            <a:r>
              <a:rPr lang="en-US" sz="1400"/>
              <a:t>May 10, 2022 - Crypto project Terra is buying billions in bitcoin to support UST</a:t>
            </a:r>
          </a:p>
          <a:p>
            <a:pPr marL="285750" indent="-285750">
              <a:buFont typeface="Arial" panose="020B0604020202020204" pitchFamily="34" charset="0"/>
              <a:buChar char="•"/>
            </a:pPr>
            <a:r>
              <a:rPr lang="en-US" sz="1400"/>
              <a:t>may 13 – the price dropped to $0.16, and the network was halted.</a:t>
            </a:r>
          </a:p>
        </p:txBody>
      </p:sp>
      <p:pic>
        <p:nvPicPr>
          <p:cNvPr id="5" name="Picture 4">
            <a:extLst>
              <a:ext uri="{FF2B5EF4-FFF2-40B4-BE49-F238E27FC236}">
                <a16:creationId xmlns:a16="http://schemas.microsoft.com/office/drawing/2014/main" id="{C32885DD-B18D-DCE3-17DB-52276A8EA45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307046" y="90311"/>
            <a:ext cx="1783353" cy="1738489"/>
          </a:xfrm>
          <a:prstGeom prst="rect">
            <a:avLst/>
          </a:prstGeom>
        </p:spPr>
      </p:pic>
      <p:sp>
        <p:nvSpPr>
          <p:cNvPr id="7" name="TextBox 6">
            <a:extLst>
              <a:ext uri="{FF2B5EF4-FFF2-40B4-BE49-F238E27FC236}">
                <a16:creationId xmlns:a16="http://schemas.microsoft.com/office/drawing/2014/main" id="{EBEE5E72-7519-80AE-CFB8-B83522934525}"/>
              </a:ext>
            </a:extLst>
          </p:cNvPr>
          <p:cNvSpPr txBox="1"/>
          <p:nvPr/>
        </p:nvSpPr>
        <p:spPr>
          <a:xfrm>
            <a:off x="4711485" y="3105434"/>
            <a:ext cx="1875295" cy="369332"/>
          </a:xfrm>
          <a:prstGeom prst="rect">
            <a:avLst/>
          </a:prstGeom>
          <a:noFill/>
        </p:spPr>
        <p:txBody>
          <a:bodyPr wrap="square" rtlCol="0">
            <a:spAutoFit/>
          </a:bodyPr>
          <a:lstStyle/>
          <a:p>
            <a:r>
              <a:rPr lang="en-US"/>
              <a:t>May 10-13, 2022</a:t>
            </a:r>
          </a:p>
        </p:txBody>
      </p:sp>
      <p:pic>
        <p:nvPicPr>
          <p:cNvPr id="8" name="Picture 7">
            <a:extLst>
              <a:ext uri="{FF2B5EF4-FFF2-40B4-BE49-F238E27FC236}">
                <a16:creationId xmlns:a16="http://schemas.microsoft.com/office/drawing/2014/main" id="{BF1532D1-14BB-DA2E-5689-AA1A4529DD1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3200" y="3474766"/>
            <a:ext cx="6383580" cy="3129234"/>
          </a:xfrm>
          <a:prstGeom prst="rect">
            <a:avLst/>
          </a:prstGeom>
        </p:spPr>
      </p:pic>
      <p:sp>
        <p:nvSpPr>
          <p:cNvPr id="9" name="TextBox 8">
            <a:extLst>
              <a:ext uri="{FF2B5EF4-FFF2-40B4-BE49-F238E27FC236}">
                <a16:creationId xmlns:a16="http://schemas.microsoft.com/office/drawing/2014/main" id="{51A54925-25C7-E8BE-30FC-B8BA4ADC1296}"/>
              </a:ext>
            </a:extLst>
          </p:cNvPr>
          <p:cNvSpPr txBox="1"/>
          <p:nvPr/>
        </p:nvSpPr>
        <p:spPr>
          <a:xfrm>
            <a:off x="7162800" y="3274875"/>
            <a:ext cx="4648200" cy="1384995"/>
          </a:xfrm>
          <a:prstGeom prst="rect">
            <a:avLst/>
          </a:prstGeom>
          <a:solidFill>
            <a:schemeClr val="accent4">
              <a:lumMod val="20000"/>
              <a:lumOff val="80000"/>
            </a:schemeClr>
          </a:solidFill>
        </p:spPr>
        <p:txBody>
          <a:bodyPr wrap="square" rtlCol="0">
            <a:spAutoFit/>
          </a:bodyPr>
          <a:lstStyle/>
          <a:p>
            <a:r>
              <a:rPr lang="en-US" sz="1400"/>
              <a:t>TerraUSD is (was?) one of the largest player in Stable Coin group with market cap $18.4 Bln.</a:t>
            </a:r>
            <a:br>
              <a:rPr lang="en-US" sz="1400"/>
            </a:br>
            <a:br>
              <a:rPr lang="en-US" sz="1400"/>
            </a:br>
            <a:r>
              <a:rPr lang="en-US" sz="1400"/>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414858111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2692</TotalTime>
  <Words>4790</Words>
  <Application>Microsoft Macintosh PowerPoint</Application>
  <PresentationFormat>Widescreen</PresentationFormat>
  <Paragraphs>374</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226</cp:revision>
  <dcterms:modified xsi:type="dcterms:W3CDTF">2022-05-13T18:03:02Z</dcterms:modified>
</cp:coreProperties>
</file>