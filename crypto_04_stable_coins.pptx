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834" r:id="rId1"/>
  </p:sldMasterIdLst>
  <p:notesMasterIdLst>
    <p:notesMasterId r:id="rId4"/>
  </p:notesMasterIdLst>
  <p:sldIdLst>
    <p:sldId id="274" r:id="rId2"/>
    <p:sldId id="307" r:id="rId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408"/>
    <p:restoredTop sz="92312"/>
  </p:normalViewPr>
  <p:slideViewPr>
    <p:cSldViewPr snapToGrid="0" snapToObjects="1">
      <p:cViewPr varScale="1">
        <p:scale>
          <a:sx n="96" d="100"/>
          <a:sy n="96" d="100"/>
        </p:scale>
        <p:origin x="192" y="10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t>5/2/22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4052810813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t>5/2/22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951162942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t>5/2/22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2527415284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t>5/2/22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984845128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t>5/2/22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66651138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t>5/2/22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80945183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t>5/2/22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20554974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t>5/2/22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206953857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t>5/2/22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1968370278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t>5/2/22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913931471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t>5/2/22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1714978133"/>
      </p:ext>
    </p:extLst>
  </p:cSld>
  <p:clrMapOvr>
    <a:masterClrMapping/>
  </p:clrMapOvr>
  <p:hf sldNum="0"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B1FAE4C-5332-014D-8E1B-BB8DA73EF81D}" type="datetimeFigureOut">
              <a:t>5/2/22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7257799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5" r:id="rId1"/>
    <p:sldLayoutId id="2147483836" r:id="rId2"/>
    <p:sldLayoutId id="2147483837" r:id="rId3"/>
    <p:sldLayoutId id="2147483838" r:id="rId4"/>
    <p:sldLayoutId id="2147483839" r:id="rId5"/>
    <p:sldLayoutId id="2147483840" r:id="rId6"/>
    <p:sldLayoutId id="2147483841" r:id="rId7"/>
    <p:sldLayoutId id="2147483842" r:id="rId8"/>
    <p:sldLayoutId id="2147483843" r:id="rId9"/>
    <p:sldLayoutId id="2147483844" r:id="rId10"/>
    <p:sldLayoutId id="2147483845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investopedia.com/terms/s/stablecoin.asp" TargetMode="Externa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Tether_(cryptocurrency)" TargetMode="External"/><Relationship Id="rId2" Type="http://schemas.openxmlformats.org/officeDocument/2006/relationships/hyperlink" Target="https://tether.to/" TargetMode="Externa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F54B0A0-2FD2-3B49-8698-9FE080E83492}"/>
              </a:ext>
            </a:extLst>
          </p:cNvPr>
          <p:cNvSpPr txBox="1"/>
          <p:nvPr/>
        </p:nvSpPr>
        <p:spPr>
          <a:xfrm>
            <a:off x="1" y="1"/>
            <a:ext cx="28362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Stable Coins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AB42B4C-7414-E84D-94A1-4CA7C8107427}"/>
              </a:ext>
            </a:extLst>
          </p:cNvPr>
          <p:cNvSpPr txBox="1"/>
          <p:nvPr/>
        </p:nvSpPr>
        <p:spPr>
          <a:xfrm>
            <a:off x="0" y="589081"/>
            <a:ext cx="54292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 - </a:t>
            </a:r>
            <a:r>
              <a:rPr lang="en-US" sz="1400">
                <a:hlinkClick r:id="rId2"/>
              </a:rPr>
              <a:t>https://www.investopedia.com/terms/s/stablecoin.asp</a:t>
            </a:r>
            <a:r>
              <a:rPr lang="en-US" sz="1400"/>
              <a:t> -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A556A85-2EDA-6C4A-92BE-5A12AF9C0929}"/>
              </a:ext>
            </a:extLst>
          </p:cNvPr>
          <p:cNvSpPr txBox="1"/>
          <p:nvPr/>
        </p:nvSpPr>
        <p:spPr>
          <a:xfrm>
            <a:off x="621674" y="1560631"/>
            <a:ext cx="5223309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>
                <a:solidFill>
                  <a:srgbClr val="00B050"/>
                </a:solidFill>
              </a:rPr>
              <a:t>Stablecoins</a:t>
            </a:r>
            <a:r>
              <a:rPr lang="en-US" sz="1400"/>
              <a:t> are </a:t>
            </a:r>
            <a:r>
              <a:rPr lang="en-US" sz="1400" b="1">
                <a:solidFill>
                  <a:srgbClr val="FF0000"/>
                </a:solidFill>
              </a:rPr>
              <a:t>cryptocurrencies</a:t>
            </a:r>
            <a:r>
              <a:rPr lang="en-US" sz="1400"/>
              <a:t> </a:t>
            </a:r>
          </a:p>
          <a:p>
            <a:r>
              <a:rPr lang="en-US" sz="1400"/>
              <a:t>that attempt to peg their market value </a:t>
            </a:r>
          </a:p>
          <a:p>
            <a:r>
              <a:rPr lang="en-US" sz="1400"/>
              <a:t>to something external, like a currency (USD), </a:t>
            </a:r>
          </a:p>
          <a:p>
            <a:r>
              <a:rPr lang="en-US" sz="1400"/>
              <a:t>or commodity's price (gold), etc.</a:t>
            </a:r>
          </a:p>
          <a:p>
            <a:endParaRPr lang="en-US" sz="1400"/>
          </a:p>
          <a:p>
            <a:r>
              <a:rPr lang="en-US" sz="1400" b="1">
                <a:solidFill>
                  <a:srgbClr val="00B050"/>
                </a:solidFill>
              </a:rPr>
              <a:t>Stablecoins</a:t>
            </a:r>
            <a:r>
              <a:rPr lang="en-US" sz="1400"/>
              <a:t> achieve their price stability via </a:t>
            </a:r>
          </a:p>
          <a:p>
            <a:r>
              <a:rPr lang="en-US" sz="1400"/>
              <a:t>either collateralization (backing) </a:t>
            </a:r>
          </a:p>
          <a:p>
            <a:r>
              <a:rPr lang="en-US" sz="1400"/>
              <a:t>or through algorithmic mechanisms of buying </a:t>
            </a:r>
          </a:p>
          <a:p>
            <a:r>
              <a:rPr lang="en-US" sz="1400"/>
              <a:t>and selling the reference asset or its derivatives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2E10B3BF-93DD-ED46-8D9D-D86F4400C3D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6182313"/>
              </p:ext>
            </p:extLst>
          </p:nvPr>
        </p:nvGraphicFramePr>
        <p:xfrm>
          <a:off x="7387794" y="1560631"/>
          <a:ext cx="4182533" cy="2133600"/>
        </p:xfrm>
        <a:graphic>
          <a:graphicData uri="http://schemas.openxmlformats.org/drawingml/2006/table">
            <a:tbl>
              <a:tblPr>
                <a:tableStyleId>{E8B1032C-EA38-4F05-BA0D-38AFFFC7BED3}</a:tableStyleId>
              </a:tblPr>
              <a:tblGrid>
                <a:gridCol w="2489200">
                  <a:extLst>
                    <a:ext uri="{9D8B030D-6E8A-4147-A177-3AD203B41FA5}">
                      <a16:colId xmlns:a16="http://schemas.microsoft.com/office/drawing/2014/main" val="2982074288"/>
                    </a:ext>
                  </a:extLst>
                </a:gridCol>
                <a:gridCol w="1693333">
                  <a:extLst>
                    <a:ext uri="{9D8B030D-6E8A-4147-A177-3AD203B41FA5}">
                      <a16:colId xmlns:a16="http://schemas.microsoft.com/office/drawing/2014/main" val="1493870040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1" u="none" strike="noStrike">
                          <a:solidFill>
                            <a:srgbClr val="FF0000"/>
                          </a:solidFill>
                          <a:effectLst/>
                        </a:rPr>
                        <a:t>Currency</a:t>
                      </a:r>
                      <a:endParaRPr lang="en-US" sz="1400" b="1" i="1" u="none" strike="noStrike">
                        <a:solidFill>
                          <a:srgbClr val="FF0000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1" u="none" strike="noStrike">
                          <a:solidFill>
                            <a:srgbClr val="FF0000"/>
                          </a:solidFill>
                          <a:effectLst/>
                        </a:rPr>
                        <a:t>Market value</a:t>
                      </a:r>
                    </a:p>
                  </a:txBody>
                  <a:tcPr marL="12700" marR="12700" marT="12700" marB="0" anchor="b"/>
                </a:tc>
                <a:extLst>
                  <a:ext uri="{0D108BD9-81ED-4DB2-BD59-A6C34878D82A}">
                    <a16:rowId xmlns:a16="http://schemas.microsoft.com/office/drawing/2014/main" val="3663642749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>
                          <a:effectLst/>
                        </a:rPr>
                        <a:t>Tether / USDT</a:t>
                      </a:r>
                      <a:endParaRPr lang="en-US" sz="1400" b="0" i="1" u="none" strike="noStrike">
                        <a:solidFill>
                          <a:srgbClr val="000000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>
                          <a:effectLst/>
                        </a:rPr>
                        <a:t>$ 73.32 billion</a:t>
                      </a:r>
                      <a:endParaRPr lang="en-US" sz="1400" b="0" i="1" u="none" strike="noStrike">
                        <a:solidFill>
                          <a:srgbClr val="000000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12700" marR="12700" marT="12700" marB="0" anchor="b"/>
                </a:tc>
                <a:extLst>
                  <a:ext uri="{0D108BD9-81ED-4DB2-BD59-A6C34878D82A}">
                    <a16:rowId xmlns:a16="http://schemas.microsoft.com/office/drawing/2014/main" val="582522162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>
                          <a:effectLst/>
                        </a:rPr>
                        <a:t>USD Coin / USDC</a:t>
                      </a:r>
                      <a:endParaRPr lang="en-US" sz="1400" b="0" i="1" u="none" strike="noStrike">
                        <a:solidFill>
                          <a:srgbClr val="000000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>
                          <a:effectLst/>
                        </a:rPr>
                        <a:t>$ 34.35 billion</a:t>
                      </a:r>
                      <a:endParaRPr lang="en-US" sz="1400" b="0" i="1" u="none" strike="noStrike">
                        <a:solidFill>
                          <a:srgbClr val="000000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12700" marR="12700" marT="12700" marB="0" anchor="b"/>
                </a:tc>
                <a:extLst>
                  <a:ext uri="{0D108BD9-81ED-4DB2-BD59-A6C34878D82A}">
                    <a16:rowId xmlns:a16="http://schemas.microsoft.com/office/drawing/2014/main" val="2234970906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>
                          <a:effectLst/>
                        </a:rPr>
                        <a:t>Binance USD / BUSD</a:t>
                      </a:r>
                      <a:endParaRPr lang="en-US" sz="1400" b="0" i="1" u="none" strike="noStrike">
                        <a:solidFill>
                          <a:srgbClr val="000000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>
                          <a:effectLst/>
                        </a:rPr>
                        <a:t>$ 13.54 billion</a:t>
                      </a:r>
                      <a:endParaRPr lang="en-US" sz="1400" b="0" i="1" u="none" strike="noStrike">
                        <a:solidFill>
                          <a:srgbClr val="000000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12700" marR="12700" marT="12700" marB="0" anchor="b"/>
                </a:tc>
                <a:extLst>
                  <a:ext uri="{0D108BD9-81ED-4DB2-BD59-A6C34878D82A}">
                    <a16:rowId xmlns:a16="http://schemas.microsoft.com/office/drawing/2014/main" val="2204012459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>
                          <a:effectLst/>
                        </a:rPr>
                        <a:t>Dai / DAI</a:t>
                      </a:r>
                      <a:endParaRPr lang="en-US" sz="1400" b="0" i="1" u="none" strike="noStrike">
                        <a:solidFill>
                          <a:srgbClr val="000000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>
                          <a:effectLst/>
                        </a:rPr>
                        <a:t>$ 6.47 billion</a:t>
                      </a:r>
                      <a:endParaRPr lang="en-US" sz="1400" b="0" i="1" u="none" strike="noStrike">
                        <a:solidFill>
                          <a:srgbClr val="000000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12700" marR="12700" marT="12700" marB="0" anchor="b"/>
                </a:tc>
                <a:extLst>
                  <a:ext uri="{0D108BD9-81ED-4DB2-BD59-A6C34878D82A}">
                    <a16:rowId xmlns:a16="http://schemas.microsoft.com/office/drawing/2014/main" val="4162962025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>
                          <a:effectLst/>
                        </a:rPr>
                        <a:t>TerraUSD / UST</a:t>
                      </a:r>
                      <a:endParaRPr lang="en-US" sz="1400" b="0" i="1" u="none" strike="noStrike">
                        <a:solidFill>
                          <a:srgbClr val="000000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>
                          <a:effectLst/>
                        </a:rPr>
                        <a:t>$ 2.88 billion</a:t>
                      </a:r>
                      <a:endParaRPr lang="en-US" sz="1400" b="0" i="1" u="none" strike="noStrike">
                        <a:solidFill>
                          <a:srgbClr val="000000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12700" marR="12700" marT="12700" marB="0" anchor="b"/>
                </a:tc>
                <a:extLst>
                  <a:ext uri="{0D108BD9-81ED-4DB2-BD59-A6C34878D82A}">
                    <a16:rowId xmlns:a16="http://schemas.microsoft.com/office/drawing/2014/main" val="3163262355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>
                          <a:effectLst/>
                        </a:rPr>
                        <a:t>TrueUSD / TUSD</a:t>
                      </a:r>
                      <a:endParaRPr lang="en-US" sz="1400" b="0" i="1" u="none" strike="noStrike">
                        <a:solidFill>
                          <a:srgbClr val="000000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>
                          <a:effectLst/>
                        </a:rPr>
                        <a:t>$ 1.25 billion</a:t>
                      </a:r>
                      <a:endParaRPr lang="en-US" sz="1400" b="0" i="1" u="none" strike="noStrike">
                        <a:solidFill>
                          <a:srgbClr val="000000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12700" marR="12700" marT="12700" marB="0" anchor="b"/>
                </a:tc>
                <a:extLst>
                  <a:ext uri="{0D108BD9-81ED-4DB2-BD59-A6C34878D82A}">
                    <a16:rowId xmlns:a16="http://schemas.microsoft.com/office/drawing/2014/main" val="223585048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72448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35DF907-7EBF-7549-8D3E-F5457C861D89}"/>
              </a:ext>
            </a:extLst>
          </p:cNvPr>
          <p:cNvSpPr txBox="1"/>
          <p:nvPr/>
        </p:nvSpPr>
        <p:spPr>
          <a:xfrm>
            <a:off x="89942" y="89942"/>
            <a:ext cx="257223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Tether / USDT</a:t>
            </a:r>
            <a:endParaRPr lang="en-US" sz="2800" b="1" i="1">
              <a:solidFill>
                <a:srgbClr val="000000"/>
              </a:solidFill>
              <a:latin typeface="Helvetica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878BC53-76DB-5840-BF70-8CAA1E071491}"/>
              </a:ext>
            </a:extLst>
          </p:cNvPr>
          <p:cNvSpPr txBox="1"/>
          <p:nvPr/>
        </p:nvSpPr>
        <p:spPr>
          <a:xfrm>
            <a:off x="89941" y="1179226"/>
            <a:ext cx="6555699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>
                <a:hlinkClick r:id="rId2"/>
              </a:rPr>
              <a:t>https://tether.to</a:t>
            </a:r>
            <a:r>
              <a:rPr lang="en-US" sz="1400"/>
              <a:t> - 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>
                <a:hlinkClick r:id="rId3"/>
              </a:rPr>
              <a:t>https://en.wikipedia.org/wiki/Tether_(cryptocurrency)</a:t>
            </a:r>
            <a:r>
              <a:rPr lang="en-US" sz="1400"/>
              <a:t> - 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endParaRPr lang="en-US" sz="1400"/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Tether</a:t>
            </a:r>
            <a:r>
              <a:rPr lang="en-US" sz="1400"/>
              <a:t> is often called by its symbol USDT</a:t>
            </a:r>
          </a:p>
          <a:p>
            <a:endParaRPr lang="en-US" sz="1400"/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Tether</a:t>
            </a:r>
            <a:r>
              <a:rPr lang="en-US" sz="1400"/>
              <a:t> is a cryptocurrency that is hosted on the Ethereum and Bitcoin blockchains, and on other chains</a:t>
            </a:r>
          </a:p>
          <a:p>
            <a:endParaRPr lang="en-US" sz="1400"/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Tether</a:t>
            </a:r>
            <a:r>
              <a:rPr lang="en-US" sz="1400"/>
              <a:t> tokens are issued by the Hong Kong company </a:t>
            </a:r>
            <a:r>
              <a:rPr lang="en-US" sz="1400" b="1">
                <a:solidFill>
                  <a:srgbClr val="00B0F0"/>
                </a:solidFill>
              </a:rPr>
              <a:t>Tether Limited</a:t>
            </a:r>
            <a:r>
              <a:rPr lang="en-US" sz="1400"/>
              <a:t>, controlled by the owners of </a:t>
            </a:r>
            <a:r>
              <a:rPr lang="en-US" sz="1400" b="1">
                <a:solidFill>
                  <a:srgbClr val="00B0F0"/>
                </a:solidFill>
              </a:rPr>
              <a:t>Bitfinex</a:t>
            </a:r>
          </a:p>
          <a:p>
            <a:endParaRPr lang="en-US" sz="1400"/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Tether</a:t>
            </a:r>
            <a:r>
              <a:rPr lang="en-US" sz="1400"/>
              <a:t> is called a </a:t>
            </a:r>
            <a:r>
              <a:rPr lang="en-US" sz="1400" b="1">
                <a:solidFill>
                  <a:srgbClr val="FF0000"/>
                </a:solidFill>
              </a:rPr>
              <a:t>stablecoin</a:t>
            </a:r>
            <a:r>
              <a:rPr lang="en-US" sz="1400"/>
              <a:t> because it was originally designed to always be worth US $1.00 (and maintaining $1.00 in reserves for each tether issued)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endParaRPr lang="en-US" sz="1400"/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The word "</a:t>
            </a:r>
            <a:r>
              <a:rPr lang="en-US" sz="1400" b="1">
                <a:solidFill>
                  <a:srgbClr val="FF0000"/>
                </a:solidFill>
              </a:rPr>
              <a:t>Tether</a:t>
            </a:r>
            <a:r>
              <a:rPr lang="en-US" sz="1400"/>
              <a:t>" means a line (as of rope or chain) by which something (an animal) is attached/fastened to restrict its range of movement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272A16A-AC8A-FF4A-8C36-87810EF4B109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352735" y="244725"/>
            <a:ext cx="4601643" cy="10844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85139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1921</TotalTime>
  <Words>243</Words>
  <Application>Microsoft Macintosh PowerPoint</Application>
  <PresentationFormat>Widescreen</PresentationFormat>
  <Paragraphs>38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Arial</vt:lpstr>
      <vt:lpstr>Calibri</vt:lpstr>
      <vt:lpstr>Calibri Light</vt:lpstr>
      <vt:lpstr>Helvetica</vt:lpstr>
      <vt:lpstr>Office Theme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cp:lastModifiedBy>Lev Selector</cp:lastModifiedBy>
  <cp:revision>174</cp:revision>
  <dcterms:modified xsi:type="dcterms:W3CDTF">2022-05-03T02:00:23Z</dcterms:modified>
</cp:coreProperties>
</file>