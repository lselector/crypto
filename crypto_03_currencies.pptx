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34" r:id="rId1"/>
  </p:sldMasterIdLst>
  <p:notesMasterIdLst>
    <p:notesMasterId r:id="rId16"/>
  </p:notesMasterIdLst>
  <p:sldIdLst>
    <p:sldId id="308" r:id="rId2"/>
    <p:sldId id="286" r:id="rId3"/>
    <p:sldId id="304" r:id="rId4"/>
    <p:sldId id="301" r:id="rId5"/>
    <p:sldId id="263" r:id="rId6"/>
    <p:sldId id="274" r:id="rId7"/>
    <p:sldId id="294" r:id="rId8"/>
    <p:sldId id="293" r:id="rId9"/>
    <p:sldId id="307" r:id="rId10"/>
    <p:sldId id="309" r:id="rId11"/>
    <p:sldId id="310" r:id="rId12"/>
    <p:sldId id="278" r:id="rId13"/>
    <p:sldId id="311" r:id="rId14"/>
    <p:sldId id="261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12"/>
    <p:restoredTop sz="92294"/>
  </p:normalViewPr>
  <p:slideViewPr>
    <p:cSldViewPr snapToGrid="0" snapToObjects="1">
      <p:cViewPr varScale="1">
        <p:scale>
          <a:sx n="111" d="100"/>
          <a:sy n="111" d="100"/>
        </p:scale>
        <p:origin x="224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4/21/22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05281081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4/21/22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51162942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4/21/22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527415284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4/21/22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84845128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4/21/22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665113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4/21/22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80945183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4/21/22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54974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4/21/22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20695385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4/21/22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96837027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4/21/22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1393147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4/21/22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14978133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FAE4C-5332-014D-8E1B-BB8DA73EF81D}" type="datetimeFigureOut">
              <a:t>4/21/22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7257799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hitepaper.io/document/602/solana-whitepaper" TargetMode="External"/><Relationship Id="rId7" Type="http://schemas.openxmlformats.org/officeDocument/2006/relationships/image" Target="../media/image2.png"/><Relationship Id="rId2" Type="http://schemas.openxmlformats.org/officeDocument/2006/relationships/hyperlink" Target="https://en.wikipedia.org/wiki/Solana_(blockchain_platform)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hyperlink" Target="https://www.youtube.com/watch?v=knBQXU7fetA" TargetMode="External"/><Relationship Id="rId4" Type="http://schemas.openxmlformats.org/officeDocument/2006/relationships/hyperlink" Target="https://solana.com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niswap/v3-core" TargetMode="External"/><Relationship Id="rId2" Type="http://schemas.openxmlformats.org/officeDocument/2006/relationships/hyperlink" Target="https://uniswap.org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linkedin.com/in/haydenadams/" TargetMode="Externa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2" Type="http://schemas.openxmlformats.org/officeDocument/2006/relationships/hyperlink" Target="https://en.wikipedia.org/wiki/Non-fungible_token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pensea.io/" TargetMode="External"/><Relationship Id="rId5" Type="http://schemas.openxmlformats.org/officeDocument/2006/relationships/hyperlink" Target="https://www.fool.com/investing/stock-market/market-sectors/financials/non-fungible-tokens/nft-marketplaces/" TargetMode="Externa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nvestopedia.com/terms/s/stablecoin.asp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en.wikipedia.org/wiki/Lightning_Network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en.m.wikipedia.org/wiki/Litecoin" TargetMode="External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en.wikipedia.org/wiki/Bitcoin_Cash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Tether_(cryptocurrency)" TargetMode="External"/><Relationship Id="rId2" Type="http://schemas.openxmlformats.org/officeDocument/2006/relationships/hyperlink" Target="https://tether.to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valabs.org/" TargetMode="External"/><Relationship Id="rId2" Type="http://schemas.openxmlformats.org/officeDocument/2006/relationships/hyperlink" Target="https://www.avax.network/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jpe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ogecoin.com/" TargetMode="External"/><Relationship Id="rId2" Type="http://schemas.openxmlformats.org/officeDocument/2006/relationships/hyperlink" Target="https://en.wikipedia.org/wiki/Dogecoin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hyperlink" Target="https://www.reddit.com/r/dogecoin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onero" TargetMode="External"/><Relationship Id="rId2" Type="http://schemas.openxmlformats.org/officeDocument/2006/relationships/hyperlink" Target="https://www.getmonero.org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www.milliontoken.org/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.png"/><Relationship Id="rId4" Type="http://schemas.openxmlformats.org/officeDocument/2006/relationships/hyperlink" Target="http://metamask.io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ADE967-FE62-414A-BF79-41BC24C20BA5}"/>
              </a:ext>
            </a:extLst>
          </p:cNvPr>
          <p:cNvSpPr txBox="1"/>
          <p:nvPr/>
        </p:nvSpPr>
        <p:spPr>
          <a:xfrm>
            <a:off x="2997842" y="0"/>
            <a:ext cx="582555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/>
              <a:t>Thousands of Crypto-Currencies</a:t>
            </a:r>
          </a:p>
          <a:p>
            <a:pPr algn="ctr"/>
            <a:r>
              <a:rPr lang="en-US" sz="2800" b="1"/>
              <a:t>Coins and Tokens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044B7-6425-0244-B685-6F6A6BC3AD0C}"/>
              </a:ext>
            </a:extLst>
          </p:cNvPr>
          <p:cNvSpPr txBox="1"/>
          <p:nvPr/>
        </p:nvSpPr>
        <p:spPr>
          <a:xfrm>
            <a:off x="4577348" y="1796717"/>
            <a:ext cx="4716379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/>
              <a:t>Solana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/>
              <a:t>Cardano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/>
              <a:t>Uniswap Protocol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/>
              <a:t>NFT = Non-fungible token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/>
              <a:t>Stable Coins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/>
              <a:t>Lightning Network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/>
              <a:t>Light Coin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/>
              <a:t>Bitcoin Cash, Bitcoin SV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/>
              <a:t>Tether / USDT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/>
              <a:t>Avalanche, AVAX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/>
              <a:t>Dogecoin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/>
              <a:t>Million token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/>
              <a:t>. . . </a:t>
            </a:r>
          </a:p>
        </p:txBody>
      </p:sp>
    </p:spTree>
    <p:extLst>
      <p:ext uri="{BB962C8B-B14F-4D97-AF65-F5344CB8AC3E}">
        <p14:creationId xmlns:p14="http://schemas.microsoft.com/office/powerpoint/2010/main" val="477793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9DC20C-FDFA-E342-BB93-01657E67DA97}"/>
              </a:ext>
            </a:extLst>
          </p:cNvPr>
          <p:cNvSpPr txBox="1"/>
          <p:nvPr/>
        </p:nvSpPr>
        <p:spPr>
          <a:xfrm>
            <a:off x="42334" y="1203891"/>
            <a:ext cx="665971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Solana is a public blockchain platform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Very fast: 50,000/sec (vs 15 ETH or 7 BTC)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Very cheap: 0.00025 per transaction (vs $2-$50 for ETH,BTC)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Initial – 2019, growing very fast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Written in Rust, developer friendly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It achieves consensus using the proof of stake mechanism.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Its internal cryptocurrency is SOL (Symbol: ◎)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Developer(s): Solana Labs &amp; Solana Foundation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In 2021, Bloomberg journalist Joanna Ossinger described Solana as "a potential long-term rival for Ethereum", citing superior transaction speeds and lower associated costs.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https://en.wikipedia.org/wiki/Solana_(blockchain_platform)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https://whitepaper.io/document/602/solana-whitepaper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4"/>
              </a:rPr>
              <a:t>https://solana.com</a:t>
            </a:r>
            <a:r>
              <a:rPr lang="en-US" sz="1400"/>
              <a:t> –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5"/>
              </a:rPr>
              <a:t>https://www.youtube.com/watch?v=knBQXU7fetA</a:t>
            </a:r>
            <a:r>
              <a:rPr lang="en-US" sz="1400"/>
              <a:t> – 3 min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Market cap: $46B (September 2021)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Circulating supply: 308,704,493.99 SOL (as 24th Dec 2021)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Exchange rate: US$203 (October 2021)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B3CF91-778B-6C4F-965F-8A705D333576}"/>
              </a:ext>
            </a:extLst>
          </p:cNvPr>
          <p:cNvSpPr txBox="1"/>
          <p:nvPr/>
        </p:nvSpPr>
        <p:spPr>
          <a:xfrm>
            <a:off x="42333" y="0"/>
            <a:ext cx="605366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Solana</a:t>
            </a:r>
            <a:r>
              <a:rPr lang="en-US" sz="2800"/>
              <a:t> </a:t>
            </a:r>
          </a:p>
          <a:p>
            <a:r>
              <a:rPr lang="en-US" sz="1400"/>
              <a:t>blockchain platform – using </a:t>
            </a:r>
            <a:r>
              <a:rPr lang="en-US" sz="1400" b="1">
                <a:solidFill>
                  <a:srgbClr val="00B050"/>
                </a:solidFill>
              </a:rPr>
              <a:t>Proof of Stake</a:t>
            </a:r>
            <a:r>
              <a:rPr lang="en-US" sz="1400"/>
              <a:t>, written in Rust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10AC7D-AA82-9E40-9C2E-C6EB14B5AAC9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38892" y="237431"/>
            <a:ext cx="1486037" cy="14949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C816F9-F2F6-EB4C-BE65-612259AFCCA7}"/>
              </a:ext>
            </a:extLst>
          </p:cNvPr>
          <p:cNvSpPr txBox="1"/>
          <p:nvPr/>
        </p:nvSpPr>
        <p:spPr>
          <a:xfrm>
            <a:off x="7378835" y="2493238"/>
            <a:ext cx="263886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rgbClr val="00B050"/>
                </a:solidFill>
              </a:rPr>
              <a:t>Anatoly Yakovenko</a:t>
            </a:r>
          </a:p>
          <a:p>
            <a:pPr algn="ctr"/>
            <a:r>
              <a:rPr lang="en-US" sz="1400"/>
              <a:t>San Francisco Bay Area</a:t>
            </a:r>
          </a:p>
          <a:p>
            <a:pPr algn="ctr"/>
            <a:r>
              <a:rPr lang="en-US" sz="1400"/>
              <a:t>anatoly@solana.io</a:t>
            </a:r>
          </a:p>
          <a:p>
            <a:pPr algn="ctr"/>
            <a:r>
              <a:rPr lang="en-US" sz="1400"/>
              <a:t>https://www.linkedin.com/in/anatoly-yakovenko/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FCD1C56-E5C4-5C46-8724-FFDF12AAD820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95614" y="182941"/>
            <a:ext cx="1805313" cy="2310297"/>
          </a:xfrm>
          <a:prstGeom prst="rect">
            <a:avLst/>
          </a:prstGeom>
        </p:spPr>
      </p:pic>
      <p:graphicFrame>
        <p:nvGraphicFramePr>
          <p:cNvPr id="11" name="Table 11">
            <a:extLst>
              <a:ext uri="{FF2B5EF4-FFF2-40B4-BE49-F238E27FC236}">
                <a16:creationId xmlns:a16="http://schemas.microsoft.com/office/drawing/2014/main" id="{8F181E6C-68B6-9C43-9077-F60B7514A1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2306157"/>
              </p:ext>
            </p:extLst>
          </p:nvPr>
        </p:nvGraphicFramePr>
        <p:xfrm>
          <a:off x="7795614" y="4663440"/>
          <a:ext cx="4156698" cy="126279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77515">
                  <a:extLst>
                    <a:ext uri="{9D8B030D-6E8A-4147-A177-3AD203B41FA5}">
                      <a16:colId xmlns:a16="http://schemas.microsoft.com/office/drawing/2014/main" val="3419461450"/>
                    </a:ext>
                  </a:extLst>
                </a:gridCol>
                <a:gridCol w="972311">
                  <a:extLst>
                    <a:ext uri="{9D8B030D-6E8A-4147-A177-3AD203B41FA5}">
                      <a16:colId xmlns:a16="http://schemas.microsoft.com/office/drawing/2014/main" val="690856478"/>
                    </a:ext>
                  </a:extLst>
                </a:gridCol>
                <a:gridCol w="1006872">
                  <a:extLst>
                    <a:ext uri="{9D8B030D-6E8A-4147-A177-3AD203B41FA5}">
                      <a16:colId xmlns:a16="http://schemas.microsoft.com/office/drawing/2014/main" val="209732166"/>
                    </a:ext>
                  </a:extLst>
                </a:gridCol>
              </a:tblGrid>
              <a:tr h="432751"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Solana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Ethereum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636452851"/>
                  </a:ext>
                </a:extLst>
              </a:tr>
              <a:tr h="430348">
                <a:tc>
                  <a:txBody>
                    <a:bodyPr/>
                    <a:lstStyle/>
                    <a:p>
                      <a:r>
                        <a:rPr lang="en-US" sz="1400"/>
                        <a:t>transactions per sec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50,000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15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28558081"/>
                  </a:ext>
                </a:extLst>
              </a:tr>
              <a:tr h="399699">
                <a:tc>
                  <a:txBody>
                    <a:bodyPr/>
                    <a:lstStyle/>
                    <a:p>
                      <a:r>
                        <a:rPr lang="en-US" sz="1400"/>
                        <a:t>cost per transaction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$0.00025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$70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91679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44069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9DC20C-FDFA-E342-BB93-01657E67DA97}"/>
              </a:ext>
            </a:extLst>
          </p:cNvPr>
          <p:cNvSpPr txBox="1"/>
          <p:nvPr/>
        </p:nvSpPr>
        <p:spPr>
          <a:xfrm>
            <a:off x="42334" y="1346567"/>
            <a:ext cx="712316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Cordano is a public blockchain platform, smart contracts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Fast: 250 /sec (it will be Millions)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Relatively cheap: $0.4 per transaction (will be much lower soon)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Initial – 2017, growing very fast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Written in Haskell, developer friendly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It achieves consensus using the PoS (Proof of Stake) mechanism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Its internal cryptocurrency is ADA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Developer(s): Charles Hoskinson, Ethereum co-founder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Cordano is named after famous italian scientist Gerolamo Cardano (1501-1576)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ADA is named after Ada Lovelace (1815-1852) - English mathematician and writer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B3CF91-778B-6C4F-965F-8A705D333576}"/>
              </a:ext>
            </a:extLst>
          </p:cNvPr>
          <p:cNvSpPr txBox="1"/>
          <p:nvPr/>
        </p:nvSpPr>
        <p:spPr>
          <a:xfrm>
            <a:off x="42333" y="0"/>
            <a:ext cx="661972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Cardano</a:t>
            </a:r>
            <a:r>
              <a:rPr lang="en-US" sz="1400"/>
              <a:t> </a:t>
            </a:r>
          </a:p>
          <a:p>
            <a:r>
              <a:rPr lang="en-US" sz="1400"/>
              <a:t>Blockchain platform – using </a:t>
            </a:r>
            <a:r>
              <a:rPr lang="en-US" sz="1400" b="1">
                <a:solidFill>
                  <a:srgbClr val="00B050"/>
                </a:solidFill>
              </a:rPr>
              <a:t>Proof of Stake</a:t>
            </a:r>
            <a:r>
              <a:rPr lang="en-US" sz="1400"/>
              <a:t>, written in Haskell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C816F9-F2F6-EB4C-BE65-612259AFCCA7}"/>
              </a:ext>
            </a:extLst>
          </p:cNvPr>
          <p:cNvSpPr txBox="1"/>
          <p:nvPr/>
        </p:nvSpPr>
        <p:spPr>
          <a:xfrm>
            <a:off x="7585996" y="2491134"/>
            <a:ext cx="21453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rgbClr val="00B050"/>
                </a:solidFill>
              </a:rPr>
              <a:t>Charles Hoskinson</a:t>
            </a:r>
          </a:p>
          <a:p>
            <a:pPr algn="ctr"/>
            <a:r>
              <a:rPr lang="en-US" sz="1400"/>
              <a:t>Colorado,</a:t>
            </a:r>
          </a:p>
          <a:p>
            <a:pPr algn="ctr"/>
            <a:r>
              <a:rPr lang="en-US" sz="1400"/>
              <a:t>Cardano Foundation based in Switzerland.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56F842-B90A-B94E-A54E-1E52E2560A9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27647" y="489259"/>
            <a:ext cx="1731071" cy="17146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000AD1E-5327-A24F-BA89-0EA963C0C52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93158" y="127578"/>
            <a:ext cx="1731069" cy="2338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237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4A1FCE-DD4B-A042-906F-76F39117A3B3}"/>
              </a:ext>
            </a:extLst>
          </p:cNvPr>
          <p:cNvSpPr txBox="1"/>
          <p:nvPr/>
        </p:nvSpPr>
        <p:spPr>
          <a:xfrm>
            <a:off x="49210" y="69807"/>
            <a:ext cx="32148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Uniswap Protocol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848DEE-1664-E44E-B5CB-AAE129F74CC6}"/>
              </a:ext>
            </a:extLst>
          </p:cNvPr>
          <p:cNvSpPr txBox="1"/>
          <p:nvPr/>
        </p:nvSpPr>
        <p:spPr>
          <a:xfrm>
            <a:off x="233989" y="2070874"/>
            <a:ext cx="6473551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 b="1">
                <a:solidFill>
                  <a:srgbClr val="FF0000"/>
                </a:solidFill>
              </a:rPr>
              <a:t>Uniswap</a:t>
            </a:r>
            <a:r>
              <a:rPr lang="en-US" sz="1600"/>
              <a:t> (2018)  is a decentralized open source finance protocol that is used to exchange cryptocurrencies on Ethereum blockchain. Written in Solidity.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 b="1">
                <a:solidFill>
                  <a:srgbClr val="FF0000"/>
                </a:solidFill>
              </a:rPr>
              <a:t>Uniswap</a:t>
            </a:r>
            <a:r>
              <a:rPr lang="en-US" sz="1600"/>
              <a:t> is also the name of the company that initially built the Uniswap protocol.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/>
              <a:t>The </a:t>
            </a:r>
            <a:r>
              <a:rPr lang="en-US" sz="1600" b="1">
                <a:solidFill>
                  <a:srgbClr val="FF0000"/>
                </a:solidFill>
              </a:rPr>
              <a:t>Uniswap </a:t>
            </a:r>
            <a:r>
              <a:rPr lang="en-US" sz="1600"/>
              <a:t>protocol facilitates automated transactions between cryptocurrency tokens on the Ethereum blockchain through the use of smart contracts.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/>
              <a:t>As of October 2020, Uniswap was estimated to be the </a:t>
            </a:r>
            <a:r>
              <a:rPr lang="en-US" sz="1600" b="1">
                <a:solidFill>
                  <a:srgbClr val="00B050"/>
                </a:solidFill>
              </a:rPr>
              <a:t>largest decentralized exchange</a:t>
            </a:r>
            <a:r>
              <a:rPr lang="en-US" sz="1600"/>
              <a:t> and the </a:t>
            </a:r>
            <a:r>
              <a:rPr lang="en-US" sz="1600" b="1">
                <a:solidFill>
                  <a:srgbClr val="00B050"/>
                </a:solidFill>
              </a:rPr>
              <a:t>fourth-largest cryptocurrency exchange</a:t>
            </a:r>
            <a:r>
              <a:rPr lang="en-US" sz="1600"/>
              <a:t> overall by daily trading volume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600" b="1">
                <a:solidFill>
                  <a:srgbClr val="FF0000"/>
                </a:solidFill>
              </a:rPr>
              <a:t>Uniswap</a:t>
            </a:r>
            <a:r>
              <a:rPr lang="en-US" sz="1600"/>
              <a:t> has been one of the shining stars of the crypto market. Investors are looking to buy </a:t>
            </a:r>
            <a:r>
              <a:rPr lang="en-US" sz="1600" b="1">
                <a:solidFill>
                  <a:srgbClr val="FF0000"/>
                </a:solidFill>
              </a:rPr>
              <a:t>UNI</a:t>
            </a:r>
            <a:r>
              <a:rPr lang="en-US" sz="1600"/>
              <a:t> due to its impressive performance.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D54AB8-3314-3D4C-A228-31E92F98C58C}"/>
              </a:ext>
            </a:extLst>
          </p:cNvPr>
          <p:cNvSpPr txBox="1"/>
          <p:nvPr/>
        </p:nvSpPr>
        <p:spPr>
          <a:xfrm>
            <a:off x="233988" y="812800"/>
            <a:ext cx="49796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https://uniswap.org/</a:t>
            </a:r>
            <a:r>
              <a:rPr lang="en-US" sz="1400"/>
              <a:t>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https://github.com/Uniswap/v3-core</a:t>
            </a:r>
            <a:endParaRPr lang="en-US" sz="140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E35B56D-DCFE-8D4C-99A4-DBEB4D88D76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36096" y="145124"/>
            <a:ext cx="1871955" cy="21560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6E0A05B-1259-DD4B-989B-DAD2FC453691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29883" y="525021"/>
            <a:ext cx="1836396" cy="255847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FBCD919-6B63-9549-B59C-47BBA9096CCB}"/>
              </a:ext>
            </a:extLst>
          </p:cNvPr>
          <p:cNvSpPr txBox="1"/>
          <p:nvPr/>
        </p:nvSpPr>
        <p:spPr>
          <a:xfrm>
            <a:off x="8704162" y="3074066"/>
            <a:ext cx="348783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rgbClr val="00B050"/>
                </a:solidFill>
              </a:rPr>
              <a:t>Hayden Adams</a:t>
            </a:r>
          </a:p>
          <a:p>
            <a:pPr algn="ctr"/>
            <a:r>
              <a:rPr lang="en-US" sz="1400"/>
              <a:t>Inventor of Uniswap Protocol</a:t>
            </a:r>
          </a:p>
          <a:p>
            <a:pPr algn="ctr"/>
            <a:r>
              <a:rPr lang="en-US" sz="1400"/>
              <a:t>CEO at Uniswap Labs</a:t>
            </a:r>
          </a:p>
          <a:p>
            <a:pPr algn="ctr"/>
            <a:r>
              <a:rPr lang="en-US" sz="1400"/>
              <a:t>New York</a:t>
            </a:r>
          </a:p>
          <a:p>
            <a:pPr algn="ctr"/>
            <a:r>
              <a:rPr lang="en-US" sz="1400">
                <a:hlinkClick r:id="rId6"/>
              </a:rPr>
              <a:t>https://www.linkedin.com/in/haydenadams/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68769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9B837B-E33E-1E4B-81A8-8A9D743E0900}"/>
              </a:ext>
            </a:extLst>
          </p:cNvPr>
          <p:cNvSpPr txBox="1"/>
          <p:nvPr/>
        </p:nvSpPr>
        <p:spPr>
          <a:xfrm>
            <a:off x="2" y="0"/>
            <a:ext cx="44909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NFT = Non-fungible token</a:t>
            </a:r>
          </a:p>
          <a:p>
            <a:r>
              <a:rPr lang="en-US" sz="1400">
                <a:hlinkClick r:id="rId2"/>
              </a:rPr>
              <a:t>https://en.wikipedia.org/wiki/Non-fungible_token</a:t>
            </a:r>
            <a:endParaRPr lang="en-US" sz="1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DFACDB-D6D0-C44F-AC6D-CF892A84F6B0}"/>
              </a:ext>
            </a:extLst>
          </p:cNvPr>
          <p:cNvSpPr txBox="1"/>
          <p:nvPr/>
        </p:nvSpPr>
        <p:spPr>
          <a:xfrm>
            <a:off x="0" y="1345352"/>
            <a:ext cx="5420139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With NFTs, artwork can be "tokenised" to create a digital certificate of ownership that can be bought and sold (sometimes for millions of $$)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NFTs are cryptographic assets on a blockchain with unique identification codes and metadata that distinguish them from each other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NFT provide a public certificate of authenticity or proof of ownership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NFT is separate from a copyright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NFT differ from crypto-currencies: there is no trading, no interchangeability (fungibility)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NFT do not restrict the sharing or copying of the underlying digital files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8D7E68-9DAD-EA49-ABA2-D37D2A10EE9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4852" y="5344121"/>
            <a:ext cx="1123541" cy="12794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C79F307-2606-1F4D-A50E-4DE2D91DA8DA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15567" y="5453705"/>
            <a:ext cx="1133268" cy="11698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0272E0-09D8-814C-93F6-F57E5B4F5073}"/>
              </a:ext>
            </a:extLst>
          </p:cNvPr>
          <p:cNvSpPr txBox="1"/>
          <p:nvPr/>
        </p:nvSpPr>
        <p:spPr>
          <a:xfrm>
            <a:off x="5632173" y="57737"/>
            <a:ext cx="6559827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NFTs can be sold or bought on many crypto market places</a:t>
            </a:r>
            <a:br>
              <a:rPr lang="en-US" sz="1400"/>
            </a:br>
            <a:r>
              <a:rPr lang="en-US" sz="1400">
                <a:hlinkClick r:id="rId5"/>
              </a:rPr>
              <a:t>https://www.fool.com/investing/stock-market/market-sectors/financials/non-fungible-tokens/nft-marketplaces/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OpenSea</a:t>
            </a:r>
            <a:r>
              <a:rPr lang="en-US" sz="1400"/>
              <a:t> - </a:t>
            </a:r>
            <a:r>
              <a:rPr lang="en-US" sz="1400">
                <a:hlinkClick r:id="rId6"/>
              </a:rPr>
              <a:t>https://opensea.io</a:t>
            </a:r>
            <a:r>
              <a:rPr lang="en-US" sz="1400"/>
              <a:t> - first and largest. Helps to mint yor own NFTs, supports 150+ different payment tokens.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Axie Marketplace</a:t>
            </a:r>
            <a:r>
              <a:rPr lang="en-US" sz="1400"/>
              <a:t> - video game Axie Infinity. Ethereum.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Larva Labs/CryptoPunks</a:t>
            </a:r>
            <a:r>
              <a:rPr lang="en-US" sz="1400"/>
              <a:t> - digital art, Ethereum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NBA Top Shot Marketplace</a:t>
            </a:r>
            <a:r>
              <a:rPr lang="en-US" sz="1400"/>
              <a:t> (Basketball collectibles), Flow blockchain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Rarible</a:t>
            </a:r>
            <a:r>
              <a:rPr lang="en-US" sz="1400"/>
              <a:t> - similar to OpenSea, its own token Rarible built on Ethereum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SuperRare</a:t>
            </a:r>
            <a:r>
              <a:rPr lang="en-US" sz="1400"/>
              <a:t> - similar to Rarible. Ethereum. New token announced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Foundation.app</a:t>
            </a:r>
            <a:r>
              <a:rPr lang="en-US" sz="1400"/>
              <a:t> - use Etherium to buy/sell digital art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Nifty Gateway</a:t>
            </a:r>
            <a:r>
              <a:rPr lang="en-US" sz="1400"/>
              <a:t> - the art curation platform, uses </a:t>
            </a:r>
            <a:r>
              <a:rPr lang="en-US" sz="1400" b="1">
                <a:solidFill>
                  <a:srgbClr val="FF0000"/>
                </a:solidFill>
              </a:rPr>
              <a:t>Gemini</a:t>
            </a:r>
            <a:r>
              <a:rPr lang="en-US" sz="1400"/>
              <a:t>. Ethereum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Mintable</a:t>
            </a:r>
            <a:r>
              <a:rPr lang="en-US" sz="1400"/>
              <a:t> - similar to OpenSea. Ethereum. Minting of NFTs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Theta Drop</a:t>
            </a:r>
            <a:r>
              <a:rPr lang="en-US" sz="1400"/>
              <a:t> - video and TV, its own blockchain, Theta Token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78AB342-0D50-3E4A-9EBE-CC00D5820F94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59565" y="3829880"/>
            <a:ext cx="6528183" cy="2973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77371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54B0A0-2FD2-3B49-8698-9FE080E83492}"/>
              </a:ext>
            </a:extLst>
          </p:cNvPr>
          <p:cNvSpPr txBox="1"/>
          <p:nvPr/>
        </p:nvSpPr>
        <p:spPr>
          <a:xfrm>
            <a:off x="1" y="1"/>
            <a:ext cx="28362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Stable Coins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B42B4C-7414-E84D-94A1-4CA7C8107427}"/>
              </a:ext>
            </a:extLst>
          </p:cNvPr>
          <p:cNvSpPr txBox="1"/>
          <p:nvPr/>
        </p:nvSpPr>
        <p:spPr>
          <a:xfrm>
            <a:off x="0" y="589081"/>
            <a:ext cx="54292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 - </a:t>
            </a:r>
            <a:r>
              <a:rPr lang="en-US" sz="1400">
                <a:hlinkClick r:id="rId2"/>
              </a:rPr>
              <a:t>https://www.investopedia.com/terms/s/stablecoin.asp</a:t>
            </a:r>
            <a:r>
              <a:rPr lang="en-US" sz="1400"/>
              <a:t> -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556A85-2EDA-6C4A-92BE-5A12AF9C0929}"/>
              </a:ext>
            </a:extLst>
          </p:cNvPr>
          <p:cNvSpPr txBox="1"/>
          <p:nvPr/>
        </p:nvSpPr>
        <p:spPr>
          <a:xfrm>
            <a:off x="621674" y="1560631"/>
            <a:ext cx="522330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50"/>
                </a:solidFill>
              </a:rPr>
              <a:t>Stablecoins</a:t>
            </a:r>
            <a:r>
              <a:rPr lang="en-US" sz="1400"/>
              <a:t> are </a:t>
            </a:r>
            <a:r>
              <a:rPr lang="en-US" sz="1400" b="1">
                <a:solidFill>
                  <a:srgbClr val="FF0000"/>
                </a:solidFill>
              </a:rPr>
              <a:t>cryptocurrencies</a:t>
            </a:r>
            <a:r>
              <a:rPr lang="en-US" sz="1400"/>
              <a:t> </a:t>
            </a:r>
          </a:p>
          <a:p>
            <a:r>
              <a:rPr lang="en-US" sz="1400"/>
              <a:t>that attempt to peg their market value </a:t>
            </a:r>
          </a:p>
          <a:p>
            <a:r>
              <a:rPr lang="en-US" sz="1400"/>
              <a:t>to something external, like a currency (USD), </a:t>
            </a:r>
          </a:p>
          <a:p>
            <a:r>
              <a:rPr lang="en-US" sz="1400"/>
              <a:t>or commodity's price (gold), etc.</a:t>
            </a:r>
          </a:p>
          <a:p>
            <a:endParaRPr lang="en-US" sz="1400"/>
          </a:p>
          <a:p>
            <a:r>
              <a:rPr lang="en-US" sz="1400" b="1">
                <a:solidFill>
                  <a:srgbClr val="00B050"/>
                </a:solidFill>
              </a:rPr>
              <a:t>Stablecoins</a:t>
            </a:r>
            <a:r>
              <a:rPr lang="en-US" sz="1400"/>
              <a:t> achieve their price stability via </a:t>
            </a:r>
          </a:p>
          <a:p>
            <a:r>
              <a:rPr lang="en-US" sz="1400"/>
              <a:t>either collateralization (backing) </a:t>
            </a:r>
          </a:p>
          <a:p>
            <a:r>
              <a:rPr lang="en-US" sz="1400"/>
              <a:t>or through algorithmic mechanisms of buying </a:t>
            </a:r>
          </a:p>
          <a:p>
            <a:r>
              <a:rPr lang="en-US" sz="1400"/>
              <a:t>and selling the reference asset or its derivatives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E10B3BF-93DD-ED46-8D9D-D86F4400C3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6182313"/>
              </p:ext>
            </p:extLst>
          </p:nvPr>
        </p:nvGraphicFramePr>
        <p:xfrm>
          <a:off x="7387794" y="1560631"/>
          <a:ext cx="4182533" cy="213360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2489200">
                  <a:extLst>
                    <a:ext uri="{9D8B030D-6E8A-4147-A177-3AD203B41FA5}">
                      <a16:colId xmlns:a16="http://schemas.microsoft.com/office/drawing/2014/main" val="2982074288"/>
                    </a:ext>
                  </a:extLst>
                </a:gridCol>
                <a:gridCol w="1693333">
                  <a:extLst>
                    <a:ext uri="{9D8B030D-6E8A-4147-A177-3AD203B41FA5}">
                      <a16:colId xmlns:a16="http://schemas.microsoft.com/office/drawing/2014/main" val="1493870040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u="none" strike="noStrike">
                          <a:solidFill>
                            <a:srgbClr val="FF0000"/>
                          </a:solidFill>
                          <a:effectLst/>
                        </a:rPr>
                        <a:t>Currency</a:t>
                      </a:r>
                      <a:endParaRPr lang="en-US" sz="1400" b="1" i="1" u="none" strike="noStrike">
                        <a:solidFill>
                          <a:srgbClr val="FF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u="none" strike="noStrike">
                          <a:solidFill>
                            <a:srgbClr val="FF0000"/>
                          </a:solidFill>
                          <a:effectLst/>
                        </a:rPr>
                        <a:t>Market value</a:t>
                      </a: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366364274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Tether / USDT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$ 73.32 billion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58252216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USD Coin / USDC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$ 34.35 billion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2234970906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Binance USD / BUSD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$ 13.54 billion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220401245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Dai / DAI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$ 6.47 billion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416296202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TerraUSD / UST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$ 2.88 billion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316326235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TrueUSD / TUSD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$ 1.25 billion</a:t>
                      </a:r>
                      <a:endParaRPr lang="en-US" sz="1400" b="0" i="1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12700" marR="12700" marT="12700" marB="0" anchor="b"/>
                </a:tc>
                <a:extLst>
                  <a:ext uri="{0D108BD9-81ED-4DB2-BD59-A6C34878D82A}">
                    <a16:rowId xmlns:a16="http://schemas.microsoft.com/office/drawing/2014/main" val="22358504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2448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E4D131-7508-F647-A392-A18116EF40E4}"/>
              </a:ext>
            </a:extLst>
          </p:cNvPr>
          <p:cNvSpPr txBox="1"/>
          <p:nvPr/>
        </p:nvSpPr>
        <p:spPr>
          <a:xfrm>
            <a:off x="1" y="508647"/>
            <a:ext cx="44905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hlinkClick r:id="rId2"/>
              </a:rPr>
              <a:t>https://en.wikipedia.org/wiki/Lightning_Network</a:t>
            </a:r>
            <a:endParaRPr lang="en-US" sz="1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796AE3-BE62-1A46-A8CB-DB50C13DC99A}"/>
              </a:ext>
            </a:extLst>
          </p:cNvPr>
          <p:cNvSpPr txBox="1"/>
          <p:nvPr/>
        </p:nvSpPr>
        <p:spPr>
          <a:xfrm>
            <a:off x="2" y="-4313"/>
            <a:ext cx="31598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Lightning Network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FFDCD7-CF6C-9140-B888-87776FBFBA83}"/>
              </a:ext>
            </a:extLst>
          </p:cNvPr>
          <p:cNvSpPr txBox="1"/>
          <p:nvPr/>
        </p:nvSpPr>
        <p:spPr>
          <a:xfrm>
            <a:off x="104745" y="1273954"/>
            <a:ext cx="7761837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The Lightning Network (LN) is a "layer 2" payment protocol layered on top of a blockchain-based cryptocurrency such as </a:t>
            </a:r>
            <a:r>
              <a:rPr lang="en-US" sz="1400" b="1">
                <a:solidFill>
                  <a:srgbClr val="00B050"/>
                </a:solidFill>
              </a:rPr>
              <a:t>bitcoin</a:t>
            </a:r>
            <a:r>
              <a:rPr lang="en-US" sz="1400"/>
              <a:t> or </a:t>
            </a:r>
            <a:r>
              <a:rPr lang="en-US" sz="1400" b="1">
                <a:solidFill>
                  <a:srgbClr val="00B050"/>
                </a:solidFill>
              </a:rPr>
              <a:t>litecoin</a:t>
            </a:r>
            <a:r>
              <a:rPr lang="en-US" sz="1400"/>
              <a:t>. </a:t>
            </a:r>
          </a:p>
          <a:p>
            <a:endParaRPr lang="en-US" sz="1400"/>
          </a:p>
          <a:p>
            <a:r>
              <a:rPr lang="en-US" sz="1400"/>
              <a:t>It is intended to enable fast transactions among participating nodes and has been proposed as a solution to the bitcoin scalability problem</a:t>
            </a:r>
          </a:p>
          <a:p>
            <a:endParaRPr lang="en-US" sz="1400"/>
          </a:p>
          <a:p>
            <a:r>
              <a:rPr lang="en-US" sz="1400"/>
              <a:t>Cryptocurrency exchanges such as </a:t>
            </a:r>
            <a:r>
              <a:rPr lang="en-US" sz="1400" b="1">
                <a:solidFill>
                  <a:srgbClr val="00B050"/>
                </a:solidFill>
              </a:rPr>
              <a:t>Bitfinex</a:t>
            </a:r>
            <a:r>
              <a:rPr lang="en-US" sz="1400"/>
              <a:t> use Lightning Network to enable deposits and withdrawals.</a:t>
            </a:r>
          </a:p>
          <a:p>
            <a:endParaRPr lang="en-US" sz="1400"/>
          </a:p>
          <a:p>
            <a:r>
              <a:rPr lang="en-US" sz="1400" b="1">
                <a:solidFill>
                  <a:srgbClr val="00B050"/>
                </a:solidFill>
              </a:rPr>
              <a:t>Laszlo Hanyecz</a:t>
            </a:r>
            <a:r>
              <a:rPr lang="en-US" sz="1400"/>
              <a:t>, who gained fame in the cryptocurrency community for paying </a:t>
            </a:r>
            <a:r>
              <a:rPr lang="en-US" sz="1400" b="1">
                <a:solidFill>
                  <a:srgbClr val="FF0000"/>
                </a:solidFill>
              </a:rPr>
              <a:t>10,000 BTC</a:t>
            </a:r>
            <a:r>
              <a:rPr lang="en-US" sz="1400"/>
              <a:t> for two pizzas in 2010, bought two more pizzas in 2018 using Lightning Network and paid </a:t>
            </a:r>
            <a:r>
              <a:rPr lang="en-US" sz="1400" b="1">
                <a:solidFill>
                  <a:srgbClr val="FF0000"/>
                </a:solidFill>
              </a:rPr>
              <a:t>0.00649 BTC</a:t>
            </a:r>
            <a:r>
              <a:rPr lang="en-US" sz="1400"/>
              <a:t>.</a:t>
            </a:r>
          </a:p>
          <a:p>
            <a:endParaRPr lang="en-US" sz="1400"/>
          </a:p>
          <a:p>
            <a:r>
              <a:rPr lang="en-US" sz="1400"/>
              <a:t>Zion (The Bitcoin Social Network) utilizes the Lightning Network running LND (LN Daemon) to send content peer-to-peer through channels.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B0B57F-5F21-C74C-AA63-39E97B09964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00901" y="674711"/>
            <a:ext cx="2026635" cy="2228149"/>
          </a:xfrm>
          <a:prstGeom prst="rect">
            <a:avLst/>
          </a:prstGeom>
        </p:spPr>
      </p:pic>
      <p:pic>
        <p:nvPicPr>
          <p:cNvPr id="1028" name="Picture 4" descr="10 Years On, Laszlo Hanyecz Has No Regrets About His $45M Bitcoin Pizzas -  CoinDesk">
            <a:extLst>
              <a:ext uri="{FF2B5EF4-FFF2-40B4-BE49-F238E27FC236}">
                <a16:creationId xmlns:a16="http://schemas.microsoft.com/office/drawing/2014/main" id="{99ACE604-8E98-B64B-8769-A09521AA71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600899" y="3493381"/>
            <a:ext cx="2026636" cy="1621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43F2D1B-1755-C64C-AC38-5A8A78F14C16}"/>
              </a:ext>
            </a:extLst>
          </p:cNvPr>
          <p:cNvSpPr txBox="1"/>
          <p:nvPr/>
        </p:nvSpPr>
        <p:spPr>
          <a:xfrm>
            <a:off x="9721611" y="2932582"/>
            <a:ext cx="17986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Laszlo Hanyecz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27D84C-59BA-1C4E-B325-53C56ED86372}"/>
              </a:ext>
            </a:extLst>
          </p:cNvPr>
          <p:cNvSpPr txBox="1"/>
          <p:nvPr/>
        </p:nvSpPr>
        <p:spPr>
          <a:xfrm>
            <a:off x="150471" y="5219618"/>
            <a:ext cx="7037407" cy="5232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Note about </a:t>
            </a:r>
            <a:r>
              <a:rPr lang="en-US" sz="1400" b="1">
                <a:solidFill>
                  <a:srgbClr val="00B050"/>
                </a:solidFill>
              </a:rPr>
              <a:t>Litecoin </a:t>
            </a:r>
            <a:r>
              <a:rPr lang="en-US" sz="1400"/>
              <a:t>:  Litecoin (2011) is a bitcoin fork (faster block generation, larger max number of coins, different hashing algorithm, etc.) </a:t>
            </a:r>
            <a:r>
              <a:rPr lang="en-US" sz="1400">
                <a:hlinkClick r:id="rId5"/>
              </a:rPr>
              <a:t>https://en.m.wikipedia.org/wiki/Litecoin</a:t>
            </a:r>
            <a:endParaRPr lang="en-US" sz="1400"/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22AF8C81-FFD1-5046-883E-D70FEB14AAE1}"/>
              </a:ext>
            </a:extLst>
          </p:cNvPr>
          <p:cNvSpPr/>
          <p:nvPr/>
        </p:nvSpPr>
        <p:spPr>
          <a:xfrm rot="20262202">
            <a:off x="8126089" y="2938589"/>
            <a:ext cx="1110559" cy="39835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8841626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DAD29C-2F0E-EC4B-9F5C-7248CF748EC9}"/>
              </a:ext>
            </a:extLst>
          </p:cNvPr>
          <p:cNvSpPr txBox="1"/>
          <p:nvPr/>
        </p:nvSpPr>
        <p:spPr>
          <a:xfrm>
            <a:off x="0" y="0"/>
            <a:ext cx="391224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Bitcoin Cash, Bitcoin SV</a:t>
            </a:r>
            <a:endParaRPr lang="en-US" sz="2800"/>
          </a:p>
          <a:p>
            <a:r>
              <a:rPr lang="en-US" sz="1400">
                <a:hlinkClick r:id="rId2"/>
              </a:rPr>
              <a:t>https://en.wikipedia.org/wiki/Bitcoin_Cash</a:t>
            </a:r>
            <a:endParaRPr lang="en-US" sz="1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D2543F-24F2-B944-BAE6-788FF15E4F6C}"/>
              </a:ext>
            </a:extLst>
          </p:cNvPr>
          <p:cNvSpPr txBox="1"/>
          <p:nvPr/>
        </p:nvSpPr>
        <p:spPr>
          <a:xfrm>
            <a:off x="193139" y="1279558"/>
            <a:ext cx="531136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50"/>
                </a:solidFill>
              </a:rPr>
              <a:t>Bitcoin Cash: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2017 – hard fork of Bitcoin (spin-off, altcoin)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increased block size to 8 MB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faster throughput for transactions (60 tr/sec)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BCH – currency code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54A3AEF-93C5-9D45-9B7C-DD4DE66F001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95161" y="230432"/>
            <a:ext cx="1303699" cy="129754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D597266-7FA9-2248-B72A-7839AE6F9004}"/>
              </a:ext>
            </a:extLst>
          </p:cNvPr>
          <p:cNvSpPr txBox="1"/>
          <p:nvPr/>
        </p:nvSpPr>
        <p:spPr>
          <a:xfrm>
            <a:off x="193139" y="3069621"/>
            <a:ext cx="6216715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50"/>
                </a:solidFill>
              </a:rPr>
              <a:t>Bitcoin SV: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2018 – hard fork chain split of Bitcoin Cash</a:t>
            </a:r>
            <a:br>
              <a:rPr lang="en-US" sz="1400"/>
            </a:br>
            <a:r>
              <a:rPr lang="en-US" sz="1400"/>
              <a:t> .. Bitcoin ABC (Adjustable Blocksize Cap) - 32 MB blocks</a:t>
            </a:r>
            <a:br>
              <a:rPr lang="en-US" sz="1400"/>
            </a:br>
            <a:r>
              <a:rPr lang="en-US" sz="1400"/>
              <a:t> .. Bitcoin SV (Satoshi Vision) – up to 128 MB blocks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2019 - Bitcoin SV expanded block size to 2 GBytes, enabling (theoretically) 10-15K transactions per second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The Bitcoin SV blockchain is the largest of all Bitcoin forks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1332F4-A044-4D4B-B248-576D129378E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95162" y="2517828"/>
            <a:ext cx="1301997" cy="13109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F0F5E3A-6675-AF4F-B6F4-28C008909CC2}"/>
              </a:ext>
            </a:extLst>
          </p:cNvPr>
          <p:cNvSpPr txBox="1"/>
          <p:nvPr/>
        </p:nvSpPr>
        <p:spPr>
          <a:xfrm>
            <a:off x="10693460" y="1527983"/>
            <a:ext cx="13036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Bitcoin Cash</a:t>
            </a:r>
          </a:p>
          <a:p>
            <a:pPr algn="ctr"/>
            <a:r>
              <a:rPr lang="en-US" sz="1400"/>
              <a:t>BCH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658151-C9C3-F648-A52E-1D76078D78B0}"/>
              </a:ext>
            </a:extLst>
          </p:cNvPr>
          <p:cNvSpPr txBox="1"/>
          <p:nvPr/>
        </p:nvSpPr>
        <p:spPr>
          <a:xfrm>
            <a:off x="10693460" y="3828805"/>
            <a:ext cx="13036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Bitcoin SV</a:t>
            </a:r>
          </a:p>
          <a:p>
            <a:pPr algn="ctr"/>
            <a:r>
              <a:rPr lang="en-US" sz="1400"/>
              <a:t>BSV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AF6004-4E4C-3246-877D-795E025DC21E}"/>
              </a:ext>
            </a:extLst>
          </p:cNvPr>
          <p:cNvSpPr txBox="1"/>
          <p:nvPr/>
        </p:nvSpPr>
        <p:spPr>
          <a:xfrm>
            <a:off x="7097917" y="1835760"/>
            <a:ext cx="33678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Prices (1/31/2022):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BTC – $38,300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BCH –    $288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BSV -     $91</a:t>
            </a:r>
          </a:p>
        </p:txBody>
      </p:sp>
    </p:spTree>
    <p:extLst>
      <p:ext uri="{BB962C8B-B14F-4D97-AF65-F5344CB8AC3E}">
        <p14:creationId xmlns:p14="http://schemas.microsoft.com/office/powerpoint/2010/main" val="6255135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35DF907-7EBF-7549-8D3E-F5457C861D89}"/>
              </a:ext>
            </a:extLst>
          </p:cNvPr>
          <p:cNvSpPr txBox="1"/>
          <p:nvPr/>
        </p:nvSpPr>
        <p:spPr>
          <a:xfrm>
            <a:off x="89942" y="89942"/>
            <a:ext cx="25722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Tether / USDT</a:t>
            </a:r>
            <a:endParaRPr lang="en-US" sz="2800" b="1" i="1">
              <a:solidFill>
                <a:srgbClr val="000000"/>
              </a:solidFill>
              <a:latin typeface="Helvetic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78BC53-76DB-5840-BF70-8CAA1E071491}"/>
              </a:ext>
            </a:extLst>
          </p:cNvPr>
          <p:cNvSpPr txBox="1"/>
          <p:nvPr/>
        </p:nvSpPr>
        <p:spPr>
          <a:xfrm>
            <a:off x="89941" y="1179226"/>
            <a:ext cx="655569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https://tether.to</a:t>
            </a:r>
            <a:r>
              <a:rPr lang="en-US" sz="1400"/>
              <a:t> -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https://en.wikipedia.org/wiki/Tether_(cryptocurrency)</a:t>
            </a:r>
            <a:r>
              <a:rPr lang="en-US" sz="1400"/>
              <a:t> -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Tether</a:t>
            </a:r>
            <a:r>
              <a:rPr lang="en-US" sz="1400"/>
              <a:t> is often called by its symbol USDT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Tether</a:t>
            </a:r>
            <a:r>
              <a:rPr lang="en-US" sz="1400"/>
              <a:t> is a cryptocurrency that is hosted on the Ethereum and Bitcoin blockchains, and on other chains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Tether</a:t>
            </a:r>
            <a:r>
              <a:rPr lang="en-US" sz="1400"/>
              <a:t> tokens are issued by the Hong Kong company </a:t>
            </a:r>
            <a:r>
              <a:rPr lang="en-US" sz="1400" b="1">
                <a:solidFill>
                  <a:srgbClr val="00B0F0"/>
                </a:solidFill>
              </a:rPr>
              <a:t>Tether Limited</a:t>
            </a:r>
            <a:r>
              <a:rPr lang="en-US" sz="1400"/>
              <a:t>, controlled by the owners of </a:t>
            </a:r>
            <a:r>
              <a:rPr lang="en-US" sz="1400" b="1">
                <a:solidFill>
                  <a:srgbClr val="00B0F0"/>
                </a:solidFill>
              </a:rPr>
              <a:t>Bitfinex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Tether</a:t>
            </a:r>
            <a:r>
              <a:rPr lang="en-US" sz="1400"/>
              <a:t> is called a </a:t>
            </a:r>
            <a:r>
              <a:rPr lang="en-US" sz="1400" b="1">
                <a:solidFill>
                  <a:srgbClr val="FF0000"/>
                </a:solidFill>
              </a:rPr>
              <a:t>stablecoin</a:t>
            </a:r>
            <a:r>
              <a:rPr lang="en-US" sz="1400"/>
              <a:t> because it was originally designed to always be worth US $1.00 (and maintaining $1.00 in reserves for each tether issued)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The word "</a:t>
            </a:r>
            <a:r>
              <a:rPr lang="en-US" sz="1400" b="1">
                <a:solidFill>
                  <a:srgbClr val="FF0000"/>
                </a:solidFill>
              </a:rPr>
              <a:t>Tether</a:t>
            </a:r>
            <a:r>
              <a:rPr lang="en-US" sz="1400"/>
              <a:t>" means a line (as of rope or chain) by which something (an animal) is attached/fastened to restrict its range of movement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272A16A-AC8A-FF4A-8C36-87810EF4B10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52735" y="244725"/>
            <a:ext cx="4601643" cy="1084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5139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12F5A1-E23C-9B4D-8BC3-88AE2CADE412}"/>
              </a:ext>
            </a:extLst>
          </p:cNvPr>
          <p:cNvSpPr txBox="1"/>
          <p:nvPr/>
        </p:nvSpPr>
        <p:spPr>
          <a:xfrm>
            <a:off x="92502" y="1471494"/>
            <a:ext cx="655136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Avalanche (AVAX)</a:t>
            </a:r>
            <a:r>
              <a:rPr lang="en-US" sz="1400"/>
              <a:t> – since 2020 - a cryptocurrency and blockchain smart-contracts platform that rivals </a:t>
            </a:r>
            <a:r>
              <a:rPr lang="en-US" sz="1400" b="1">
                <a:solidFill>
                  <a:srgbClr val="00B050"/>
                </a:solidFill>
              </a:rPr>
              <a:t>Ethereum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Avalanche</a:t>
            </a:r>
            <a:r>
              <a:rPr lang="en-US" sz="1400"/>
              <a:t> is the fast – 4,500 transactions per second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Avalanche</a:t>
            </a:r>
            <a:r>
              <a:rPr lang="en-US" sz="1400"/>
              <a:t> is open and open-source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Avalanche</a:t>
            </a:r>
            <a:r>
              <a:rPr lang="en-US" sz="1400"/>
              <a:t> is low cost and eco-friendly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AVAX</a:t>
            </a:r>
            <a:r>
              <a:rPr lang="en-US" sz="1400"/>
              <a:t> is the native token of the Avalanche blockchain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You can </a:t>
            </a:r>
            <a:r>
              <a:rPr lang="en-US" sz="1400" b="1">
                <a:solidFill>
                  <a:srgbClr val="00B050"/>
                </a:solidFill>
              </a:rPr>
              <a:t>launch Ethereum dApps</a:t>
            </a:r>
            <a:r>
              <a:rPr lang="en-US" sz="1400"/>
              <a:t> that confirm transactions instantly and process thousands of transactions per second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Deploy blockchains</a:t>
            </a:r>
            <a:r>
              <a:rPr lang="en-US" sz="1400"/>
              <a:t> that fit your own application needs </a:t>
            </a:r>
            <a:br>
              <a:rPr lang="en-US" sz="1400"/>
            </a:br>
            <a:r>
              <a:rPr lang="en-US" sz="1400"/>
              <a:t>on your own virtual machine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Deploy subnets</a:t>
            </a:r>
            <a:r>
              <a:rPr lang="en-US" sz="1400"/>
              <a:t> that allow developers to define rules that can vary from the rule of the Primary Avalanche blockchain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Stake, or lock up</a:t>
            </a:r>
            <a:r>
              <a:rPr lang="en-US" sz="1400"/>
              <a:t>, your AVAX to help process transactions </a:t>
            </a:r>
            <a:br>
              <a:rPr lang="en-US" sz="1400"/>
            </a:br>
            <a:r>
              <a:rPr lang="en-US" sz="1400"/>
              <a:t>and further secure the platform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65183E-31B9-F343-87D9-54036A272EF7}"/>
              </a:ext>
            </a:extLst>
          </p:cNvPr>
          <p:cNvSpPr txBox="1"/>
          <p:nvPr/>
        </p:nvSpPr>
        <p:spPr>
          <a:xfrm>
            <a:off x="0" y="1"/>
            <a:ext cx="29399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Avalanche, AVAX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6F227-AA48-E544-A538-7957BAC1417D}"/>
              </a:ext>
            </a:extLst>
          </p:cNvPr>
          <p:cNvSpPr txBox="1"/>
          <p:nvPr/>
        </p:nvSpPr>
        <p:spPr>
          <a:xfrm>
            <a:off x="92501" y="592057"/>
            <a:ext cx="42602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https://www.avax.network</a:t>
            </a:r>
            <a:r>
              <a:rPr lang="en-US" sz="1400"/>
              <a:t>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https://www.avalabs.org</a:t>
            </a:r>
            <a:endParaRPr lang="en-US" sz="14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35D3C1-174A-3D4B-82BF-5823B05511F8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96546" y="103829"/>
            <a:ext cx="2702953" cy="18853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655116-F595-F242-8E56-BD173E367BFB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27427" y="247754"/>
            <a:ext cx="2303120" cy="899745"/>
          </a:xfrm>
          <a:prstGeom prst="rect">
            <a:avLst/>
          </a:prstGeom>
        </p:spPr>
      </p:pic>
      <p:pic>
        <p:nvPicPr>
          <p:cNvPr id="1030" name="Picture 6" descr="Emin Gün Sirer - Founder @ Ava Labs">
            <a:extLst>
              <a:ext uri="{FF2B5EF4-FFF2-40B4-BE49-F238E27FC236}">
                <a16:creationId xmlns:a16="http://schemas.microsoft.com/office/drawing/2014/main" id="{78DB8FB8-AC9E-4248-94F8-7F9AF8B157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91373" y="2358190"/>
            <a:ext cx="1713297" cy="2141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0286F1D-4846-1640-98DF-121FC16CEA1B}"/>
              </a:ext>
            </a:extLst>
          </p:cNvPr>
          <p:cNvSpPr txBox="1"/>
          <p:nvPr/>
        </p:nvSpPr>
        <p:spPr>
          <a:xfrm>
            <a:off x="9592989" y="4499811"/>
            <a:ext cx="2310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Emin Gün Sirer</a:t>
            </a:r>
          </a:p>
          <a:p>
            <a:pPr algn="ctr"/>
            <a:r>
              <a:rPr lang="en-US" sz="1400"/>
              <a:t>Founder @ Ava Labs</a:t>
            </a:r>
          </a:p>
        </p:txBody>
      </p:sp>
    </p:spTree>
    <p:extLst>
      <p:ext uri="{BB962C8B-B14F-4D97-AF65-F5344CB8AC3E}">
        <p14:creationId xmlns:p14="http://schemas.microsoft.com/office/powerpoint/2010/main" val="8986871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C8C8936-664F-7302-594B-D77781E9B064}"/>
              </a:ext>
            </a:extLst>
          </p:cNvPr>
          <p:cNvSpPr txBox="1"/>
          <p:nvPr/>
        </p:nvSpPr>
        <p:spPr>
          <a:xfrm>
            <a:off x="0" y="0"/>
            <a:ext cx="15510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Helium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004987-FD7F-44C7-5E3E-0D398237B49C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48816" y="0"/>
            <a:ext cx="3443184" cy="11921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D6779D-B1E5-D965-3C21-C149B9403733}"/>
              </a:ext>
            </a:extLst>
          </p:cNvPr>
          <p:cNvSpPr txBox="1"/>
          <p:nvPr/>
        </p:nvSpPr>
        <p:spPr>
          <a:xfrm>
            <a:off x="247749" y="846559"/>
            <a:ext cx="6007260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Helium</a:t>
            </a:r>
            <a:r>
              <a:rPr lang="en-US" sz="1400"/>
              <a:t> provides low-cost connectivity for IoT devices (much cheaper than WiFi). Individuals can install Helium routers or, "hot spots," at their homes or offices and earn </a:t>
            </a:r>
            <a:r>
              <a:rPr lang="en-US" sz="1400" b="1">
                <a:solidFill>
                  <a:srgbClr val="FF0000"/>
                </a:solidFill>
              </a:rPr>
              <a:t>HNT</a:t>
            </a:r>
            <a:r>
              <a:rPr lang="en-US" sz="1400"/>
              <a:t> (crypto token) for providing connectivity.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HNT</a:t>
            </a:r>
            <a:r>
              <a:rPr lang="en-US" sz="1400"/>
              <a:t> token - the 46th-largest cryptocurrency by market cap (~3 Bln)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Helium Inc. was founded in 2013 in San Francisco, CA. It specializes in IoT, blockchain technology development, routers and networks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 </a:t>
            </a:r>
            <a:r>
              <a:rPr lang="en-US" sz="1400" b="1">
                <a:solidFill>
                  <a:srgbClr val="FF0000"/>
                </a:solidFill>
              </a:rPr>
              <a:t>Helium</a:t>
            </a:r>
            <a:r>
              <a:rPr lang="en-US" sz="1400"/>
              <a:t> hot spots provide a long-range form of WiFi called </a:t>
            </a:r>
            <a:r>
              <a:rPr lang="en-US" sz="1400" b="1">
                <a:solidFill>
                  <a:srgbClr val="FF0000"/>
                </a:solidFill>
              </a:rPr>
              <a:t>LongFi</a:t>
            </a:r>
            <a:r>
              <a:rPr lang="en-US" sz="1400"/>
              <a:t> that reportedly reaches 200 times farther than a traditional WiFi hot spot, or as much as 10 miles depending on environmental conditions.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In October 2021, DISH Network said it was partnering with Helium to "support open source and low-cost wireless connectivity ecosystems" and utilizing Helium to roll out 5G . The city of San Jose, California, became the first city to officially join the Helium network and will use Helium to provide internet access for low-income residents.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Helium</a:t>
            </a:r>
            <a:r>
              <a:rPr lang="en-US" sz="1400"/>
              <a:t> is energy efficient. It uses "proof of coverage consensus" (essentially verifying that routers are located where they claim and that they are running and providing coverage). It uses much less energy: about five watts to run, or the equivalent of having an LED light bulb 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One big risk – ISPs (internet service providers) may prohibit their customers from using </a:t>
            </a:r>
            <a:r>
              <a:rPr lang="en-US" sz="1400" b="1">
                <a:solidFill>
                  <a:srgbClr val="FF0000"/>
                </a:solidFill>
              </a:rPr>
              <a:t>Helium</a:t>
            </a:r>
            <a:r>
              <a:rPr lang="en-US" sz="1400"/>
              <a:t> hot spots because reselling their bandwidth could violate their terms of service.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ADC555-D9FA-A135-90BE-028219B4435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67313" y="1533699"/>
            <a:ext cx="1466847" cy="16291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220B1AD-5E78-D480-2B67-8D7ACEBC08F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4466" y="1293707"/>
            <a:ext cx="1784350" cy="1295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FC97D1D-E050-D880-BF9A-76B1AED51E16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56145" y="3429000"/>
            <a:ext cx="1828525" cy="1295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474ACC6-5CC5-A730-7B36-877288F65F99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73506" y="2888301"/>
            <a:ext cx="1373098" cy="134735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01DBCFD-FD5B-D82C-FC07-1F9F0E48A95E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79493" y="4534508"/>
            <a:ext cx="1486811" cy="201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8037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902580-66B2-F64F-827C-7138D0B6CE36}"/>
              </a:ext>
            </a:extLst>
          </p:cNvPr>
          <p:cNvSpPr txBox="1"/>
          <p:nvPr/>
        </p:nvSpPr>
        <p:spPr>
          <a:xfrm>
            <a:off x="1" y="1"/>
            <a:ext cx="23812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Dogecoin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568482-3608-764C-8AC5-3141124EB7BE}"/>
              </a:ext>
            </a:extLst>
          </p:cNvPr>
          <p:cNvSpPr txBox="1"/>
          <p:nvPr/>
        </p:nvSpPr>
        <p:spPr>
          <a:xfrm>
            <a:off x="285751" y="1019216"/>
            <a:ext cx="493394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https://en.wikipedia.org/wiki/Dogecoin</a:t>
            </a:r>
            <a:r>
              <a:rPr lang="en-US" sz="1400"/>
              <a:t> - 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https://dogecoin.com</a:t>
            </a:r>
            <a:r>
              <a:rPr lang="en-US" sz="1400"/>
              <a:t> - 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4"/>
              </a:rPr>
              <a:t>https://www.reddit.com/r/dogecoin/</a:t>
            </a:r>
            <a:r>
              <a:rPr lang="en-US" sz="1400"/>
              <a:t> -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6089C7-B09E-F747-94AD-C6A94B1AA557}"/>
              </a:ext>
            </a:extLst>
          </p:cNvPr>
          <p:cNvSpPr txBox="1"/>
          <p:nvPr/>
        </p:nvSpPr>
        <p:spPr>
          <a:xfrm>
            <a:off x="285752" y="2648149"/>
            <a:ext cx="760094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Dogecoin - cryptocurrency created as a joke in 2013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started growing via online community (Reddit, ...)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Market cap $85 Billion in 2021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authors - Billy Markus and Jackson Palmer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known as a "meme coin" or "dog coin"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(Shiba Inu dog from the "Doge" meme)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4586A2C7-4BCE-9B46-B186-F60C3D6AB9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366248" y="337423"/>
            <a:ext cx="2540000" cy="2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235121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3AFFAB-9848-8F9A-9338-99C68FDB3732}"/>
              </a:ext>
            </a:extLst>
          </p:cNvPr>
          <p:cNvSpPr txBox="1"/>
          <p:nvPr/>
        </p:nvSpPr>
        <p:spPr>
          <a:xfrm>
            <a:off x="0" y="692254"/>
            <a:ext cx="43405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https://www.getmonero.org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https://en.wikipedia.org/wiki/Monero</a:t>
            </a:r>
            <a:endParaRPr lang="en-US" sz="1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E5B562-991B-8632-0C81-A9AA828F8045}"/>
              </a:ext>
            </a:extLst>
          </p:cNvPr>
          <p:cNvSpPr txBox="1"/>
          <p:nvPr/>
        </p:nvSpPr>
        <p:spPr>
          <a:xfrm>
            <a:off x="63661" y="1387028"/>
            <a:ext cx="6632294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Monero is a </a:t>
            </a:r>
            <a:r>
              <a:rPr lang="en-US" sz="1400" b="1">
                <a:solidFill>
                  <a:srgbClr val="00B050"/>
                </a:solidFill>
              </a:rPr>
              <a:t>private</a:t>
            </a:r>
            <a:r>
              <a:rPr lang="en-US" sz="1400"/>
              <a:t>, decentralized cryptocurrency.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Monero uses a public distributed ledger with </a:t>
            </a:r>
            <a:r>
              <a:rPr lang="en-US" sz="1400" b="1">
                <a:solidFill>
                  <a:srgbClr val="00B050"/>
                </a:solidFill>
              </a:rPr>
              <a:t>privacy-enhancing</a:t>
            </a:r>
            <a:r>
              <a:rPr lang="en-US" sz="1400"/>
              <a:t> technologies that </a:t>
            </a:r>
            <a:r>
              <a:rPr lang="en-US" sz="1400" b="1">
                <a:solidFill>
                  <a:srgbClr val="00B050"/>
                </a:solidFill>
              </a:rPr>
              <a:t>obfuscate transactions</a:t>
            </a:r>
            <a:r>
              <a:rPr lang="en-US" sz="1400"/>
              <a:t> to achieve anonymity and fungibility.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Observers cannot decipher addresses trading monero, transaction amounts, address balances, or transaction histories.</a:t>
            </a:r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2013 – original paper by Nicolas van Saberhagen (CryptoNote)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2014 – Monero mainnet deployed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Monero uses ring signatures, zero-knowledge proofs, "stealth addresses", and IP address obscuring methods to obfuscate transaction details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Transactions are validated through a miner network running RandomX, a proof of work algorithm. The algorithm issues new coins to miners, and was designed to be resistant to ASIC mining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Monero has the third largest developer community among cryptocurrencies, behind bitcoin and Ethereum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Its privacy features have attracted cypherpunks and users desiring privacy measures not provided in other cryptocurrencies. It is increasingly used in illicit activities such as </a:t>
            </a:r>
            <a:r>
              <a:rPr lang="en-US" sz="1400" b="1">
                <a:solidFill>
                  <a:srgbClr val="00B050"/>
                </a:solidFill>
              </a:rPr>
              <a:t>money laundering, darknet markets, ransomware, and cryptojacking</a:t>
            </a:r>
            <a:r>
              <a:rPr lang="en-US" sz="1400"/>
              <a:t>. The United States Internal Revenue Service has posted bounties for contractors that can develop monero tracing technologies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983047-64F6-E561-1A2B-C0957C1F3384}"/>
              </a:ext>
            </a:extLst>
          </p:cNvPr>
          <p:cNvSpPr txBox="1"/>
          <p:nvPr/>
        </p:nvSpPr>
        <p:spPr>
          <a:xfrm>
            <a:off x="0" y="-2520"/>
            <a:ext cx="16320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Monero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7A39E3-7017-0C5C-BA64-5E73BB0CE9B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47099" y="0"/>
            <a:ext cx="3644900" cy="104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5322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618556-B8C8-E741-B30A-0AFA8095591E}"/>
              </a:ext>
            </a:extLst>
          </p:cNvPr>
          <p:cNvSpPr txBox="1"/>
          <p:nvPr/>
        </p:nvSpPr>
        <p:spPr>
          <a:xfrm>
            <a:off x="4473037" y="109241"/>
            <a:ext cx="30084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hlinkClick r:id="rId2"/>
              </a:rPr>
              <a:t>https://www.milliontoken.org</a:t>
            </a:r>
            <a:endParaRPr lang="en-US" sz="16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E6BD5D-CF0F-6B4A-94BF-79A302088CF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27655" y="276122"/>
            <a:ext cx="1886087" cy="188608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AEC10CD-C30A-224A-BED2-F89F8ACC4A8D}"/>
              </a:ext>
            </a:extLst>
          </p:cNvPr>
          <p:cNvSpPr txBox="1"/>
          <p:nvPr/>
        </p:nvSpPr>
        <p:spPr>
          <a:xfrm>
            <a:off x="155641" y="880487"/>
            <a:ext cx="5247961" cy="375487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/>
              <a:t>Million is a cryptocurrency: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limited supply of 1 Mln tokens, min $1 each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no upper bound on price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fully Web 3.0 capable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multi-chain currency supported across 6+ different blockchains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unlike first-gen memecoins (like Dogecoin or Shiba), Million is serious about supporting smart-contracts, DeFi, staking, NFTs, DAOs, Proof-of-Stake high scalability, fast transactions, and the gaming metaverse.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Decentralized Finance staking with the Million Pool, including a decentralized governance DAO for stakeholder rights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Metaverse - strong community, developer ecosystem of social media, digital art, gaming, chat spaces, avatars, and NFT metaverse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Transparency &amp; Trust - 100% transparent with code fully audited by Certik, Million was founded by ex-Google/ex-Facebook TechLead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DEFA55-C22F-B24C-91E7-2A9E438B3F74}"/>
              </a:ext>
            </a:extLst>
          </p:cNvPr>
          <p:cNvSpPr txBox="1"/>
          <p:nvPr/>
        </p:nvSpPr>
        <p:spPr>
          <a:xfrm>
            <a:off x="6628301" y="3753069"/>
            <a:ext cx="5177641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/>
              <a:t>QUICKSTART GUIDE</a:t>
            </a:r>
          </a:p>
          <a:p>
            <a:r>
              <a:rPr lang="en-US" sz="1400"/>
              <a:t>Create a </a:t>
            </a:r>
            <a:r>
              <a:rPr lang="en-US" sz="1400" b="1">
                <a:solidFill>
                  <a:srgbClr val="FF0000"/>
                </a:solidFill>
              </a:rPr>
              <a:t>Metamask Wallet</a:t>
            </a:r>
            <a:r>
              <a:rPr lang="en-US" sz="1400"/>
              <a:t> using either a desktop computer or mobile device. </a:t>
            </a:r>
            <a:r>
              <a:rPr lang="en-US" sz="1400">
                <a:hlinkClick r:id="rId4"/>
              </a:rPr>
              <a:t>http://metamask.io</a:t>
            </a:r>
            <a:endParaRPr lang="en-US" sz="1400"/>
          </a:p>
          <a:p>
            <a:endParaRPr lang="en-US" sz="1400"/>
          </a:p>
          <a:p>
            <a:r>
              <a:rPr lang="en-US" sz="1400"/>
              <a:t>Send </a:t>
            </a:r>
            <a:r>
              <a:rPr lang="en-US" sz="1400" b="1">
                <a:solidFill>
                  <a:srgbClr val="FF0000"/>
                </a:solidFill>
              </a:rPr>
              <a:t>Ethereum</a:t>
            </a:r>
            <a:r>
              <a:rPr lang="en-US" sz="1400"/>
              <a:t> to your wallet. You can buy Ethereum on MetaMask directly, or through sites like </a:t>
            </a:r>
            <a:r>
              <a:rPr lang="en-US" sz="1400" b="1">
                <a:solidFill>
                  <a:srgbClr val="FF0000"/>
                </a:solidFill>
              </a:rPr>
              <a:t>Coinbase</a:t>
            </a:r>
            <a:r>
              <a:rPr lang="en-US" sz="1400"/>
              <a:t>, </a:t>
            </a:r>
            <a:r>
              <a:rPr lang="en-US" sz="1400" b="1">
                <a:solidFill>
                  <a:srgbClr val="FF0000"/>
                </a:solidFill>
              </a:rPr>
              <a:t>Crypto.com</a:t>
            </a:r>
            <a:r>
              <a:rPr lang="en-US" sz="1400"/>
              <a:t>, or </a:t>
            </a:r>
            <a:r>
              <a:rPr lang="en-US" sz="1400" b="1">
                <a:solidFill>
                  <a:srgbClr val="FF0000"/>
                </a:solidFill>
              </a:rPr>
              <a:t>Binance</a:t>
            </a:r>
            <a:r>
              <a:rPr lang="en-US" sz="1400"/>
              <a:t> and then send them to your wallet.</a:t>
            </a:r>
          </a:p>
          <a:p>
            <a:endParaRPr lang="en-US" sz="1400"/>
          </a:p>
          <a:p>
            <a:r>
              <a:rPr lang="en-US" sz="1400"/>
              <a:t>Connect to </a:t>
            </a:r>
            <a:r>
              <a:rPr lang="en-US" sz="1400" b="1">
                <a:solidFill>
                  <a:srgbClr val="FF0000"/>
                </a:solidFill>
              </a:rPr>
              <a:t>Uniswap</a:t>
            </a:r>
            <a:r>
              <a:rPr lang="en-US" sz="1400"/>
              <a:t> and trade for Million.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8FCB28-CE77-3149-8131-B3CC6C809273}"/>
              </a:ext>
            </a:extLst>
          </p:cNvPr>
          <p:cNvSpPr txBox="1"/>
          <p:nvPr/>
        </p:nvSpPr>
        <p:spPr>
          <a:xfrm>
            <a:off x="9385246" y="2162208"/>
            <a:ext cx="27709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/>
              <a:t>The Web 3.0 memecoin ("King of the Jungle of dog coins")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DBDB27-727B-EA47-A778-4B93900AAC3D}"/>
              </a:ext>
            </a:extLst>
          </p:cNvPr>
          <p:cNvSpPr txBox="1"/>
          <p:nvPr/>
        </p:nvSpPr>
        <p:spPr>
          <a:xfrm>
            <a:off x="0" y="1"/>
            <a:ext cx="30084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Million token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67C08C5-7C9E-6D4B-8B86-8D666505678D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89562" y="599161"/>
            <a:ext cx="2252133" cy="2336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3129B10-98C6-9E4F-91A1-26C2986CA804}"/>
              </a:ext>
            </a:extLst>
          </p:cNvPr>
          <p:cNvSpPr txBox="1"/>
          <p:nvPr/>
        </p:nvSpPr>
        <p:spPr>
          <a:xfrm>
            <a:off x="6657686" y="2952849"/>
            <a:ext cx="19158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/>
              <a:t>Patrick Shyu</a:t>
            </a:r>
          </a:p>
          <a:p>
            <a:pPr algn="ctr"/>
            <a:r>
              <a:rPr lang="en-US" sz="1600"/>
              <a:t>TechLead</a:t>
            </a:r>
          </a:p>
        </p:txBody>
      </p:sp>
    </p:spTree>
    <p:extLst>
      <p:ext uri="{BB962C8B-B14F-4D97-AF65-F5344CB8AC3E}">
        <p14:creationId xmlns:p14="http://schemas.microsoft.com/office/powerpoint/2010/main" val="17479994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1917</TotalTime>
  <Words>2281</Words>
  <Application>Microsoft Macintosh PowerPoint</Application>
  <PresentationFormat>Widescreen</PresentationFormat>
  <Paragraphs>229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Helvetica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173</cp:revision>
  <dcterms:modified xsi:type="dcterms:W3CDTF">2022-04-21T23:30:57Z</dcterms:modified>
</cp:coreProperties>
</file>