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6"/>
  </p:notesMasterIdLst>
  <p:sldIdLst>
    <p:sldId id="328" r:id="rId2"/>
    <p:sldId id="329" r:id="rId3"/>
    <p:sldId id="327" r:id="rId4"/>
    <p:sldId id="326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34"/>
    <p:restoredTop sz="92435"/>
  </p:normalViewPr>
  <p:slideViewPr>
    <p:cSldViewPr snapToGrid="0" snapToObjects="1">
      <p:cViewPr varScale="1">
        <p:scale>
          <a:sx n="90" d="100"/>
          <a:sy n="90" d="100"/>
        </p:scale>
        <p:origin x="224" y="1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5/6/22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3354CC-1C48-A5A6-1CAD-2EEC1862AA91}"/>
              </a:ext>
            </a:extLst>
          </p:cNvPr>
          <p:cNvSpPr txBox="1"/>
          <p:nvPr/>
        </p:nvSpPr>
        <p:spPr>
          <a:xfrm>
            <a:off x="1835247" y="97689"/>
            <a:ext cx="73594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/>
              <a:t>Decentralized finance (DeFi)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1A647A-65A2-1156-763B-18AB36AAAAA0}"/>
              </a:ext>
            </a:extLst>
          </p:cNvPr>
          <p:cNvSpPr txBox="1"/>
          <p:nvPr/>
        </p:nvSpPr>
        <p:spPr>
          <a:xfrm>
            <a:off x="1674018" y="1031048"/>
            <a:ext cx="884396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an emerging financial technology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based on secure </a:t>
            </a:r>
            <a:r>
              <a:rPr lang="en-US" b="1">
                <a:solidFill>
                  <a:srgbClr val="00B050"/>
                </a:solidFill>
              </a:rPr>
              <a:t>distributed ledgers</a:t>
            </a:r>
            <a:r>
              <a:rPr lang="en-US"/>
              <a:t> similar to those used by cryptocurrencies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substitutes financial institutions (banks) by automatic smart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allows you to to perform full range of financial operations and strategies:</a:t>
            </a:r>
            <a:br>
              <a:rPr lang="en-US"/>
            </a:br>
            <a:r>
              <a:rPr lang="en-US" b="1">
                <a:solidFill>
                  <a:srgbClr val="00B0F0"/>
                </a:solidFill>
              </a:rPr>
              <a:t>.. keep (save), pay, transfer, convert, invest (stake), 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fund, lend, borrow, trade, swap, use derivatives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use both convential and crypto-based financial instruments</a:t>
            </a:r>
            <a:br>
              <a:rPr lang="en-US" b="1">
                <a:solidFill>
                  <a:srgbClr val="00B0F0"/>
                </a:solidFill>
              </a:rPr>
            </a:br>
            <a:r>
              <a:rPr lang="en-US" b="1">
                <a:solidFill>
                  <a:srgbClr val="00B0F0"/>
                </a:solidFill>
              </a:rPr>
              <a:t>.. manage volatility, manage interest rates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offers Immutability, interoperability, transparency, permissionless, self-custody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>
                <a:solidFill>
                  <a:srgbClr val="FF0000"/>
                </a:solidFill>
              </a:rPr>
              <a:t>DeFi</a:t>
            </a:r>
            <a:r>
              <a:rPr lang="en-US"/>
              <a:t> is mostly based on </a:t>
            </a:r>
            <a:r>
              <a:rPr lang="en-US" b="1">
                <a:solidFill>
                  <a:srgbClr val="00B050"/>
                </a:solidFill>
              </a:rPr>
              <a:t>open-source technologies</a:t>
            </a:r>
            <a:r>
              <a:rPr lang="en-US"/>
              <a:t>, thus it is well positioned to win in financial industry similar to how open-source has won in other IT driven industries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CAE060-F0D3-A151-57DE-B0D2AF94EA0B}"/>
              </a:ext>
            </a:extLst>
          </p:cNvPr>
          <p:cNvSpPr txBox="1"/>
          <p:nvPr/>
        </p:nvSpPr>
        <p:spPr>
          <a:xfrm>
            <a:off x="3436084" y="5286170"/>
            <a:ext cx="88582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Users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A6032B-5B76-2C8D-810B-A47D8C33CC24}"/>
              </a:ext>
            </a:extLst>
          </p:cNvPr>
          <p:cNvSpPr txBox="1"/>
          <p:nvPr/>
        </p:nvSpPr>
        <p:spPr>
          <a:xfrm>
            <a:off x="5365622" y="4653528"/>
            <a:ext cx="88582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Banks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FD056-D8BE-11AB-A6E5-F31F3A934A17}"/>
              </a:ext>
            </a:extLst>
          </p:cNvPr>
          <p:cNvSpPr txBox="1"/>
          <p:nvPr/>
        </p:nvSpPr>
        <p:spPr>
          <a:xfrm>
            <a:off x="5278536" y="5911454"/>
            <a:ext cx="1710418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/>
              <a:t>DeFi platforms</a:t>
            </a:r>
          </a:p>
        </p:txBody>
      </p:sp>
      <p:sp>
        <p:nvSpPr>
          <p:cNvPr id="10" name="Left-Right Arrow 9">
            <a:extLst>
              <a:ext uri="{FF2B5EF4-FFF2-40B4-BE49-F238E27FC236}">
                <a16:creationId xmlns:a16="http://schemas.microsoft.com/office/drawing/2014/main" id="{60BE2CE7-7608-6AA0-9FFF-2CC03CC943CB}"/>
              </a:ext>
            </a:extLst>
          </p:cNvPr>
          <p:cNvSpPr/>
          <p:nvPr/>
        </p:nvSpPr>
        <p:spPr>
          <a:xfrm rot="20144982">
            <a:off x="4429125" y="5022860"/>
            <a:ext cx="742950" cy="23723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-Right Arrow 10">
            <a:extLst>
              <a:ext uri="{FF2B5EF4-FFF2-40B4-BE49-F238E27FC236}">
                <a16:creationId xmlns:a16="http://schemas.microsoft.com/office/drawing/2014/main" id="{E4AE2FA5-B197-6A02-B620-09C2E5B5CB91}"/>
              </a:ext>
            </a:extLst>
          </p:cNvPr>
          <p:cNvSpPr/>
          <p:nvPr/>
        </p:nvSpPr>
        <p:spPr>
          <a:xfrm rot="1509550">
            <a:off x="4429124" y="5712211"/>
            <a:ext cx="742950" cy="237235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2BBF818-DF5A-127C-1BE6-D86778B81923}"/>
              </a:ext>
            </a:extLst>
          </p:cNvPr>
          <p:cNvCxnSpPr/>
          <p:nvPr/>
        </p:nvCxnSpPr>
        <p:spPr>
          <a:xfrm flipH="1" flipV="1">
            <a:off x="5308471" y="4350493"/>
            <a:ext cx="1000125" cy="915927"/>
          </a:xfrm>
          <a:prstGeom prst="line">
            <a:avLst/>
          </a:prstGeom>
          <a:ln w="38100" cap="rnd">
            <a:solidFill>
              <a:srgbClr val="FF0000">
                <a:alpha val="19854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EEB76D9-A986-ACFA-28F8-E7F2843BD94B}"/>
              </a:ext>
            </a:extLst>
          </p:cNvPr>
          <p:cNvCxnSpPr>
            <a:cxnSpLocks/>
          </p:cNvCxnSpPr>
          <p:nvPr/>
        </p:nvCxnSpPr>
        <p:spPr>
          <a:xfrm flipH="1">
            <a:off x="5365622" y="4429916"/>
            <a:ext cx="1000125" cy="757080"/>
          </a:xfrm>
          <a:prstGeom prst="line">
            <a:avLst/>
          </a:prstGeom>
          <a:ln w="38100" cap="rnd">
            <a:solidFill>
              <a:srgbClr val="FF0000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13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53354CC-1C48-A5A6-1CAD-2EEC1862AA91}"/>
              </a:ext>
            </a:extLst>
          </p:cNvPr>
          <p:cNvSpPr txBox="1"/>
          <p:nvPr/>
        </p:nvSpPr>
        <p:spPr>
          <a:xfrm>
            <a:off x="59826" y="0"/>
            <a:ext cx="66784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History of Decentralized finance (DeFi)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D09B3F-81EF-DD22-63BD-C0DEAB35E41A}"/>
              </a:ext>
            </a:extLst>
          </p:cNvPr>
          <p:cNvSpPr txBox="1"/>
          <p:nvPr/>
        </p:nvSpPr>
        <p:spPr>
          <a:xfrm>
            <a:off x="123423" y="985838"/>
            <a:ext cx="6551222" cy="56938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2009 - </a:t>
            </a:r>
            <a:r>
              <a:rPr lang="en-US" sz="1400" b="1">
                <a:solidFill>
                  <a:srgbClr val="FF0000"/>
                </a:solidFill>
              </a:rPr>
              <a:t>Bitcoin</a:t>
            </a:r>
            <a:r>
              <a:rPr lang="en-US" sz="1400"/>
              <a:t>, Bitcoin script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2015 - </a:t>
            </a:r>
            <a:r>
              <a:rPr lang="en-US" sz="1400" b="1">
                <a:solidFill>
                  <a:srgbClr val="FF0000"/>
                </a:solidFill>
              </a:rPr>
              <a:t>Ethereum</a:t>
            </a:r>
            <a:r>
              <a:rPr lang="en-US" sz="1400"/>
              <a:t>, smart contracts, Decentralized Apps and protocols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2015 - </a:t>
            </a:r>
            <a:r>
              <a:rPr lang="en-US" sz="1400" b="1">
                <a:solidFill>
                  <a:srgbClr val="FF0000"/>
                </a:solidFill>
              </a:rPr>
              <a:t>ERC20</a:t>
            </a:r>
            <a:r>
              <a:rPr lang="en-US" sz="1400"/>
              <a:t> token (</a:t>
            </a:r>
            <a:r>
              <a:rPr lang="en-US" sz="1400" b="1">
                <a:solidFill>
                  <a:srgbClr val="00B050"/>
                </a:solidFill>
              </a:rPr>
              <a:t>Ethereum Request for Comment</a:t>
            </a:r>
            <a:r>
              <a:rPr lang="en-US" sz="1400"/>
              <a:t>) is a standard used for creating and issuing smart contracts on the Ethereum blockchain. Smart contracts can then be used to create smart property or tokenized assets that people can invest in.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 – </a:t>
            </a:r>
            <a:r>
              <a:rPr lang="en-US" sz="1400" b="1">
                <a:solidFill>
                  <a:srgbClr val="FF0000"/>
                </a:solidFill>
              </a:rPr>
              <a:t>DAI</a:t>
            </a:r>
            <a:r>
              <a:rPr lang="en-US" sz="1400"/>
              <a:t> - Decentralized stable coin (2014 – Maker, 2015 – single, 2019 – multiple collaterals)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 – </a:t>
            </a:r>
            <a:r>
              <a:rPr lang="en-US" sz="1400" b="1">
                <a:solidFill>
                  <a:srgbClr val="FF0000"/>
                </a:solidFill>
              </a:rPr>
              <a:t>EtherDelta</a:t>
            </a:r>
            <a:r>
              <a:rPr lang="en-US" sz="1400"/>
              <a:t> = DEX (Decentralized EXchange) using order book trading ERC20, was hacked in 2017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2017-2020 – multiple </a:t>
            </a:r>
            <a:r>
              <a:rPr lang="en-US" sz="1400" b="1">
                <a:solidFill>
                  <a:srgbClr val="FF0000"/>
                </a:solidFill>
              </a:rPr>
              <a:t>ICO-s</a:t>
            </a:r>
            <a:r>
              <a:rPr lang="en-US" sz="1400"/>
              <a:t> (Initial Coin Offering) over Ethereum platform</a:t>
            </a:r>
            <a:br>
              <a:rPr lang="en-US" sz="1400"/>
            </a:br>
            <a:r>
              <a:rPr lang="en-US" sz="1400">
                <a:solidFill>
                  <a:srgbClr val="00B0F0"/>
                </a:solidFill>
              </a:rPr>
              <a:t>.. AAVE – lending and borrowing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Synthetix - liquidity protocol for derivatives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Ren (Republic) – protocol for inter-chain liquidity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kyber network – liquidity protocol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O - Zero X– open peer to peer exchange protocol</a:t>
            </a:r>
            <a:br>
              <a:rPr lang="en-US" sz="1400">
                <a:solidFill>
                  <a:srgbClr val="00B0F0"/>
                </a:solidFill>
              </a:rPr>
            </a:br>
            <a:r>
              <a:rPr lang="en-US" sz="1400">
                <a:solidFill>
                  <a:srgbClr val="00B0F0"/>
                </a:solidFill>
              </a:rPr>
              <a:t>.. Bancor - – liquidity protocol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2018 – </a:t>
            </a: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– </a:t>
            </a: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(liquidity pools) and </a:t>
            </a: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(Automated Market Makers)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2019 - </a:t>
            </a:r>
            <a:r>
              <a:rPr lang="en-US" sz="1400" b="1">
                <a:solidFill>
                  <a:srgbClr val="FF0000"/>
                </a:solidFill>
              </a:rPr>
              <a:t>Synthetix</a:t>
            </a:r>
            <a:r>
              <a:rPr lang="en-US" sz="1400"/>
              <a:t> – first liquidity incentive program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140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March 2020 – Ether price dropped 50% in one day because of COVID pandemic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2020 Summer – </a:t>
            </a:r>
            <a:r>
              <a:rPr lang="en-US" sz="1400" b="1">
                <a:solidFill>
                  <a:srgbClr val="FF0000"/>
                </a:solidFill>
              </a:rPr>
              <a:t>Compound</a:t>
            </a:r>
            <a:r>
              <a:rPr lang="en-US" sz="1400"/>
              <a:t> launched reward program for lending/borrowing</a:t>
            </a:r>
            <a:br>
              <a:rPr lang="en-US" sz="1400"/>
            </a:br>
            <a:r>
              <a:rPr lang="en-US" sz="1400"/>
              <a:t>(supply APY, borrow APY) =&gt; liquidity mining, yild farming. </a:t>
            </a:r>
            <a:br>
              <a:rPr lang="en-US" sz="1400"/>
            </a:br>
            <a:r>
              <a:rPr lang="en-US" sz="1400" b="1">
                <a:solidFill>
                  <a:srgbClr val="FF0000"/>
                </a:solidFill>
              </a:rPr>
              <a:t>Compound Governance</a:t>
            </a:r>
            <a:r>
              <a:rPr lang="en-US" sz="1400"/>
              <a:t> – users can vote on changes in protocol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1400"/>
              <a:t>2020 - </a:t>
            </a:r>
            <a:r>
              <a:rPr lang="en-US" sz="1400" b="1">
                <a:solidFill>
                  <a:srgbClr val="FF0000"/>
                </a:solidFill>
              </a:rPr>
              <a:t>Yearn Finance</a:t>
            </a:r>
            <a:r>
              <a:rPr lang="en-US" sz="1400"/>
              <a:t> – yield optimizer auto switching between different lending protocols (Andre Cronje), token YFi – grew to $30K in 2 months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FD9BB-D4A5-FA13-9ABF-77D725CD695B}"/>
              </a:ext>
            </a:extLst>
          </p:cNvPr>
          <p:cNvSpPr txBox="1"/>
          <p:nvPr/>
        </p:nvSpPr>
        <p:spPr>
          <a:xfrm>
            <a:off x="7304392" y="153888"/>
            <a:ext cx="39719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Evolution from user-to-user ( peer to peer ) to user to contract platform with liquidity pools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3C4F43-27EB-31DD-FD72-ACD9D357C032}"/>
              </a:ext>
            </a:extLst>
          </p:cNvPr>
          <p:cNvSpPr txBox="1"/>
          <p:nvPr/>
        </p:nvSpPr>
        <p:spPr>
          <a:xfrm>
            <a:off x="7186613" y="985838"/>
            <a:ext cx="4343400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2020 - Ampleforth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– YAM protocol – rewarding for staking, bug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2020 – Sushi swap, vampire attack, $1 Bln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D671E8-D864-0CD6-14D0-F4F1824D4369}"/>
              </a:ext>
            </a:extLst>
          </p:cNvPr>
          <p:cNvSpPr txBox="1"/>
          <p:nvPr/>
        </p:nvSpPr>
        <p:spPr>
          <a:xfrm>
            <a:off x="242888" y="523220"/>
            <a:ext cx="30146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youtube Finematics video </a:t>
            </a:r>
          </a:p>
        </p:txBody>
      </p:sp>
    </p:spTree>
    <p:extLst>
      <p:ext uri="{BB962C8B-B14F-4D97-AF65-F5344CB8AC3E}">
        <p14:creationId xmlns:p14="http://schemas.microsoft.com/office/powerpoint/2010/main" val="718216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74509F-C3EE-E627-156A-D239BA689CE4}"/>
              </a:ext>
            </a:extLst>
          </p:cNvPr>
          <p:cNvSpPr txBox="1"/>
          <p:nvPr/>
        </p:nvSpPr>
        <p:spPr>
          <a:xfrm>
            <a:off x="278295" y="474345"/>
            <a:ext cx="551611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Finance</a:t>
            </a:r>
          </a:p>
          <a:p>
            <a:r>
              <a:rPr lang="en-US" sz="1400"/>
              <a:t>1970 – computers</a:t>
            </a:r>
          </a:p>
          <a:p>
            <a:r>
              <a:rPr lang="en-US" sz="1400"/>
              <a:t>1990 – online operations</a:t>
            </a:r>
          </a:p>
          <a:p>
            <a:r>
              <a:rPr lang="en-US" sz="1400"/>
              <a:t>paypal, iintech, ...</a:t>
            </a:r>
          </a:p>
          <a:p>
            <a:endParaRPr lang="en-US" sz="1400"/>
          </a:p>
          <a:p>
            <a:r>
              <a:rPr lang="en-US" sz="1400"/>
              <a:t>Standard finance is still inefficient - done by humans, behind closed doors, etc.</a:t>
            </a:r>
          </a:p>
          <a:p>
            <a:endParaRPr lang="en-US" sz="1400"/>
          </a:p>
          <a:p>
            <a:r>
              <a:rPr lang="en-US" sz="1400"/>
              <a:t>new – cryptography, decentralization, blockchain</a:t>
            </a:r>
          </a:p>
          <a:p>
            <a:r>
              <a:rPr lang="en-US" sz="1400"/>
              <a:t>   payments, lending, borrowing, lending</a:t>
            </a:r>
          </a:p>
          <a:p>
            <a:r>
              <a:rPr lang="en-US" sz="1400"/>
              <a:t>   fast settlement – even between different countries</a:t>
            </a:r>
          </a:p>
          <a:p>
            <a:r>
              <a:rPr lang="en-US" sz="1400"/>
              <a:t>   no human involvement</a:t>
            </a:r>
          </a:p>
          <a:p>
            <a:r>
              <a:rPr lang="en-US" sz="1400"/>
              <a:t>   no permissions needed, no need to provide income statements, nationality, race, etc.</a:t>
            </a:r>
          </a:p>
          <a:p>
            <a:r>
              <a:rPr lang="en-US" sz="1400"/>
              <a:t>   open software, open protocols</a:t>
            </a:r>
          </a:p>
          <a:p>
            <a:r>
              <a:rPr lang="en-US" sz="1400"/>
              <a:t>   transparent, visible, 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EC1A47-C971-C6FC-A6E9-B75E6CE97753}"/>
              </a:ext>
            </a:extLst>
          </p:cNvPr>
          <p:cNvSpPr txBox="1"/>
          <p:nvPr/>
        </p:nvSpPr>
        <p:spPr>
          <a:xfrm>
            <a:off x="6096001" y="750771"/>
            <a:ext cx="55505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TVL = Total Value Locked in DeFi</a:t>
            </a:r>
          </a:p>
          <a:p>
            <a:r>
              <a:rPr lang="en-US" sz="1400"/>
              <a:t>in lending protocols, decentralized exchanges, or derivative protocols</a:t>
            </a:r>
          </a:p>
          <a:p>
            <a:r>
              <a:rPr lang="en-US" sz="1400"/>
              <a:t>has grown from $1 Bln in 2020 to $32 Bln in Feb 2021</a:t>
            </a:r>
          </a:p>
          <a:p>
            <a:endParaRPr lang="en-US" sz="1400"/>
          </a:p>
          <a:p>
            <a:r>
              <a:rPr lang="en-US" sz="1400"/>
              <a:t>Trading Volume:  $0.5 Bln =&gt; $50+ Bln in Jan 2021</a:t>
            </a:r>
          </a:p>
          <a:p>
            <a:endParaRPr lang="en-US" sz="1400"/>
          </a:p>
          <a:p>
            <a:r>
              <a:rPr lang="en-US" sz="1400"/>
              <a:t>Stable coins – tremendous growth</a:t>
            </a:r>
          </a:p>
          <a:p>
            <a:r>
              <a:rPr lang="en-US" sz="1400"/>
              <a:t>   USDC</a:t>
            </a:r>
          </a:p>
          <a:p>
            <a:r>
              <a:rPr lang="en-US" sz="1400"/>
              <a:t>   Dai</a:t>
            </a:r>
          </a:p>
          <a:p>
            <a:endParaRPr lang="en-US" sz="1400"/>
          </a:p>
          <a:p>
            <a:r>
              <a:rPr lang="en-US" sz="1400"/>
              <a:t>decentralized decisions</a:t>
            </a:r>
          </a:p>
          <a:p>
            <a:r>
              <a:rPr lang="en-US" sz="1400"/>
              <a:t>governments can not change rules</a:t>
            </a:r>
          </a:p>
          <a:p>
            <a:r>
              <a:rPr lang="en-US" sz="1400"/>
              <a:t>fast speed and low cost</a:t>
            </a:r>
          </a:p>
          <a:p>
            <a:r>
              <a:rPr lang="en-US" sz="1400"/>
              <a:t>huge scaling</a:t>
            </a:r>
          </a:p>
          <a:p>
            <a:r>
              <a:rPr lang="en-US" sz="1400"/>
              <a:t>risks (hacking)</a:t>
            </a:r>
          </a:p>
          <a:p>
            <a:endParaRPr lang="en-US" sz="1400"/>
          </a:p>
          <a:p>
            <a:r>
              <a:rPr lang="en-US" sz="1400"/>
              <a:t>AAVE - https://aave.com – open source liquidity protocol</a:t>
            </a:r>
            <a:br>
              <a:rPr lang="en-US" sz="1400"/>
            </a:br>
            <a:r>
              <a:rPr lang="en-US" sz="1400"/>
              <a:t>( credit delegation, tokenized mortgages, ...)</a:t>
            </a:r>
          </a:p>
          <a:p>
            <a:endParaRPr lang="en-US" sz="1400"/>
          </a:p>
          <a:p>
            <a:r>
              <a:rPr lang="en-US" sz="1400"/>
              <a:t>DeFi will make banks irrelevant</a:t>
            </a:r>
          </a:p>
          <a:p>
            <a:endParaRPr lang="en-US" sz="1400"/>
          </a:p>
          <a:p>
            <a:r>
              <a:rPr lang="en-US" sz="1400"/>
              <a:t>Instead of going public on stock market – issue security tokens</a:t>
            </a:r>
          </a:p>
        </p:txBody>
      </p:sp>
    </p:spTree>
    <p:extLst>
      <p:ext uri="{BB962C8B-B14F-4D97-AF65-F5344CB8AC3E}">
        <p14:creationId xmlns:p14="http://schemas.microsoft.com/office/powerpoint/2010/main" val="5023336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4BED06-02E4-18DE-E9B4-6D76B33E3204}"/>
              </a:ext>
            </a:extLst>
          </p:cNvPr>
          <p:cNvSpPr txBox="1"/>
          <p:nvPr/>
        </p:nvSpPr>
        <p:spPr>
          <a:xfrm>
            <a:off x="71942" y="3040025"/>
            <a:ext cx="9830341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– Liquidity Providers; </a:t>
            </a: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(Automatic Market maker); </a:t>
            </a:r>
            <a:r>
              <a:rPr lang="en-US" sz="1400" b="1">
                <a:solidFill>
                  <a:srgbClr val="FF0000"/>
                </a:solidFill>
              </a:rPr>
              <a:t>TVL</a:t>
            </a:r>
            <a:r>
              <a:rPr lang="en-US" sz="1400"/>
              <a:t> – Total Value Locked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IOTA</a:t>
            </a:r>
            <a:r>
              <a:rPr lang="en-US" sz="1400"/>
              <a:t> - open-source distributed ledger and cryptocurrency designed for the Internet of things (IoT)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MoonPay</a:t>
            </a:r>
            <a:r>
              <a:rPr lang="en-US" sz="1400"/>
              <a:t> - https://www.moonpay.com - fast and simple way to buy and sell crypto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Yeti finance</a:t>
            </a:r>
            <a:r>
              <a:rPr lang="en-US" sz="1400"/>
              <a:t> - https://yetifinance.co - Borrow against your entire Avalanche portfolio interest-free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stargate</a:t>
            </a:r>
            <a:r>
              <a:rPr lang="en-US" sz="1400"/>
              <a:t> - https://stargate.finance/ - A fully composable native asset bridge with unified liquidity and instant guaranteed finality built on top of LayerZero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Convex Finance</a:t>
            </a:r>
            <a:r>
              <a:rPr lang="en-US" sz="1400"/>
              <a:t> - https://www.convexfinance.com – deposit liquidity, earn boosted CRV and rewards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Curve Finance (CRV token)</a:t>
            </a:r>
            <a:r>
              <a:rPr lang="en-US" sz="1400"/>
              <a:t> - https://resources.curve.fi – crypto swapping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- - https://uniswap.org - cryptocurrency exchange which uses a decentralized network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Balancer</a:t>
            </a:r>
            <a:r>
              <a:rPr lang="en-US" sz="1400"/>
              <a:t> - https://balancer.fi - Automated portfolio manager and trading platform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Fantom (wFTM)</a:t>
            </a:r>
            <a:r>
              <a:rPr lang="en-US" sz="1400"/>
              <a:t> - https://fantom.foundation - fast, high-throughput open-source smart contract platform for digital assets and dApps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Vector</a:t>
            </a:r>
            <a:r>
              <a:rPr lang="en-US" sz="1400"/>
              <a:t> - https://vectorfinance.io/ - Deposit on Vector, the best yield booster on Avalanche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Platypus finance</a:t>
            </a:r>
            <a:r>
              <a:rPr lang="en-US" sz="1400"/>
              <a:t> - https://platypus.finance – decentralized exchange, AMM for stableswap. Lower Slippage. Simpler UX.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ACryptoS</a:t>
            </a:r>
            <a:r>
              <a:rPr lang="en-US" sz="1400"/>
              <a:t> - https://docs.acryptos.com - a yield farming optimizer on the Binance Smart Chain (BSC)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 Llama</a:t>
            </a:r>
            <a:r>
              <a:rPr lang="en-US" sz="1400"/>
              <a:t> - https://defillama.com - a multi-chain TVL stats dashboard, where data connectors are contributed by a community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Arrakis Finance</a:t>
            </a:r>
            <a:r>
              <a:rPr lang="en-US" sz="1400"/>
              <a:t> - https://www.arrakis.finance/ - web3 liquidity layer (automated community-owned protocol)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469CD-F847-CC08-33A0-C589F68CED74}"/>
              </a:ext>
            </a:extLst>
          </p:cNvPr>
          <p:cNvSpPr txBox="1"/>
          <p:nvPr/>
        </p:nvSpPr>
        <p:spPr>
          <a:xfrm>
            <a:off x="0" y="0"/>
            <a:ext cx="53939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Decentralized finance (DeFi)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631DBA-9ADF-E8AB-AE40-57957357B6DD}"/>
              </a:ext>
            </a:extLst>
          </p:cNvPr>
          <p:cNvSpPr txBox="1"/>
          <p:nvPr/>
        </p:nvSpPr>
        <p:spPr>
          <a:xfrm>
            <a:off x="27338" y="603365"/>
            <a:ext cx="78289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</a:t>
            </a:r>
            <a:r>
              <a:rPr lang="en-US" sz="1400"/>
              <a:t> - allows you to </a:t>
            </a:r>
            <a:r>
              <a:rPr lang="en-US" sz="1400" b="1">
                <a:solidFill>
                  <a:srgbClr val="00B050"/>
                </a:solidFill>
              </a:rPr>
              <a:t>stake, lend, borrow and trade</a:t>
            </a:r>
            <a:r>
              <a:rPr lang="en-US" sz="1400"/>
              <a:t> cryptocurrencies (similar how banks do that)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</a:t>
            </a:r>
            <a:r>
              <a:rPr lang="en-US" sz="1400" b="1">
                <a:solidFill>
                  <a:srgbClr val="00B050"/>
                </a:solidFill>
              </a:rPr>
              <a:t>deposit</a:t>
            </a:r>
            <a:r>
              <a:rPr lang="en-US" sz="1400"/>
              <a:t> your cryptocurrency onto a </a:t>
            </a:r>
            <a:r>
              <a:rPr lang="en-US" sz="1400" b="1">
                <a:solidFill>
                  <a:srgbClr val="00B050"/>
                </a:solidFill>
              </a:rPr>
              <a:t>platform or protocol</a:t>
            </a:r>
            <a:r>
              <a:rPr lang="en-US" sz="1400"/>
              <a:t> that will pay you an APY (Annual Percentage Yield) for it. Most common deposits - Ethereum (ERC-20) token, or Ether (ETH), or a stablecoin like DAI or USDT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do</a:t>
            </a:r>
            <a:r>
              <a:rPr lang="en-US" sz="1400" b="1">
                <a:solidFill>
                  <a:srgbClr val="00B050"/>
                </a:solidFill>
              </a:rPr>
              <a:t> liquidity mining (yield farming)</a:t>
            </a:r>
            <a:r>
              <a:rPr lang="en-US" sz="1400"/>
              <a:t>. You can </a:t>
            </a:r>
            <a:r>
              <a:rPr lang="en-US" sz="1400" b="1">
                <a:solidFill>
                  <a:srgbClr val="00B050"/>
                </a:solidFill>
              </a:rPr>
              <a:t>stake or trade rewards</a:t>
            </a:r>
            <a:r>
              <a:rPr lang="en-US" sz="1400"/>
              <a:t> that you get for depositing your crypto. Typically you are paid in native tokens of protocols or platforms you use. You can re-invest them, or trade on exchanges (DEXs like Uniswap)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boost your returns with </a:t>
            </a:r>
            <a:r>
              <a:rPr lang="en-US" sz="1400" b="1">
                <a:solidFill>
                  <a:srgbClr val="00B050"/>
                </a:solidFill>
              </a:rPr>
              <a:t>borrowing and lending</a:t>
            </a:r>
            <a:r>
              <a:rPr lang="en-US" sz="1400"/>
              <a:t> (legal regulations apply !)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use</a:t>
            </a:r>
            <a:r>
              <a:rPr lang="en-US" sz="1400" b="1">
                <a:solidFill>
                  <a:srgbClr val="00B050"/>
                </a:solidFill>
              </a:rPr>
              <a:t> leverage/derivatives</a:t>
            </a:r>
            <a:r>
              <a:rPr lang="en-US" sz="1400"/>
              <a:t>, but this </a:t>
            </a:r>
            <a:r>
              <a:rPr lang="en-US" sz="1400" b="1">
                <a:solidFill>
                  <a:srgbClr val="00B050"/>
                </a:solidFill>
              </a:rPr>
              <a:t>multi-layered liquidity mining</a:t>
            </a:r>
            <a:r>
              <a:rPr lang="en-US" sz="1400"/>
              <a:t> increases the risk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D382D3-306C-5323-6F4D-5BFD67207853}"/>
              </a:ext>
            </a:extLst>
          </p:cNvPr>
          <p:cNvSpPr txBox="1"/>
          <p:nvPr/>
        </p:nvSpPr>
        <p:spPr>
          <a:xfrm>
            <a:off x="8501098" y="111280"/>
            <a:ext cx="3599396" cy="31085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Traditional Exchanges - </a:t>
            </a:r>
            <a:r>
              <a:rPr lang="en-US" sz="1400">
                <a:solidFill>
                  <a:srgbClr val="FF0000"/>
                </a:solidFill>
              </a:rPr>
              <a:t>Order-Book model</a:t>
            </a:r>
            <a:r>
              <a:rPr lang="en-US" sz="14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Buyers &amp; Sellers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Market Makers (Dealers) provide liquidity</a:t>
            </a:r>
          </a:p>
          <a:p>
            <a:endParaRPr lang="en-US" sz="1400"/>
          </a:p>
          <a:p>
            <a:r>
              <a:rPr lang="en-US" sz="1400"/>
              <a:t>DEFI – </a:t>
            </a:r>
            <a:r>
              <a:rPr lang="en-US" sz="1400" b="1">
                <a:solidFill>
                  <a:srgbClr val="FF0000"/>
                </a:solidFill>
              </a:rPr>
              <a:t>Liquidity Pools model</a:t>
            </a:r>
            <a:r>
              <a:rPr lang="en-US" sz="1400"/>
              <a:t> to facilitate swaps between coins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LPs (Liquidity Providers)</a:t>
            </a:r>
            <a:r>
              <a:rPr lang="en-US" sz="1400"/>
              <a:t> are compensated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Liquidity mining</a:t>
            </a:r>
            <a:r>
              <a:rPr lang="en-US" sz="1400"/>
              <a:t> - LPs are compensated more for providing liquidity where it is needed more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Prices are adjusted automatically (</a:t>
            </a:r>
            <a:r>
              <a:rPr lang="en-US" sz="1400" b="1">
                <a:solidFill>
                  <a:srgbClr val="FF0000"/>
                </a:solidFill>
              </a:rPr>
              <a:t>AMM = Automatic Market Maker</a:t>
            </a:r>
            <a:r>
              <a:rPr lang="en-US" sz="1400"/>
              <a:t> algorithms)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larger the pool, the lesser </a:t>
            </a:r>
            <a:r>
              <a:rPr lang="en-US" sz="1400" b="1">
                <a:solidFill>
                  <a:srgbClr val="FF0000"/>
                </a:solidFill>
              </a:rPr>
              <a:t>slippage</a:t>
            </a:r>
            <a:r>
              <a:rPr lang="en-US" sz="1400"/>
              <a:t> (effect of a single trade on prices)</a:t>
            </a:r>
          </a:p>
        </p:txBody>
      </p:sp>
    </p:spTree>
    <p:extLst>
      <p:ext uri="{BB962C8B-B14F-4D97-AF65-F5344CB8AC3E}">
        <p14:creationId xmlns:p14="http://schemas.microsoft.com/office/powerpoint/2010/main" val="614671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3108</TotalTime>
  <Words>1174</Words>
  <Application>Microsoft Macintosh PowerPoint</Application>
  <PresentationFormat>Widescreen</PresentationFormat>
  <Paragraphs>93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281</cp:revision>
  <dcterms:modified xsi:type="dcterms:W3CDTF">2022-05-06T15:12:21Z</dcterms:modified>
</cp:coreProperties>
</file>