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834" r:id="rId1"/>
  </p:sldMasterIdLst>
  <p:notesMasterIdLst>
    <p:notesMasterId r:id="rId4"/>
  </p:notesMasterIdLst>
  <p:sldIdLst>
    <p:sldId id="326" r:id="rId2"/>
    <p:sldId id="32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48"/>
    <p:restoredTop sz="92406"/>
  </p:normalViewPr>
  <p:slideViewPr>
    <p:cSldViewPr snapToGrid="0" snapToObjects="1">
      <p:cViewPr varScale="1">
        <p:scale>
          <a:sx n="133" d="100"/>
          <a:sy n="133" d="100"/>
        </p:scale>
        <p:origin x="61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7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5/3/22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77923428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5/3/22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22838171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5/3/22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65426996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5/3/22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987475605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5/3/22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396515540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5/3/22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72527479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5/3/22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0617518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5/3/22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965141301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5/3/22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374154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5/3/22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4364286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FAE4C-5332-014D-8E1B-BB8DA73EF81D}" type="datetimeFigureOut">
              <a:rPr lang="en-US"/>
              <a:t>5/3/22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26432762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1FAE4C-5332-014D-8E1B-BB8DA73EF81D}" type="datetimeFigureOut">
              <a:rPr lang="en-US"/>
              <a:t>5/3/22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000000-1234-1234-1234-123412341234}" type="slidenum">
              <a:rPr lang="en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7525069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5" r:id="rId1"/>
    <p:sldLayoutId id="2147483836" r:id="rId2"/>
    <p:sldLayoutId id="2147483837" r:id="rId3"/>
    <p:sldLayoutId id="2147483838" r:id="rId4"/>
    <p:sldLayoutId id="2147483839" r:id="rId5"/>
    <p:sldLayoutId id="2147483840" r:id="rId6"/>
    <p:sldLayoutId id="2147483841" r:id="rId7"/>
    <p:sldLayoutId id="2147483842" r:id="rId8"/>
    <p:sldLayoutId id="2147483843" r:id="rId9"/>
    <p:sldLayoutId id="2147483844" r:id="rId10"/>
    <p:sldLayoutId id="214748384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E4BED06-02E4-18DE-E9B4-6D76B33E3204}"/>
              </a:ext>
            </a:extLst>
          </p:cNvPr>
          <p:cNvSpPr txBox="1"/>
          <p:nvPr/>
        </p:nvSpPr>
        <p:spPr>
          <a:xfrm>
            <a:off x="71942" y="3040025"/>
            <a:ext cx="9830341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LP</a:t>
            </a:r>
            <a:r>
              <a:rPr lang="en-US" sz="1400"/>
              <a:t> – Liquidity Providers; </a:t>
            </a:r>
            <a:r>
              <a:rPr lang="en-US" sz="1400" b="1">
                <a:solidFill>
                  <a:srgbClr val="FF0000"/>
                </a:solidFill>
              </a:rPr>
              <a:t>AMM</a:t>
            </a:r>
            <a:r>
              <a:rPr lang="en-US" sz="1400"/>
              <a:t> (Automatic Market maker); </a:t>
            </a:r>
            <a:r>
              <a:rPr lang="en-US" sz="1400" b="1">
                <a:solidFill>
                  <a:srgbClr val="FF0000"/>
                </a:solidFill>
              </a:rPr>
              <a:t>TVL</a:t>
            </a:r>
            <a:r>
              <a:rPr lang="en-US" sz="1400"/>
              <a:t> – Total Value Locked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IOTA</a:t>
            </a:r>
            <a:r>
              <a:rPr lang="en-US" sz="1400"/>
              <a:t> - open-source distributed ledger and cryptocurrency designed for the Internet of things (IoT)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MoonPay</a:t>
            </a:r>
            <a:r>
              <a:rPr lang="en-US" sz="1400"/>
              <a:t> - https://www.moonpay.com - fast and simple way to buy and sell crypto</a:t>
            </a:r>
            <a:endParaRPr lang="en-US" sz="1400" b="1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Yeti finance</a:t>
            </a:r>
            <a:r>
              <a:rPr lang="en-US" sz="1400"/>
              <a:t> - https://yetifinance.co - Borrow against your entire Avalanche portfolio interest-free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stargate</a:t>
            </a:r>
            <a:r>
              <a:rPr lang="en-US" sz="1400"/>
              <a:t> - https://stargate.finance/ - A fully composable native asset bridge with unified liquidity and instant guaranteed finality built on top of LayerZero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Convex Finance</a:t>
            </a:r>
            <a:r>
              <a:rPr lang="en-US" sz="1400"/>
              <a:t> - https://www.convexfinance.com – deposit liquidity, earn boosted CRV and rewards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Curve Finance (CRV token)</a:t>
            </a:r>
            <a:r>
              <a:rPr lang="en-US" sz="1400"/>
              <a:t> - https://resources.curve.fi – crypto swapping platform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Uniswap</a:t>
            </a:r>
            <a:r>
              <a:rPr lang="en-US" sz="1400"/>
              <a:t> - - https://uniswap.org - cryptocurrency exchange which uses a decentralized network protocol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Balancer</a:t>
            </a:r>
            <a:r>
              <a:rPr lang="en-US" sz="1400"/>
              <a:t> - https://balancer.fi - Automated portfolio manager and trading platform</a:t>
            </a:r>
            <a:endParaRPr lang="en-US" sz="1400" b="1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Fantom (wFTM)</a:t>
            </a:r>
            <a:r>
              <a:rPr lang="en-US" sz="1400"/>
              <a:t> - https://fantom.foundation - fast, high-throughput open-source smart contract platform for digital assets and dApps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Vector</a:t>
            </a:r>
            <a:r>
              <a:rPr lang="en-US" sz="1400"/>
              <a:t> - https://vectorfinance.io/ - Deposit on Vector, the best yield booster on Avalanche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Platypus finance</a:t>
            </a:r>
            <a:r>
              <a:rPr lang="en-US" sz="1400"/>
              <a:t> - https://platypus.finance – decentralized exchange, AMM for stableswap. Lower Slippage. Simpler UX.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ACryptoS</a:t>
            </a:r>
            <a:r>
              <a:rPr lang="en-US" sz="1400"/>
              <a:t> - https://docs.acryptos.com - a yield farming optimizer on the Binance Smart Chain (BSC)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Defi Llama</a:t>
            </a:r>
            <a:r>
              <a:rPr lang="en-US" sz="1400"/>
              <a:t> - https://defillama.com - a multi-chain TVL stats dashboard, where data connectors are contributed by a community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Arrakis Finance</a:t>
            </a:r>
            <a:r>
              <a:rPr lang="en-US" sz="1400"/>
              <a:t> - https://www.arrakis.finance/ - web3 liquidity layer (automated community-owned protocol)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9469CD-F847-CC08-33A0-C589F68CED74}"/>
              </a:ext>
            </a:extLst>
          </p:cNvPr>
          <p:cNvSpPr txBox="1"/>
          <p:nvPr/>
        </p:nvSpPr>
        <p:spPr>
          <a:xfrm>
            <a:off x="0" y="0"/>
            <a:ext cx="53939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Decentralized finance (DeFi)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631DBA-9ADF-E8AB-AE40-57957357B6DD}"/>
              </a:ext>
            </a:extLst>
          </p:cNvPr>
          <p:cNvSpPr txBox="1"/>
          <p:nvPr/>
        </p:nvSpPr>
        <p:spPr>
          <a:xfrm>
            <a:off x="27338" y="603365"/>
            <a:ext cx="782890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DeFi</a:t>
            </a:r>
            <a:r>
              <a:rPr lang="en-US" sz="1400"/>
              <a:t> - allows you to </a:t>
            </a:r>
            <a:r>
              <a:rPr lang="en-US" sz="1400" b="1">
                <a:solidFill>
                  <a:srgbClr val="00B050"/>
                </a:solidFill>
              </a:rPr>
              <a:t>stake, lend, borrow and trade</a:t>
            </a:r>
            <a:r>
              <a:rPr lang="en-US" sz="1400"/>
              <a:t> cryptocurrencies (similar how banks do that)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You can </a:t>
            </a:r>
            <a:r>
              <a:rPr lang="en-US" sz="1400" b="1">
                <a:solidFill>
                  <a:srgbClr val="00B050"/>
                </a:solidFill>
              </a:rPr>
              <a:t>deposit</a:t>
            </a:r>
            <a:r>
              <a:rPr lang="en-US" sz="1400"/>
              <a:t> your cryptocurrency onto a </a:t>
            </a:r>
            <a:r>
              <a:rPr lang="en-US" sz="1400" b="1">
                <a:solidFill>
                  <a:srgbClr val="00B050"/>
                </a:solidFill>
              </a:rPr>
              <a:t>platform or protocol</a:t>
            </a:r>
            <a:r>
              <a:rPr lang="en-US" sz="1400"/>
              <a:t> that will pay you an APY (Annual Percentage Yield) for it. Most common deposits - Ethereum (ERC-20) token, or Ether (ETH), or a stablecoin like DAI or USDT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You can do</a:t>
            </a:r>
            <a:r>
              <a:rPr lang="en-US" sz="1400" b="1">
                <a:solidFill>
                  <a:srgbClr val="00B050"/>
                </a:solidFill>
              </a:rPr>
              <a:t> liquidity mining (yield farming)</a:t>
            </a:r>
            <a:r>
              <a:rPr lang="en-US" sz="1400"/>
              <a:t>. You can </a:t>
            </a:r>
            <a:r>
              <a:rPr lang="en-US" sz="1400" b="1">
                <a:solidFill>
                  <a:srgbClr val="00B050"/>
                </a:solidFill>
              </a:rPr>
              <a:t>stake or trade rewards</a:t>
            </a:r>
            <a:r>
              <a:rPr lang="en-US" sz="1400"/>
              <a:t> that you get for depositing your crypto. Typically you are paid in native tokens of protocols or platforms you use. You can re-invest them, or trade on exchanges (DEXs like Uniswap)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You can boost your returns with </a:t>
            </a:r>
            <a:r>
              <a:rPr lang="en-US" sz="1400" b="1">
                <a:solidFill>
                  <a:srgbClr val="00B050"/>
                </a:solidFill>
              </a:rPr>
              <a:t>borrowing and lending</a:t>
            </a:r>
            <a:r>
              <a:rPr lang="en-US" sz="1400"/>
              <a:t> (legal regulations apply !)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You can use</a:t>
            </a:r>
            <a:r>
              <a:rPr lang="en-US" sz="1400" b="1">
                <a:solidFill>
                  <a:srgbClr val="00B050"/>
                </a:solidFill>
              </a:rPr>
              <a:t> leverage/derivatives</a:t>
            </a:r>
            <a:r>
              <a:rPr lang="en-US" sz="1400"/>
              <a:t>, but this </a:t>
            </a:r>
            <a:r>
              <a:rPr lang="en-US" sz="1400" b="1">
                <a:solidFill>
                  <a:srgbClr val="00B050"/>
                </a:solidFill>
              </a:rPr>
              <a:t>multi-layered liquidity mining</a:t>
            </a:r>
            <a:r>
              <a:rPr lang="en-US" sz="1400"/>
              <a:t> increases the risk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D382D3-306C-5323-6F4D-5BFD67207853}"/>
              </a:ext>
            </a:extLst>
          </p:cNvPr>
          <p:cNvSpPr txBox="1"/>
          <p:nvPr/>
        </p:nvSpPr>
        <p:spPr>
          <a:xfrm>
            <a:off x="8501098" y="111280"/>
            <a:ext cx="3599396" cy="310854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/>
              <a:t>Traditional Exchanges - </a:t>
            </a:r>
            <a:r>
              <a:rPr lang="en-US" sz="1400">
                <a:solidFill>
                  <a:srgbClr val="FF0000"/>
                </a:solidFill>
              </a:rPr>
              <a:t>Order-Book model</a:t>
            </a:r>
            <a:r>
              <a:rPr lang="en-US" sz="140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Buyers &amp; Sellers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Market Makers (Dealers) provide liquidity</a:t>
            </a:r>
          </a:p>
          <a:p>
            <a:endParaRPr lang="en-US" sz="1400"/>
          </a:p>
          <a:p>
            <a:r>
              <a:rPr lang="en-US" sz="1400"/>
              <a:t>DEFI – </a:t>
            </a:r>
            <a:r>
              <a:rPr lang="en-US" sz="1400" b="1">
                <a:solidFill>
                  <a:srgbClr val="FF0000"/>
                </a:solidFill>
              </a:rPr>
              <a:t>Liquidity Pools model</a:t>
            </a:r>
            <a:r>
              <a:rPr lang="en-US" sz="1400"/>
              <a:t> to facilitate swaps between coins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LPs (Liquidity Providers)</a:t>
            </a:r>
            <a:r>
              <a:rPr lang="en-US" sz="1400"/>
              <a:t> are compensated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rgbClr val="FF0000"/>
                </a:solidFill>
              </a:rPr>
              <a:t>Liquidity mining</a:t>
            </a:r>
            <a:r>
              <a:rPr lang="en-US" sz="1400"/>
              <a:t> - LPs are compensated more for providing liquidity where it is needed more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Prices are adjusted automatically (</a:t>
            </a:r>
            <a:r>
              <a:rPr lang="en-US" sz="1400" b="1">
                <a:solidFill>
                  <a:srgbClr val="FF0000"/>
                </a:solidFill>
              </a:rPr>
              <a:t>AMM = Automatic Market Maker</a:t>
            </a:r>
            <a:r>
              <a:rPr lang="en-US" sz="1400"/>
              <a:t> algorithms)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The larger the pool, the lesser </a:t>
            </a:r>
            <a:r>
              <a:rPr lang="en-US" sz="1400" b="1">
                <a:solidFill>
                  <a:srgbClr val="FF0000"/>
                </a:solidFill>
              </a:rPr>
              <a:t>slippage</a:t>
            </a:r>
            <a:r>
              <a:rPr lang="en-US" sz="1400"/>
              <a:t> (effect of a single trade on prices)</a:t>
            </a:r>
          </a:p>
        </p:txBody>
      </p:sp>
    </p:spTree>
    <p:extLst>
      <p:ext uri="{BB962C8B-B14F-4D97-AF65-F5344CB8AC3E}">
        <p14:creationId xmlns:p14="http://schemas.microsoft.com/office/powerpoint/2010/main" val="6146715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074509F-C3EE-E627-156A-D239BA689CE4}"/>
              </a:ext>
            </a:extLst>
          </p:cNvPr>
          <p:cNvSpPr txBox="1"/>
          <p:nvPr/>
        </p:nvSpPr>
        <p:spPr>
          <a:xfrm>
            <a:off x="278295" y="474345"/>
            <a:ext cx="5516113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Finance</a:t>
            </a:r>
          </a:p>
          <a:p>
            <a:r>
              <a:rPr lang="en-US" sz="1400"/>
              <a:t>1970 – computers</a:t>
            </a:r>
          </a:p>
          <a:p>
            <a:r>
              <a:rPr lang="en-US" sz="1400"/>
              <a:t>1990 – online operations</a:t>
            </a:r>
          </a:p>
          <a:p>
            <a:r>
              <a:rPr lang="en-US" sz="1400"/>
              <a:t>paypal, iintech, ...</a:t>
            </a:r>
          </a:p>
          <a:p>
            <a:endParaRPr lang="en-US" sz="1400"/>
          </a:p>
          <a:p>
            <a:r>
              <a:rPr lang="en-US" sz="1400"/>
              <a:t>Standard finance is still inefficient - done by humans, behind closed doors, etc.</a:t>
            </a:r>
          </a:p>
          <a:p>
            <a:endParaRPr lang="en-US" sz="1400"/>
          </a:p>
          <a:p>
            <a:r>
              <a:rPr lang="en-US" sz="1400"/>
              <a:t>new – cryptography, decentralization, blockchain</a:t>
            </a:r>
          </a:p>
          <a:p>
            <a:r>
              <a:rPr lang="en-US" sz="1400"/>
              <a:t>   payments, lending, borrowing, lending</a:t>
            </a:r>
          </a:p>
          <a:p>
            <a:r>
              <a:rPr lang="en-US" sz="1400"/>
              <a:t>   fast settlement – even between different countries</a:t>
            </a:r>
          </a:p>
          <a:p>
            <a:r>
              <a:rPr lang="en-US" sz="1400"/>
              <a:t>   no human involvement</a:t>
            </a:r>
          </a:p>
          <a:p>
            <a:r>
              <a:rPr lang="en-US" sz="1400"/>
              <a:t>   no permissions needed, no need to provide income statements, nationality, race, etc.</a:t>
            </a:r>
          </a:p>
          <a:p>
            <a:r>
              <a:rPr lang="en-US" sz="1400"/>
              <a:t>   open software, open protocols</a:t>
            </a:r>
          </a:p>
          <a:p>
            <a:r>
              <a:rPr lang="en-US" sz="1400"/>
              <a:t>   transparent, visible, ...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EC1A47-C971-C6FC-A6E9-B75E6CE97753}"/>
              </a:ext>
            </a:extLst>
          </p:cNvPr>
          <p:cNvSpPr txBox="1"/>
          <p:nvPr/>
        </p:nvSpPr>
        <p:spPr>
          <a:xfrm>
            <a:off x="6096001" y="750771"/>
            <a:ext cx="55505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TVL = Total Value Locked in DeFi</a:t>
            </a:r>
          </a:p>
          <a:p>
            <a:r>
              <a:rPr lang="en-US" sz="1400"/>
              <a:t>in lending protocols, decentralized exchanges, or derivative protocols</a:t>
            </a:r>
          </a:p>
          <a:p>
            <a:r>
              <a:rPr lang="en-US" sz="1400"/>
              <a:t>has grown from $1 Bln in 2020 to $32 Bln in Feb 2021</a:t>
            </a:r>
          </a:p>
          <a:p>
            <a:endParaRPr lang="en-US" sz="1400"/>
          </a:p>
          <a:p>
            <a:r>
              <a:rPr lang="en-US" sz="1400"/>
              <a:t>Trading Volume:  $0.5 Bln =&gt; $50+ Bln in Jan 2021</a:t>
            </a:r>
          </a:p>
          <a:p>
            <a:endParaRPr lang="en-US" sz="1400"/>
          </a:p>
          <a:p>
            <a:r>
              <a:rPr lang="en-US" sz="1400"/>
              <a:t>Stable coins – tremendous growth</a:t>
            </a:r>
          </a:p>
          <a:p>
            <a:r>
              <a:rPr lang="en-US" sz="1400"/>
              <a:t>   USDC</a:t>
            </a:r>
          </a:p>
          <a:p>
            <a:r>
              <a:rPr lang="en-US" sz="1400"/>
              <a:t>   Dai</a:t>
            </a:r>
          </a:p>
        </p:txBody>
      </p:sp>
    </p:spTree>
    <p:extLst>
      <p:ext uri="{BB962C8B-B14F-4D97-AF65-F5344CB8AC3E}">
        <p14:creationId xmlns:p14="http://schemas.microsoft.com/office/powerpoint/2010/main" val="5023336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2959</TotalTime>
  <Words>660</Words>
  <Application>Microsoft Macintosh PowerPoint</Application>
  <PresentationFormat>Widescreen</PresentationFormat>
  <Paragraphs>53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266</cp:revision>
  <dcterms:modified xsi:type="dcterms:W3CDTF">2022-05-03T21:29:51Z</dcterms:modified>
</cp:coreProperties>
</file>