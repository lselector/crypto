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834" r:id="rId1"/>
  </p:sldMasterIdLst>
  <p:notesMasterIdLst>
    <p:notesMasterId r:id="rId12"/>
  </p:notesMasterIdLst>
  <p:sldIdLst>
    <p:sldId id="265" r:id="rId2"/>
    <p:sldId id="262" r:id="rId3"/>
    <p:sldId id="314" r:id="rId4"/>
    <p:sldId id="277" r:id="rId5"/>
    <p:sldId id="321" r:id="rId6"/>
    <p:sldId id="308" r:id="rId7"/>
    <p:sldId id="309" r:id="rId8"/>
    <p:sldId id="310" r:id="rId9"/>
    <p:sldId id="312" r:id="rId10"/>
    <p:sldId id="31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420"/>
    <p:restoredTop sz="92374"/>
  </p:normalViewPr>
  <p:slideViewPr>
    <p:cSldViewPr snapToGrid="0" snapToObjects="1">
      <p:cViewPr varScale="1">
        <p:scale>
          <a:sx n="66" d="100"/>
          <a:sy n="66" d="100"/>
        </p:scale>
        <p:origin x="192" y="1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94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77923428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2283817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542699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98747560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3965155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7252747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061751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9651413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741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436428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43276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1FAE4C-5332-014D-8E1B-BB8DA73EF81D}" type="datetimeFigureOut">
              <a:rPr lang="en-US"/>
              <a:t>5/2/22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752506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itpay.com/" TargetMode="External"/><Relationship Id="rId7" Type="http://schemas.openxmlformats.org/officeDocument/2006/relationships/hyperlink" Target="https://www.merchantmaverick.com/best-cryptocurrency-payment-gateway/" TargetMode="External"/><Relationship Id="rId2" Type="http://schemas.openxmlformats.org/officeDocument/2006/relationships/hyperlink" Target="https://www.coinbase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lfacoins.com/" TargetMode="External"/><Relationship Id="rId5" Type="http://schemas.openxmlformats.org/officeDocument/2006/relationships/hyperlink" Target="https://nowpayments.io/" TargetMode="External"/><Relationship Id="rId4" Type="http://schemas.openxmlformats.org/officeDocument/2006/relationships/hyperlink" Target="https://coingate.com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raken.com/" TargetMode="External"/><Relationship Id="rId3" Type="http://schemas.openxmlformats.org/officeDocument/2006/relationships/hyperlink" Target="https://www.binance.com/" TargetMode="External"/><Relationship Id="rId7" Type="http://schemas.openxmlformats.org/officeDocument/2006/relationships/hyperlink" Target="https://bisq.network/" TargetMode="External"/><Relationship Id="rId2" Type="http://schemas.openxmlformats.org/officeDocument/2006/relationships/hyperlink" Target="https://www.coinbase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ash.app/" TargetMode="External"/><Relationship Id="rId11" Type="http://schemas.openxmlformats.org/officeDocument/2006/relationships/hyperlink" Target="https://www.investopedia.com/best-crypto-exchanges-5071855" TargetMode="External"/><Relationship Id="rId5" Type="http://schemas.openxmlformats.org/officeDocument/2006/relationships/hyperlink" Target="https://www.abra.com/" TargetMode="External"/><Relationship Id="rId10" Type="http://schemas.openxmlformats.org/officeDocument/2006/relationships/hyperlink" Target="https://robinhood.com/" TargetMode="External"/><Relationship Id="rId4" Type="http://schemas.openxmlformats.org/officeDocument/2006/relationships/hyperlink" Target="https://www.binance.us/" TargetMode="External"/><Relationship Id="rId9" Type="http://schemas.openxmlformats.org/officeDocument/2006/relationships/hyperlink" Target="https://www.gemini.com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s://www.youtube.com/watch?v=J3cQNpOR_a0" TargetMode="External"/><Relationship Id="rId7" Type="http://schemas.openxmlformats.org/officeDocument/2006/relationships/hyperlink" Target="https://bitpay.com/blog/bitpay-supports-lightning-network-payments/amp/" TargetMode="External"/><Relationship Id="rId12" Type="http://schemas.openxmlformats.org/officeDocument/2006/relationships/hyperlink" Target="https://ethereum.org/en/developers/docs/scaling/sidechain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oinbase.com/learn/crypto-basics/what-is-lightning" TargetMode="External"/><Relationship Id="rId11" Type="http://schemas.openxmlformats.org/officeDocument/2006/relationships/image" Target="../media/image4.png"/><Relationship Id="rId5" Type="http://schemas.openxmlformats.org/officeDocument/2006/relationships/hyperlink" Target="https://en.wikipedia.org/wiki/Lightning_Network" TargetMode="External"/><Relationship Id="rId10" Type="http://schemas.openxmlformats.org/officeDocument/2006/relationships/image" Target="../media/image3.png"/><Relationship Id="rId4" Type="http://schemas.openxmlformats.org/officeDocument/2006/relationships/hyperlink" Target="https://www.youtube.com/watch?v=XCSfoiD8wUA" TargetMode="Externa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wpengine.com/resources/wordpress-and-bitcoin/" TargetMode="External"/><Relationship Id="rId3" Type="http://schemas.openxmlformats.org/officeDocument/2006/relationships/hyperlink" Target="https://www.owler.com/company/bitpay" TargetMode="External"/><Relationship Id="rId7" Type="http://schemas.openxmlformats.org/officeDocument/2006/relationships/hyperlink" Target="https://technicali.com/top-7-payment-gateways-that-accept-cryptocurrency/" TargetMode="External"/><Relationship Id="rId2" Type="http://schemas.openxmlformats.org/officeDocument/2006/relationships/hyperlink" Target="https://bitpay.com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finextra.com/blogposting/21322/the-best-cryptocurrency-payment-gateways-for-2022" TargetMode="External"/><Relationship Id="rId5" Type="http://schemas.openxmlformats.org/officeDocument/2006/relationships/hyperlink" Target="https://www.cryptowisser.com/wallet/bitpay/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bitpay.com/blog/welcome-to-the-september-cryptie/" TargetMode="External"/><Relationship Id="rId9" Type="http://schemas.openxmlformats.org/officeDocument/2006/relationships/hyperlink" Target="https://www.nerdwallet.com/article/small-business/accepting-bitcoin-crypto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thegivingblock.com/" TargetMode="External"/><Relationship Id="rId7" Type="http://schemas.openxmlformats.org/officeDocument/2006/relationships/hyperlink" Target="https://thegivingblock.com/donate/action-against-hunger/" TargetMode="External"/><Relationship Id="rId2" Type="http://schemas.openxmlformats.org/officeDocument/2006/relationships/hyperlink" Target="https://thegivingblock.com/resources/nonprofits-accepting-crypto-donations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ctionagainsthunger.org/story/donate-crypto" TargetMode="External"/><Relationship Id="rId5" Type="http://schemas.openxmlformats.org/officeDocument/2006/relationships/hyperlink" Target="https://www.actionagainsthunger.org/" TargetMode="Externa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bitpay/python-bitpay-client/blob/master/GUIDE.md" TargetMode="External"/><Relationship Id="rId3" Type="http://schemas.openxmlformats.org/officeDocument/2006/relationships/hyperlink" Target="https://bitpay.com/dashboard/signup" TargetMode="External"/><Relationship Id="rId7" Type="http://schemas.openxmlformats.org/officeDocument/2006/relationships/hyperlink" Target="https://bitpay.com/integrations/python" TargetMode="External"/><Relationship Id="rId2" Type="http://schemas.openxmlformats.org/officeDocument/2006/relationships/hyperlink" Target="https://bitpay.com/api/#rest-api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github.com/bitpay/python-bitpay-client" TargetMode="External"/><Relationship Id="rId5" Type="http://schemas.openxmlformats.org/officeDocument/2006/relationships/hyperlink" Target="https://github.com/warpi/BitPay" TargetMode="External"/><Relationship Id="rId4" Type="http://schemas.openxmlformats.org/officeDocument/2006/relationships/hyperlink" Target="https://github.com/bitpay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C1446BC-FB38-4C49-9BFC-558F535A8731}"/>
              </a:ext>
            </a:extLst>
          </p:cNvPr>
          <p:cNvSpPr txBox="1"/>
          <p:nvPr/>
        </p:nvSpPr>
        <p:spPr>
          <a:xfrm>
            <a:off x="459082" y="2272829"/>
            <a:ext cx="96783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Coinbase</a:t>
            </a:r>
            <a:r>
              <a:rPr lang="en-US" sz="1400"/>
              <a:t> - mainstream brand in the US market. Integrates with Shopify and WooCommerce - </a:t>
            </a:r>
            <a:r>
              <a:rPr lang="en-US" sz="1400">
                <a:hlinkClick r:id="rId2"/>
              </a:rPr>
              <a:t>https://www.coinbase.com</a:t>
            </a:r>
            <a:r>
              <a:rPr lang="en-US" sz="1400"/>
              <a:t> –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- Bitcoin and Bitcoin Cash payment services for merchants. US, since 2011. Versatile payout options - </a:t>
            </a:r>
            <a:r>
              <a:rPr lang="en-US" sz="1400">
                <a:hlinkClick r:id="rId3"/>
              </a:rPr>
              <a:t>https://bitpay.com</a:t>
            </a:r>
            <a:r>
              <a:rPr lang="en-US" sz="1400"/>
              <a:t> -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CoinGate</a:t>
            </a:r>
            <a:r>
              <a:rPr lang="en-US" sz="1400"/>
              <a:t> - Supports payment in more obscure coins, Integrates with a large number of eCommerce platforms - </a:t>
            </a:r>
            <a:r>
              <a:rPr lang="en-US" sz="1400">
                <a:hlinkClick r:id="rId4"/>
              </a:rPr>
              <a:t>https://coingate.com</a:t>
            </a:r>
            <a:r>
              <a:rPr lang="en-US" sz="1400"/>
              <a:t> –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NOWpayments</a:t>
            </a:r>
            <a:r>
              <a:rPr lang="en-US" sz="1400"/>
              <a:t> - Supports payment in more obscure coins, Integrates with a large number of eCommerce platforms, Low fees for simple transactions - </a:t>
            </a:r>
            <a:r>
              <a:rPr lang="en-US" sz="1400">
                <a:hlinkClick r:id="rId5"/>
              </a:rPr>
              <a:t>https://nowpayments.io</a:t>
            </a:r>
            <a:r>
              <a:rPr lang="en-US" sz="1400"/>
              <a:t> – 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AlfaCoins</a:t>
            </a:r>
            <a:r>
              <a:rPr lang="en-US" sz="1400"/>
              <a:t> - Flexible payment options, Easy to use - </a:t>
            </a:r>
            <a:r>
              <a:rPr lang="en-US" sz="1400">
                <a:hlinkClick r:id="rId6"/>
              </a:rPr>
              <a:t>https://www.alfacoins.com</a:t>
            </a:r>
            <a:r>
              <a:rPr lang="en-US" sz="1400"/>
              <a:t> -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0FDA16-7038-5F44-96A9-2983ADCDFDFA}"/>
              </a:ext>
            </a:extLst>
          </p:cNvPr>
          <p:cNvSpPr txBox="1"/>
          <p:nvPr/>
        </p:nvSpPr>
        <p:spPr>
          <a:xfrm>
            <a:off x="1" y="1"/>
            <a:ext cx="5298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Crypto Payment Services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2B9AA6-A14C-D142-93AB-6A09A48CF631}"/>
              </a:ext>
            </a:extLst>
          </p:cNvPr>
          <p:cNvSpPr txBox="1"/>
          <p:nvPr/>
        </p:nvSpPr>
        <p:spPr>
          <a:xfrm>
            <a:off x="120415" y="933215"/>
            <a:ext cx="6544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The 5 Most Popular Crypto Payment Gateway &amp; Processors</a:t>
            </a:r>
          </a:p>
          <a:p>
            <a:r>
              <a:rPr lang="en-US" sz="1400">
                <a:hlinkClick r:id="rId7"/>
              </a:rPr>
              <a:t>https://www.merchantmaverick.com/best-cryptocurrency-payment-gateway/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970481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5F5F09-9DB3-9E49-8CE2-4F0323174DB1}"/>
              </a:ext>
            </a:extLst>
          </p:cNvPr>
          <p:cNvSpPr txBox="1"/>
          <p:nvPr/>
        </p:nvSpPr>
        <p:spPr>
          <a:xfrm>
            <a:off x="150519" y="1509095"/>
            <a:ext cx="10380212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Coinbase</a:t>
            </a:r>
            <a:r>
              <a:rPr lang="en-US" sz="1400"/>
              <a:t> - 89+ Mln users, 100+ countries, USA-based - </a:t>
            </a:r>
            <a:r>
              <a:rPr lang="en-US" sz="1400">
                <a:hlinkClick r:id="rId2"/>
              </a:rPr>
              <a:t>https://www.coinbase.com</a:t>
            </a:r>
            <a:r>
              <a:rPr lang="en-US" sz="1400"/>
              <a:t> - Transaction Fees: 0.04% to 0.50% (taker orders); 0% to 0.50% (makers orders), Wallet included. Very high liquidity, variety of coins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Binance</a:t>
            </a:r>
            <a:r>
              <a:rPr lang="en-US" sz="1400"/>
              <a:t> - </a:t>
            </a:r>
            <a:r>
              <a:rPr lang="en-US" sz="1400">
                <a:hlinkClick r:id="rId3"/>
              </a:rPr>
              <a:t>https://www.binance.com</a:t>
            </a:r>
            <a:r>
              <a:rPr lang="en-US" sz="1400"/>
              <a:t> - Cayman Islands (Caribbean) &amp; Seychelles (island near Africa). Hindreds of cr.currencies. Not available in US. Low fees, large variety of cryptocurrencies and trading pairs, geared for more advanced users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Binance.US</a:t>
            </a:r>
            <a:r>
              <a:rPr lang="en-US" sz="1400"/>
              <a:t> - </a:t>
            </a:r>
            <a:r>
              <a:rPr lang="en-US" sz="1400">
                <a:hlinkClick r:id="rId4"/>
              </a:rPr>
              <a:t>https://www.binance.us</a:t>
            </a:r>
            <a:r>
              <a:rPr lang="en-US" sz="1400"/>
              <a:t> – US-regulated, 50 cryptocurrencies, not all states supported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Abra</a:t>
            </a:r>
            <a:r>
              <a:rPr lang="en-US" sz="1400"/>
              <a:t> - </a:t>
            </a:r>
            <a:r>
              <a:rPr lang="en-US" sz="1400">
                <a:hlinkClick r:id="rId5"/>
              </a:rPr>
              <a:t>https://www.abra.com</a:t>
            </a:r>
            <a:r>
              <a:rPr lang="en-US" sz="1400"/>
              <a:t> - Mountain View, CA - operates a comprehensive, custodial cryptocurrency wallet and exchange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Cash App</a:t>
            </a:r>
            <a:r>
              <a:rPr lang="en-US" sz="1400"/>
              <a:t> - </a:t>
            </a:r>
            <a:r>
              <a:rPr lang="en-US" sz="1400">
                <a:hlinkClick r:id="rId6"/>
              </a:rPr>
              <a:t>https://cash.app</a:t>
            </a:r>
            <a:r>
              <a:rPr lang="en-US" sz="1400"/>
              <a:t> – easy to use, peer-to-peer money transfer (like Venmo or Zelle), ability to withdraw Bitcoin, supports only one crypto-currency – the Bitcoin. has daily and weekly withdrawal limits. Charge when sending money via credit card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bisq</a:t>
            </a:r>
            <a:r>
              <a:rPr lang="en-US" sz="1400"/>
              <a:t> – decentralized exchange - </a:t>
            </a:r>
            <a:r>
              <a:rPr lang="en-US" sz="1400">
                <a:hlinkClick r:id="rId7"/>
              </a:rPr>
              <a:t>https://bisq.network</a:t>
            </a:r>
            <a:r>
              <a:rPr lang="en-US" sz="1400"/>
              <a:t> – non-KYC platform, 18 crypto-currencies, but transaction speeds may be slow, trading volumes can be low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Kraken</a:t>
            </a:r>
            <a:r>
              <a:rPr lang="en-US" sz="1400"/>
              <a:t> – Bitcoin &amp; Crypto Exchange - </a:t>
            </a:r>
            <a:r>
              <a:rPr lang="en-US" sz="1400">
                <a:hlinkClick r:id="rId8"/>
              </a:rPr>
              <a:t>https://www.kraken.com</a:t>
            </a:r>
            <a:r>
              <a:rPr lang="en-US" sz="1400"/>
              <a:t> -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Gemini</a:t>
            </a:r>
            <a:r>
              <a:rPr lang="en-US" sz="1400"/>
              <a:t> - </a:t>
            </a:r>
            <a:r>
              <a:rPr lang="en-US" sz="1400">
                <a:hlinkClick r:id="rId9"/>
              </a:rPr>
              <a:t>https://www.gemini.com</a:t>
            </a:r>
            <a:r>
              <a:rPr lang="en-US" sz="1400"/>
              <a:t> -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FF0000"/>
                </a:solidFill>
              </a:rPr>
              <a:t>Robinhood</a:t>
            </a:r>
            <a:r>
              <a:rPr lang="en-US" sz="1400"/>
              <a:t> - </a:t>
            </a:r>
            <a:r>
              <a:rPr lang="en-US" sz="1400">
                <a:hlinkClick r:id="rId10"/>
              </a:rPr>
              <a:t>https://robinhood.com</a:t>
            </a:r>
            <a:r>
              <a:rPr lang="en-US" sz="1400"/>
              <a:t> -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3C8C33-6A91-5C4E-9187-89A8633AA1F9}"/>
              </a:ext>
            </a:extLst>
          </p:cNvPr>
          <p:cNvSpPr txBox="1"/>
          <p:nvPr/>
        </p:nvSpPr>
        <p:spPr>
          <a:xfrm>
            <a:off x="0" y="0"/>
            <a:ext cx="48602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Crypto Exchanges (and Wallets)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F6334-63B7-9C4A-8B2E-385511847E4C}"/>
              </a:ext>
            </a:extLst>
          </p:cNvPr>
          <p:cNvSpPr txBox="1"/>
          <p:nvPr/>
        </p:nvSpPr>
        <p:spPr>
          <a:xfrm>
            <a:off x="150519" y="8114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Best Crypto Exchanges in 2021: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11"/>
              </a:rPr>
              <a:t>https://www.investopedia.com/best-crypto-exchanges-5071855</a:t>
            </a:r>
            <a:r>
              <a:rPr lang="en-US" sz="1400"/>
              <a:t> - </a:t>
            </a:r>
          </a:p>
        </p:txBody>
      </p:sp>
    </p:spTree>
    <p:extLst>
      <p:ext uri="{BB962C8B-B14F-4D97-AF65-F5344CB8AC3E}">
        <p14:creationId xmlns:p14="http://schemas.microsoft.com/office/powerpoint/2010/main" val="10145871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36929E-1DCE-8C0B-503F-CE2CB5C81BFD}"/>
              </a:ext>
            </a:extLst>
          </p:cNvPr>
          <p:cNvSpPr txBox="1"/>
          <p:nvPr/>
        </p:nvSpPr>
        <p:spPr>
          <a:xfrm>
            <a:off x="0" y="644122"/>
            <a:ext cx="897555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Lightning Network is a "layer 2" payment protocol layered on top of a blockchain-based cryptocurrency such as bitcoin or litecoin.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Lightning Network allows users to send or receive Bitcoin quickly and cheaply by moving transactions off of the main blockchain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 Lightning Network uses smart contracts to establish off-blockchain payment channels between pairs of users. Once these payment channels are established, funds can be transferred between them almost instantly. 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2015 - Original paper by Joseph Poon and Thaddeus Dryja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Good videos: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3"/>
              </a:rPr>
              <a:t>https://www.youtube.com/watch?v=J3cQNpOR_a0</a:t>
            </a:r>
            <a:r>
              <a:rPr lang="en-US" sz="1400"/>
              <a:t> 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4"/>
              </a:rPr>
              <a:t>https://www.youtube.com/watch?v=XCSfoiD8wUA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Wikipedia - </a:t>
            </a:r>
            <a:r>
              <a:rPr lang="en-US" sz="1400">
                <a:hlinkClick r:id="rId5"/>
              </a:rPr>
              <a:t>https://en.wikipedia.org/wiki/Lightning_Network</a:t>
            </a:r>
            <a:r>
              <a:rPr lang="en-US" sz="140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Coinbase - </a:t>
            </a:r>
            <a:r>
              <a:rPr lang="en-US" sz="1400">
                <a:hlinkClick r:id="rId6"/>
              </a:rPr>
              <a:t>https://www.coinbase.com/learn/crypto-basics/what-is-lightning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BitPay - </a:t>
            </a:r>
            <a:r>
              <a:rPr lang="en-US" sz="1400">
                <a:hlinkClick r:id="rId7"/>
              </a:rPr>
              <a:t>https://bitpay.com/blog/bitpay-supports-lightning-network-payments/amp/</a:t>
            </a:r>
            <a:r>
              <a:rPr lang="en-US" sz="1400"/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CA4111-4981-B99A-8F37-7EEDE1A3BEEF}"/>
              </a:ext>
            </a:extLst>
          </p:cNvPr>
          <p:cNvSpPr txBox="1"/>
          <p:nvPr/>
        </p:nvSpPr>
        <p:spPr>
          <a:xfrm>
            <a:off x="0" y="0"/>
            <a:ext cx="41869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Lightning Network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285A5C-73CA-AA1B-975D-BE7EC6698CCA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95284" y="0"/>
            <a:ext cx="1796716" cy="17967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AFD85C6-2077-C2A4-D2AC-4C6250DD74C2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3200" y="5146837"/>
            <a:ext cx="2520730" cy="16229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6EBCDD-4838-A50D-3E9F-40ACE1E8F1F1}"/>
              </a:ext>
            </a:extLst>
          </p:cNvPr>
          <p:cNvSpPr txBox="1"/>
          <p:nvPr/>
        </p:nvSpPr>
        <p:spPr>
          <a:xfrm>
            <a:off x="0" y="3918807"/>
            <a:ext cx="38912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Ethereum Sidechains</a:t>
            </a:r>
            <a:endParaRPr lang="en-US" sz="14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82EA42-C63B-1564-3822-1290019063DA}"/>
              </a:ext>
            </a:extLst>
          </p:cNvPr>
          <p:cNvPicPr>
            <a:picLocks noChangeAspect="1"/>
          </p:cNvPicPr>
          <p:nvPr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19958" y="2311100"/>
            <a:ext cx="1368372" cy="16077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9FC536D-B96D-D537-2161-6F5671B7DACF}"/>
              </a:ext>
            </a:extLst>
          </p:cNvPr>
          <p:cNvSpPr txBox="1"/>
          <p:nvPr/>
        </p:nvSpPr>
        <p:spPr>
          <a:xfrm>
            <a:off x="8619958" y="3995007"/>
            <a:ext cx="1368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Joseph Poon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560C16C-7C30-1DFE-7569-CB527C9FF583}"/>
              </a:ext>
            </a:extLst>
          </p:cNvPr>
          <p:cNvPicPr>
            <a:picLocks noChangeAspect="1"/>
          </p:cNvPicPr>
          <p:nvPr/>
        </p:nvPicPr>
        <p:blipFill>
          <a:blip r:embed="rId1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74288" y="2311100"/>
            <a:ext cx="1249515" cy="16107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D42520-9E8F-C545-B4A9-89114AC4D461}"/>
              </a:ext>
            </a:extLst>
          </p:cNvPr>
          <p:cNvSpPr txBox="1"/>
          <p:nvPr/>
        </p:nvSpPr>
        <p:spPr>
          <a:xfrm>
            <a:off x="10161694" y="3946426"/>
            <a:ext cx="1674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Thaddeus Dryja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9E1E8F-1728-5B2F-0EFC-174BDDBD6E67}"/>
              </a:ext>
            </a:extLst>
          </p:cNvPr>
          <p:cNvSpPr txBox="1"/>
          <p:nvPr/>
        </p:nvSpPr>
        <p:spPr>
          <a:xfrm>
            <a:off x="0" y="4442027"/>
            <a:ext cx="54660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Sidechains are similar to Lightning Network – but for Ethereum:</a:t>
            </a:r>
            <a:br>
              <a:rPr lang="en-US" sz="1400"/>
            </a:br>
            <a:r>
              <a:rPr lang="en-US" sz="1400"/>
              <a:t> - </a:t>
            </a:r>
            <a:r>
              <a:rPr lang="en-US" sz="1400">
                <a:hlinkClick r:id="rId12"/>
              </a:rPr>
              <a:t>https://ethereum.org/en/developers/docs/scaling/sidechains/</a:t>
            </a:r>
            <a:endParaRPr lang="en-US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sidechain is a separate blockchain which runs in parallel to </a:t>
            </a:r>
            <a:br>
              <a:rPr lang="en-US" sz="1400"/>
            </a:br>
            <a:r>
              <a:rPr lang="en-US" sz="1400"/>
              <a:t>Ethereum Mainnet and operates independently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It has its own consensus algorithm (e.g. proof-of-authority, </a:t>
            </a:r>
            <a:br>
              <a:rPr lang="en-US" sz="1400"/>
            </a:br>
            <a:r>
              <a:rPr lang="en-US" sz="1400"/>
              <a:t>Delegated proof-of-stake, Byzantine fault tolerance)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It is connected to Mainnet by a two-way bridge</a:t>
            </a:r>
          </a:p>
        </p:txBody>
      </p:sp>
    </p:spTree>
    <p:extLst>
      <p:ext uri="{BB962C8B-B14F-4D97-AF65-F5344CB8AC3E}">
        <p14:creationId xmlns:p14="http://schemas.microsoft.com/office/powerpoint/2010/main" val="304471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560141B-E690-B949-B6F8-F8DD5D84DCB7}"/>
              </a:ext>
            </a:extLst>
          </p:cNvPr>
          <p:cNvSpPr txBox="1"/>
          <p:nvPr/>
        </p:nvSpPr>
        <p:spPr>
          <a:xfrm>
            <a:off x="-1" y="0"/>
            <a:ext cx="3173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Fees – </a:t>
            </a:r>
            <a:r>
              <a:rPr lang="en-US" sz="2800" b="1">
                <a:hlinkClick r:id="rId2"/>
              </a:rPr>
              <a:t>BitPay.com</a:t>
            </a:r>
            <a:endParaRPr lang="en-US" sz="28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4724F-42B2-C749-B0F3-B047E9661C94}"/>
              </a:ext>
            </a:extLst>
          </p:cNvPr>
          <p:cNvSpPr txBox="1"/>
          <p:nvPr/>
        </p:nvSpPr>
        <p:spPr>
          <a:xfrm>
            <a:off x="88913" y="793703"/>
            <a:ext cx="82482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is a payment gateway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since 2011, 100+ Mln global customers,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3"/>
              </a:rPr>
              <a:t>https://www.owler.com/company/bitpay</a:t>
            </a:r>
            <a:r>
              <a:rPr lang="en-US" sz="1400"/>
              <a:t>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4"/>
              </a:rPr>
              <a:t>https://bitpay.com/blog/welcome-to-the-september-cryptie/</a:t>
            </a:r>
            <a:endParaRPr lang="en-US" sz="1400"/>
          </a:p>
          <a:p>
            <a:endParaRPr lang="en-US" sz="1400"/>
          </a:p>
          <a:p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fees ( </a:t>
            </a:r>
            <a:r>
              <a:rPr lang="en-US" sz="1400">
                <a:hlinkClick r:id="rId5"/>
              </a:rPr>
              <a:t>https://www.cryptowisser.com/wallet/bitpay/</a:t>
            </a:r>
            <a:r>
              <a:rPr lang="en-US" sz="1400"/>
              <a:t> )</a:t>
            </a:r>
          </a:p>
          <a:p>
            <a:endParaRPr lang="en-US" sz="1400"/>
          </a:p>
          <a:p>
            <a:r>
              <a:rPr lang="en-US" sz="1400"/>
              <a:t>    1. Miner fees (unavoidable, built into the blockchain, depends on crypto, very volatile)</a:t>
            </a:r>
          </a:p>
          <a:p>
            <a:r>
              <a:rPr lang="en-US" sz="1400"/>
              <a:t>    2. Network Cost (additional operations' cost imposed by </a:t>
            </a:r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starting in 2017)</a:t>
            </a:r>
          </a:p>
          <a:p>
            <a:r>
              <a:rPr lang="en-US" sz="1400"/>
              <a:t>    3. Processing Fee (1%) added by </a:t>
            </a:r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for their service</a:t>
            </a:r>
          </a:p>
          <a:p>
            <a:r>
              <a:rPr lang="en-US" sz="1400"/>
              <a:t>    4. Refund fees (if you receive a refund)</a:t>
            </a:r>
          </a:p>
          <a:p>
            <a:endParaRPr lang="en-US" sz="1400"/>
          </a:p>
          <a:p>
            <a:r>
              <a:rPr lang="en-US" sz="1400"/>
              <a:t>In 2017 when Bitcoin blockchain fee were very high (more than $30),</a:t>
            </a:r>
          </a:p>
          <a:p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 made a rule to refuse transactions smaller than $100</a:t>
            </a:r>
          </a:p>
          <a:p>
            <a:endParaRPr lang="en-US" sz="1400"/>
          </a:p>
          <a:p>
            <a:r>
              <a:rPr lang="en-US" sz="1400"/>
              <a:t>Some alternatives to </a:t>
            </a:r>
            <a:r>
              <a:rPr lang="en-US" sz="1400" b="1">
                <a:solidFill>
                  <a:srgbClr val="00B050"/>
                </a:solidFill>
              </a:rPr>
              <a:t>BitPay</a:t>
            </a:r>
            <a:r>
              <a:rPr lang="en-US" sz="1400"/>
              <a:t>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6"/>
              </a:rPr>
              <a:t>https://www.finextra.com/blogposting/21322/the-best-cryptocurrency-payment-gateways-for-2022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7"/>
              </a:rPr>
              <a:t>https://technicali.com/top-7-payment-gateways-that-accept-cryptocurrency/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8"/>
              </a:rPr>
              <a:t>https://wpengine.com/resources/wordpress-and-bitcoin/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>
                <a:hlinkClick r:id="rId9"/>
              </a:rPr>
              <a:t>https://www.nerdwallet.com/article/small-business/accepting-bitcoin-crypto</a:t>
            </a:r>
            <a:endParaRPr lang="en-US" sz="1400"/>
          </a:p>
        </p:txBody>
      </p:sp>
      <p:pic>
        <p:nvPicPr>
          <p:cNvPr id="1026" name="Picture 2" descr="BitPay - Wikipedia">
            <a:extLst>
              <a:ext uri="{FF2B5EF4-FFF2-40B4-BE49-F238E27FC236}">
                <a16:creationId xmlns:a16="http://schemas.microsoft.com/office/drawing/2014/main" id="{ABFB9639-79DD-D44F-A66E-4324223AA2A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018309" y="149788"/>
            <a:ext cx="2978871" cy="1095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93030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FA91D7-B506-539E-10C5-FA01AC7A649F}"/>
              </a:ext>
            </a:extLst>
          </p:cNvPr>
          <p:cNvSpPr txBox="1"/>
          <p:nvPr/>
        </p:nvSpPr>
        <p:spPr>
          <a:xfrm>
            <a:off x="0" y="0"/>
            <a:ext cx="26592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Crypto ATM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2485C-F55A-A5C5-C9EA-19A8FFA5C14A}"/>
              </a:ext>
            </a:extLst>
          </p:cNvPr>
          <p:cNvSpPr txBox="1"/>
          <p:nvPr/>
        </p:nvSpPr>
        <p:spPr>
          <a:xfrm>
            <a:off x="0" y="534364"/>
            <a:ext cx="43480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crypto ATM is an Internet-connected kiosk that allows customers to purchase bitcoins and/or other cryptocurrencies with deposited cash and make blockchain-based transactions that send cryptocurrencies to the user's digital wallet, often via the use of a QR code.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There are currently (Summer 2021) more than 14,000 bitcoin ATMs in operation around the world.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A bitcoin ATM is not the same as an automated teller machine (ATM) that allows bank customers to physically withdraw, deposit, or transfer funds in one's bank account.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FAF214-85CA-D21E-7320-0CBC459EE6A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14905" y="123112"/>
            <a:ext cx="3094000" cy="39543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3CB1FB-66A2-0280-42C8-A1E020EAF0A1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6122" y="123112"/>
            <a:ext cx="2327815" cy="3954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09FA30-F941-A056-3CBD-2D9804B89D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942" y="3369853"/>
            <a:ext cx="4978911" cy="34020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6BDA42-012E-19F1-6188-0698AE2AC3C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16122" y="4373901"/>
            <a:ext cx="2327814" cy="239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35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62B39B7-663E-0642-977D-B9B9782FACDC}"/>
              </a:ext>
            </a:extLst>
          </p:cNvPr>
          <p:cNvSpPr txBox="1"/>
          <p:nvPr/>
        </p:nvSpPr>
        <p:spPr>
          <a:xfrm>
            <a:off x="0" y="0"/>
            <a:ext cx="43671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Pay for Goods using Crypto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070B8-0295-424C-830B-078672165267}"/>
              </a:ext>
            </a:extLst>
          </p:cNvPr>
          <p:cNvSpPr txBox="1"/>
          <p:nvPr/>
        </p:nvSpPr>
        <p:spPr>
          <a:xfrm>
            <a:off x="0" y="1095295"/>
            <a:ext cx="31394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Some companies already accept crypto, </a:t>
            </a:r>
          </a:p>
          <a:p>
            <a:r>
              <a:rPr lang="en-US" sz="1400"/>
              <a:t>for example:</a:t>
            </a:r>
          </a:p>
          <a:p>
            <a:endParaRPr lang="en-US" sz="1400"/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AT&amp;T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CheapAir.com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Dallas Mavericks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Etsy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Home Depot (using Flexa)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Lush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Microsoft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Namecheap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Newegg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Overstock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Pacsun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PayPal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Rakuten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Starbucks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Tesla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Travala.com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Twitch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Whole Foods (using Flexa)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0070C0"/>
                </a:solidFill>
              </a:rPr>
              <a:t>Wikipedia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951173-DC20-2945-A7BF-CD3438517792}"/>
              </a:ext>
            </a:extLst>
          </p:cNvPr>
          <p:cNvSpPr txBox="1"/>
          <p:nvPr/>
        </p:nvSpPr>
        <p:spPr>
          <a:xfrm>
            <a:off x="6555699" y="109171"/>
            <a:ext cx="563630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Amazon doesn't accept crypto yet (beginning of 2022),</a:t>
            </a:r>
          </a:p>
          <a:p>
            <a:r>
              <a:rPr lang="en-US" sz="1400"/>
              <a:t>but you can use a debit or gift card. </a:t>
            </a:r>
          </a:p>
          <a:p>
            <a:r>
              <a:rPr lang="en-US" sz="1400"/>
              <a:t>Load them on BitPay: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BitPay debit card</a:t>
            </a:r>
            <a:r>
              <a:rPr lang="en-US" sz="1400"/>
              <a:t> – can be loaded using Bitcoin, Dogecoin, Ethereum, Bitcoin Cash, etc.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 b="1">
                <a:solidFill>
                  <a:srgbClr val="00B050"/>
                </a:solidFill>
              </a:rPr>
              <a:t>Amazon gift card</a:t>
            </a:r>
            <a:r>
              <a:rPr lang="en-US" sz="1400"/>
              <a:t> – can be purchased directly in the BitPay Wallet app or Extension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AC695F-28B7-BC46-A9C7-5E0793F41F0B}"/>
              </a:ext>
            </a:extLst>
          </p:cNvPr>
          <p:cNvSpPr txBox="1"/>
          <p:nvPr/>
        </p:nvSpPr>
        <p:spPr>
          <a:xfrm>
            <a:off x="3768435" y="4033521"/>
            <a:ext cx="350982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BitPay accepts invoice payments in: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Bitcoin (BTC),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Bitcoin Cash (BCH),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Ethereum (ETH),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Wrapped Bitcoin (</a:t>
            </a:r>
            <a:r>
              <a:rPr lang="en-US" sz="1400" i="1"/>
              <a:t>WBTC</a:t>
            </a:r>
            <a:r>
              <a:rPr lang="en-US" sz="1400"/>
              <a:t>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Dogecoin (DOGE),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Litecoin (LTC),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Shiba Inu Coin (SHIB)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400"/>
              <a:t>5 USD-pegged stablecoins (GUSD, USDC, USDP, DAI, BUSD)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24B220-9855-0F40-8A2F-2BDA40F76211}"/>
              </a:ext>
            </a:extLst>
          </p:cNvPr>
          <p:cNvSpPr txBox="1"/>
          <p:nvPr/>
        </p:nvSpPr>
        <p:spPr>
          <a:xfrm>
            <a:off x="8801329" y="3671065"/>
            <a:ext cx="27986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solidFill>
                  <a:srgbClr val="00B050"/>
                </a:solidFill>
              </a:rPr>
              <a:t>BitPay count by wallet: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BitPay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Trust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Exodus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Coinbase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Electrum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Metamask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Blockchain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Ledger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Coinbase Wallet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BitcoinCore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Other</a:t>
            </a:r>
          </a:p>
        </p:txBody>
      </p:sp>
    </p:spTree>
    <p:extLst>
      <p:ext uri="{BB962C8B-B14F-4D97-AF65-F5344CB8AC3E}">
        <p14:creationId xmlns:p14="http://schemas.microsoft.com/office/powerpoint/2010/main" val="575961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B644D5-D539-834F-9C14-7D8C99ADDADD}"/>
              </a:ext>
            </a:extLst>
          </p:cNvPr>
          <p:cNvSpPr txBox="1"/>
          <p:nvPr/>
        </p:nvSpPr>
        <p:spPr>
          <a:xfrm>
            <a:off x="1" y="74435"/>
            <a:ext cx="2997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The Giving Block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7BC63F-67BA-1E45-BBA2-8A6F591284ED}"/>
              </a:ext>
            </a:extLst>
          </p:cNvPr>
          <p:cNvSpPr txBox="1"/>
          <p:nvPr/>
        </p:nvSpPr>
        <p:spPr>
          <a:xfrm>
            <a:off x="84083" y="1205406"/>
            <a:ext cx="895481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Helps to accept donations in Bitcoin, Ethereum, etc.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Automatic conversion to US Dollars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Marketing support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Founded in 2018, Washington DC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1000+ nonprofits use it</a:t>
            </a:r>
            <a:br>
              <a:rPr lang="en-US" sz="1400"/>
            </a:br>
            <a:r>
              <a:rPr lang="en-US" sz="1400"/>
              <a:t>- </a:t>
            </a:r>
            <a:r>
              <a:rPr lang="en-US" sz="1400">
                <a:hlinkClick r:id="rId2"/>
              </a:rPr>
              <a:t>https://thegivingblock.com/resources/nonprofits-accepting-crypto-donations/</a:t>
            </a: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Donors get big tax incentive when donating cryptocurrencies directly to nonprofits.</a:t>
            </a:r>
            <a:br>
              <a:rPr lang="en-US" sz="1400"/>
            </a:br>
            <a:r>
              <a:rPr lang="en-US" sz="1400"/>
              <a:t>The IRS classifies cryptocurrencies as property, so cryptocurrency donations to 501c3 charities receive the same tax treatment as stocks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Community to raise awareness of crypto’s potential to fuel social good causes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Viral campaigns that empower nonprofits to connect with this new pool of donors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CA16BC-E03E-7F4E-AA47-045CE41887E6}"/>
              </a:ext>
            </a:extLst>
          </p:cNvPr>
          <p:cNvSpPr txBox="1"/>
          <p:nvPr/>
        </p:nvSpPr>
        <p:spPr>
          <a:xfrm>
            <a:off x="84083" y="697646"/>
            <a:ext cx="33633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 - </a:t>
            </a:r>
            <a:r>
              <a:rPr lang="en-US" sz="1400">
                <a:hlinkClick r:id="rId3"/>
              </a:rPr>
              <a:t>https://thegivingblock.com</a:t>
            </a:r>
            <a:endParaRPr lang="en-US" sz="14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D117C1-F096-094B-9743-2554AAEF93B2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1944" y="17769"/>
            <a:ext cx="3942256" cy="105832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21149F3-0D2C-2D4E-927C-8821AB37DA34}"/>
              </a:ext>
            </a:extLst>
          </p:cNvPr>
          <p:cNvSpPr txBox="1"/>
          <p:nvPr/>
        </p:nvSpPr>
        <p:spPr>
          <a:xfrm>
            <a:off x="409905" y="4666593"/>
            <a:ext cx="645335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Example:</a:t>
            </a:r>
          </a:p>
          <a:p>
            <a:r>
              <a:rPr lang="en-US" sz="1400"/>
              <a:t>Action Against Hunger USA</a:t>
            </a:r>
          </a:p>
          <a:p>
            <a:r>
              <a:rPr lang="en-US" sz="1400"/>
              <a:t>Accepts regular payments on their website: </a:t>
            </a:r>
          </a:p>
          <a:p>
            <a:r>
              <a:rPr lang="en-US" sz="1400"/>
              <a:t>   </a:t>
            </a:r>
            <a:r>
              <a:rPr lang="en-US" sz="1400">
                <a:hlinkClick r:id="rId5"/>
              </a:rPr>
              <a:t>https://www.actionagainsthunger.org/</a:t>
            </a:r>
            <a:endParaRPr lang="en-US" sz="1400"/>
          </a:p>
          <a:p>
            <a:r>
              <a:rPr lang="en-US" sz="1400"/>
              <a:t>   </a:t>
            </a:r>
            <a:r>
              <a:rPr lang="en-US" sz="1400">
                <a:hlinkClick r:id="rId6"/>
              </a:rPr>
              <a:t>https://www.actionagainsthunger.org/story/donate-crypto</a:t>
            </a:r>
            <a:endParaRPr lang="en-US" sz="1400"/>
          </a:p>
          <a:p>
            <a:r>
              <a:rPr lang="en-US" sz="1400"/>
              <a:t>   </a:t>
            </a:r>
            <a:r>
              <a:rPr lang="en-US" sz="1400">
                <a:hlinkClick r:id="rId7"/>
              </a:rPr>
              <a:t>https://thegivingblock.com/donate/action-against-hunger/</a:t>
            </a:r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1090195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7AC37B-D0A2-5941-96C7-EA0BABBA3D90}"/>
              </a:ext>
            </a:extLst>
          </p:cNvPr>
          <p:cNvSpPr txBox="1"/>
          <p:nvPr/>
        </p:nvSpPr>
        <p:spPr>
          <a:xfrm>
            <a:off x="0" y="0"/>
            <a:ext cx="5394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How to Accept Donations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A1532A-2686-DE49-816A-E5660674E37B}"/>
              </a:ext>
            </a:extLst>
          </p:cNvPr>
          <p:cNvSpPr txBox="1"/>
          <p:nvPr/>
        </p:nvSpPr>
        <p:spPr>
          <a:xfrm>
            <a:off x="0" y="1051394"/>
            <a:ext cx="62280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Most donations are in Bitcoin (~90%)</a:t>
            </a:r>
          </a:p>
          <a:p>
            <a:r>
              <a:rPr lang="en-US" sz="1400"/>
              <a:t>Big websites have wizards to create donation pages:</a:t>
            </a:r>
          </a:p>
          <a:p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Coinbase Commerce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 - https://www.coinbase.com/learn/crypto-basics/how-to-donate-crypto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BitPay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https://bitpay.com/docs/donations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endParaRPr lang="en-US" sz="1400"/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etc.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6488BC-4A06-044C-A7AB-ECD4411ADAEF}"/>
              </a:ext>
            </a:extLst>
          </p:cNvPr>
          <p:cNvSpPr txBox="1"/>
          <p:nvPr/>
        </p:nvSpPr>
        <p:spPr>
          <a:xfrm>
            <a:off x="7409792" y="358897"/>
            <a:ext cx="467710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is private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can have tax advantages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Crypto donations can be cheaper for organizations to process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Stablecoins can make crypto giving less volatile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400"/>
              <a:t>Which nonprofits accept crypto</a:t>
            </a:r>
          </a:p>
        </p:txBody>
      </p:sp>
    </p:spTree>
    <p:extLst>
      <p:ext uri="{BB962C8B-B14F-4D97-AF65-F5344CB8AC3E}">
        <p14:creationId xmlns:p14="http://schemas.microsoft.com/office/powerpoint/2010/main" val="3903701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DFD3481-71DD-A043-81E0-6786FB048030}"/>
              </a:ext>
            </a:extLst>
          </p:cNvPr>
          <p:cNvSpPr txBox="1"/>
          <p:nvPr/>
        </p:nvSpPr>
        <p:spPr>
          <a:xfrm>
            <a:off x="1" y="1"/>
            <a:ext cx="2062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/>
              <a:t>BitPay API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C26620-AAB0-664C-90D6-DE3EA0793581}"/>
              </a:ext>
            </a:extLst>
          </p:cNvPr>
          <p:cNvSpPr txBox="1"/>
          <p:nvPr/>
        </p:nvSpPr>
        <p:spPr>
          <a:xfrm>
            <a:off x="8962516" y="149856"/>
            <a:ext cx="28357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You can use REST API:</a:t>
            </a:r>
            <a:endParaRPr lang="en-US" sz="1400">
              <a:hlinkClick r:id="rId2"/>
            </a:endParaRPr>
          </a:p>
          <a:p>
            <a:r>
              <a:rPr lang="en-US" sz="1400">
                <a:hlinkClick r:id="rId2"/>
              </a:rPr>
              <a:t>https://bitpay.com/api/#rest-api</a:t>
            </a:r>
            <a:r>
              <a:rPr lang="en-US" sz="140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3A2C03-C52B-B04E-9EF2-624F315CCB47}"/>
              </a:ext>
            </a:extLst>
          </p:cNvPr>
          <p:cNvSpPr txBox="1"/>
          <p:nvPr/>
        </p:nvSpPr>
        <p:spPr>
          <a:xfrm>
            <a:off x="8962516" y="3726491"/>
            <a:ext cx="3047818" cy="10156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from bitpay.client import Client </a:t>
            </a:r>
          </a:p>
          <a:p>
            <a:endParaRPr lang="en-US" sz="1000" b="1">
              <a:solidFill>
                <a:srgbClr val="0070C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 b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myurl = "https://bitpay.com"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myurl = </a:t>
            </a:r>
            <a:r>
              <a:rPr lang="en-US" sz="1000" b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"https://test.bitpay.com"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client = Client(api_uri=myurl)</a:t>
            </a:r>
            <a:endParaRPr lang="en-US" sz="1000" b="1">
              <a:solidFill>
                <a:srgbClr val="00B050"/>
              </a:solidFill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client.pair_pos_client("abcdefg")</a:t>
            </a:r>
            <a:r>
              <a:rPr lang="en-US" sz="1000" b="1">
                <a:solidFill>
                  <a:srgbClr val="0070C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80956A-15D3-7C4E-B475-A8F2125421D0}"/>
              </a:ext>
            </a:extLst>
          </p:cNvPr>
          <p:cNvSpPr txBox="1"/>
          <p:nvPr/>
        </p:nvSpPr>
        <p:spPr>
          <a:xfrm>
            <a:off x="91439" y="585617"/>
            <a:ext cx="58926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To accept payments via BitPay you need to create a business BitPay account </a:t>
            </a:r>
          </a:p>
          <a:p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and link your business bank account to it.</a:t>
            </a:r>
          </a:p>
          <a:p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Then you get BitPay or test.bitpay merchant account. </a:t>
            </a:r>
          </a:p>
          <a:p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You can start here: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  <a:hlinkClick r:id="rId3"/>
              </a:rPr>
              <a:t>https://bitpay.com/dashboard/signup</a:t>
            </a: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  <a:hlinkClick r:id="rId4"/>
              </a:rPr>
              <a:t>https://github.com/bitpay</a:t>
            </a: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  - 200+ repositories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  <a:hlinkClick r:id="rId5"/>
              </a:rPr>
              <a:t>https://github.com/warpi/BitPay</a:t>
            </a: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 - android app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  <a:hlinkClick r:id="rId6"/>
              </a:rPr>
              <a:t>https://github.com/bitpay/python-bitpay-client</a:t>
            </a: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 – bitpay client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...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D65544-4E36-654D-BB47-823ABA35412A}"/>
              </a:ext>
            </a:extLst>
          </p:cNvPr>
          <p:cNvSpPr txBox="1"/>
          <p:nvPr/>
        </p:nvSpPr>
        <p:spPr>
          <a:xfrm>
            <a:off x="56715" y="3029036"/>
            <a:ext cx="811192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pip3 install bitpay</a:t>
            </a:r>
            <a:endParaRPr lang="en-US" sz="1000" b="1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import bitpay </a:t>
            </a:r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  <a:r>
              <a:rPr lang="en-US" sz="1000" b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client config env exceptions models tokens utils</a:t>
            </a:r>
          </a:p>
          <a:p>
            <a:endParaRPr lang="en-US" sz="100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1000" b="1">
                <a:solidFill>
                  <a:srgbClr val="00B05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# bitpay.client 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Bill                                 LedgerEntry                          Rate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BillCreationException                LedgerQueryException                 RateQueryException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BillDeliveryException                os                                   Rates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BillQueryException                   Payout                               Refund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BillUpdateException                  PayoutBatch                          RefundCancellationException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BitPayException                      PayoutBatchCancellationException     RefundCreationException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Client                               PayoutBatchCreationException         RefundNotificationException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Config                               PayoutBatchNotificationException     RefundQueryException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Currency                             PayoutBatchQueryException            RefundUpdateException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CurrencyQueryException               PayoutCancellationException          RESTcli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Facade                               PayoutCreationException              Settlement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                              PayoutNotificationException          SettlementQueryException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InvoiceCancellationException         PayoutQueryException                 Subscription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InvoiceCreationException             PayoutRecipient                      SubscriptionCreationException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InvoiceNotificationException         PayoutRecipientCancellationException SubscriptionQueryException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InvoicePaymentException              PayoutRecipientCreationException     SubscriptionUpdateException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InvoiceQueryException                PayoutRecipientNotificationException Tokens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InvoiceUpdateException               PayoutRecipientQueryException        Wallet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json                                 PayoutRecipients                     WalletQueryException</a:t>
            </a:r>
          </a:p>
          <a:p>
            <a:r>
              <a:rPr lang="en-US" sz="1000" b="1">
                <a:solidFill>
                  <a:srgbClr val="00B0F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Ledger                               PayoutRecipientUpdateException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A18FC6-A66E-644B-BA8A-992616006403}"/>
              </a:ext>
            </a:extLst>
          </p:cNvPr>
          <p:cNvSpPr txBox="1"/>
          <p:nvPr/>
        </p:nvSpPr>
        <p:spPr>
          <a:xfrm>
            <a:off x="8947434" y="751834"/>
            <a:ext cx="3059961" cy="17851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curl -X POST \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-H "X-Accept-Version: 2.0.0" \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-H "Content-Type: application/json" \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--url "https://bitpay.com/tokens" \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-d @- &lt;&lt;'EOF'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{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"id":"someID",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"label": "merchantwebsite.com",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  "facade":"merchant"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}</a:t>
            </a:r>
          </a:p>
          <a:p>
            <a:r>
              <a:rPr lang="en-US" sz="100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EOF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446333-8613-9240-A82A-B25B9B5F207D}"/>
              </a:ext>
            </a:extLst>
          </p:cNvPr>
          <p:cNvSpPr txBox="1"/>
          <p:nvPr/>
        </p:nvSpPr>
        <p:spPr>
          <a:xfrm>
            <a:off x="7609841" y="2580136"/>
            <a:ext cx="4582159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Alternatively you can use "</a:t>
            </a:r>
            <a:r>
              <a:rPr lang="en-US" sz="1400" b="1">
                <a:solidFill>
                  <a:srgbClr val="00B0F0"/>
                </a:solidFill>
              </a:rPr>
              <a:t>bitpay</a:t>
            </a:r>
            <a:r>
              <a:rPr lang="en-US" sz="1400"/>
              <a:t>" module which allows you </a:t>
            </a:r>
            <a:r>
              <a:rPr lang="en-US" sz="1400">
                <a:ea typeface="Menlo" panose="020B0609030804020204" pitchFamily="49" charset="0"/>
                <a:cs typeface="Menlo" panose="020B0609030804020204" pitchFamily="49" charset="0"/>
              </a:rPr>
              <a:t>to implement blockchain payments on your e-commerce website, authenticate with BitPay, create/retrieve invoices.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>
                <a:ea typeface="Menlo" panose="020B0609030804020204" pitchFamily="49" charset="0"/>
                <a:cs typeface="Menlo" panose="020B0609030804020204" pitchFamily="49" charset="0"/>
                <a:hlinkClick r:id="rId7"/>
              </a:rPr>
              <a:t>https://bitpay.com/integrations/python</a:t>
            </a:r>
            <a:r>
              <a:rPr lang="en-US" sz="1050">
                <a:ea typeface="Menlo" panose="020B0609030804020204" pitchFamily="49" charset="0"/>
                <a:cs typeface="Menlo" panose="020B0609030804020204" pitchFamily="49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050">
                <a:ea typeface="Menlo" panose="020B0609030804020204" pitchFamily="49" charset="0"/>
                <a:cs typeface="Menlo" panose="020B0609030804020204" pitchFamily="49" charset="0"/>
                <a:hlinkClick r:id="rId8"/>
              </a:rPr>
              <a:t>https://github.com/bitpay/python-bitpay-client/blob/master/GUIDE.md</a:t>
            </a:r>
            <a:endParaRPr lang="en-US" sz="1050"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243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569D52-F4E3-944A-B594-5C7070C92B26}"/>
              </a:ext>
            </a:extLst>
          </p:cNvPr>
          <p:cNvSpPr txBox="1"/>
          <p:nvPr/>
        </p:nvSpPr>
        <p:spPr>
          <a:xfrm>
            <a:off x="233680" y="1107440"/>
            <a:ext cx="59639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blockonomics.co - Bitcoin payment gateway &amp; merchant processor. Accept bitcoin payments from your e-commerce shop directly to your wallet.</a:t>
            </a:r>
          </a:p>
        </p:txBody>
      </p:sp>
    </p:spTree>
    <p:extLst>
      <p:ext uri="{BB962C8B-B14F-4D97-AF65-F5344CB8AC3E}">
        <p14:creationId xmlns:p14="http://schemas.microsoft.com/office/powerpoint/2010/main" val="1237961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2829</TotalTime>
  <Words>1750</Words>
  <Application>Microsoft Macintosh PowerPoint</Application>
  <PresentationFormat>Widescreen</PresentationFormat>
  <Paragraphs>203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263</cp:revision>
  <dcterms:modified xsi:type="dcterms:W3CDTF">2022-05-03T00:09:07Z</dcterms:modified>
</cp:coreProperties>
</file>