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4" r:id="rId1"/>
  </p:sldMasterIdLst>
  <p:notesMasterIdLst>
    <p:notesMasterId r:id="rId26"/>
  </p:notesMasterIdLst>
  <p:sldIdLst>
    <p:sldId id="311" r:id="rId2"/>
    <p:sldId id="281" r:id="rId3"/>
    <p:sldId id="265" r:id="rId4"/>
    <p:sldId id="262" r:id="rId5"/>
    <p:sldId id="275" r:id="rId6"/>
    <p:sldId id="314" r:id="rId7"/>
    <p:sldId id="277" r:id="rId8"/>
    <p:sldId id="305" r:id="rId9"/>
    <p:sldId id="317" r:id="rId10"/>
    <p:sldId id="318" r:id="rId11"/>
    <p:sldId id="319" r:id="rId12"/>
    <p:sldId id="320" r:id="rId13"/>
    <p:sldId id="322" r:id="rId14"/>
    <p:sldId id="323" r:id="rId15"/>
    <p:sldId id="321" r:id="rId16"/>
    <p:sldId id="325" r:id="rId17"/>
    <p:sldId id="315" r:id="rId18"/>
    <p:sldId id="266" r:id="rId19"/>
    <p:sldId id="283" r:id="rId20"/>
    <p:sldId id="308" r:id="rId21"/>
    <p:sldId id="309" r:id="rId22"/>
    <p:sldId id="310" r:id="rId23"/>
    <p:sldId id="312" r:id="rId24"/>
    <p:sldId id="31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71"/>
    <p:restoredTop sz="92374"/>
  </p:normalViewPr>
  <p:slideViewPr>
    <p:cSldViewPr snapToGrid="0" snapToObjects="1">
      <p:cViewPr varScale="1">
        <p:scale>
          <a:sx n="66" d="100"/>
          <a:sy n="66" d="100"/>
        </p:scale>
        <p:origin x="208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83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86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92342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8381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42699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74756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65155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25274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175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51413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741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6428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4327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250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best-crypto-software-wallets-5220762" TargetMode="External"/><Relationship Id="rId2" Type="http://schemas.openxmlformats.org/officeDocument/2006/relationships/hyperlink" Target="https://www.forbes.com/advisor/investing/cryptocurrency/how-to-buy-cryptocurrency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kchanger.com/" TargetMode="External"/><Relationship Id="rId3" Type="http://schemas.openxmlformats.org/officeDocument/2006/relationships/hyperlink" Target="https://localbitcoins.com/sell_bitcoins" TargetMode="External"/><Relationship Id="rId7" Type="http://schemas.openxmlformats.org/officeDocument/2006/relationships/hyperlink" Target="https://www.bestchange.com/" TargetMode="External"/><Relationship Id="rId2" Type="http://schemas.openxmlformats.org/officeDocument/2006/relationships/hyperlink" Target="https://icoholder.com/blog/how-to-turn-bitcoin-into-usd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ealthpay.org/" TargetMode="External"/><Relationship Id="rId5" Type="http://schemas.openxmlformats.org/officeDocument/2006/relationships/hyperlink" Target="https://support.kraken.com/hc/en-us" TargetMode="External"/><Relationship Id="rId10" Type="http://schemas.openxmlformats.org/officeDocument/2006/relationships/hyperlink" Target="https://bitpay.com/" TargetMode="External"/><Relationship Id="rId4" Type="http://schemas.openxmlformats.org/officeDocument/2006/relationships/hyperlink" Target="https://www.youtube.com/watch?v=60Rjdv2Z_Gg" TargetMode="External"/><Relationship Id="rId9" Type="http://schemas.openxmlformats.org/officeDocument/2006/relationships/hyperlink" Target="https://www.worldcore.eu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pay.com/" TargetMode="External"/><Relationship Id="rId7" Type="http://schemas.openxmlformats.org/officeDocument/2006/relationships/hyperlink" Target="https://www.merchantmaverick.com/best-cryptocurrency-payment-gateway/" TargetMode="External"/><Relationship Id="rId2" Type="http://schemas.openxmlformats.org/officeDocument/2006/relationships/hyperlink" Target="https://www.coinbase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lfacoins.com/" TargetMode="External"/><Relationship Id="rId5" Type="http://schemas.openxmlformats.org/officeDocument/2006/relationships/hyperlink" Target="https://nowpayments.io/" TargetMode="External"/><Relationship Id="rId4" Type="http://schemas.openxmlformats.org/officeDocument/2006/relationships/hyperlink" Target="https://coingate.com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raken.com/" TargetMode="External"/><Relationship Id="rId3" Type="http://schemas.openxmlformats.org/officeDocument/2006/relationships/hyperlink" Target="https://www.binance.com/" TargetMode="External"/><Relationship Id="rId7" Type="http://schemas.openxmlformats.org/officeDocument/2006/relationships/hyperlink" Target="https://bisq.network/" TargetMode="External"/><Relationship Id="rId2" Type="http://schemas.openxmlformats.org/officeDocument/2006/relationships/hyperlink" Target="https://www.coinbase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ash.app/" TargetMode="External"/><Relationship Id="rId11" Type="http://schemas.openxmlformats.org/officeDocument/2006/relationships/hyperlink" Target="https://www.investopedia.com/best-crypto-exchanges-5071855" TargetMode="External"/><Relationship Id="rId5" Type="http://schemas.openxmlformats.org/officeDocument/2006/relationships/hyperlink" Target="https://www.abra.com/" TargetMode="External"/><Relationship Id="rId10" Type="http://schemas.openxmlformats.org/officeDocument/2006/relationships/hyperlink" Target="https://robinhood.com/" TargetMode="External"/><Relationship Id="rId4" Type="http://schemas.openxmlformats.org/officeDocument/2006/relationships/hyperlink" Target="https://www.binance.us/" TargetMode="External"/><Relationship Id="rId9" Type="http://schemas.openxmlformats.org/officeDocument/2006/relationships/hyperlink" Target="https://www.gemini.com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utomatedwebtools.com/usd-eth-gas-fee/" TargetMode="External"/><Relationship Id="rId3" Type="http://schemas.openxmlformats.org/officeDocument/2006/relationships/hyperlink" Target="https://www.buybitcoinworldwide.com/fee-calculator/" TargetMode="External"/><Relationship Id="rId7" Type="http://schemas.openxmlformats.org/officeDocument/2006/relationships/hyperlink" Target="https://cryptotesters.com/blog/ethereum-gas" TargetMode="External"/><Relationship Id="rId2" Type="http://schemas.openxmlformats.org/officeDocument/2006/relationships/hyperlink" Target="https://www.btcsatoshi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itcoinbriefly.com/how-to-use-mempool-space-block-explorer/" TargetMode="External"/><Relationship Id="rId11" Type="http://schemas.openxmlformats.org/officeDocument/2006/relationships/image" Target="../media/image1.png"/><Relationship Id="rId5" Type="http://schemas.openxmlformats.org/officeDocument/2006/relationships/hyperlink" Target="https://mempool.space/" TargetMode="External"/><Relationship Id="rId10" Type="http://schemas.openxmlformats.org/officeDocument/2006/relationships/hyperlink" Target="https://www.wsj.com/articles/crypto-and-its-many-fees-what-to-know-about-the-hidden-costs-of-digital-currency-11639825202" TargetMode="External"/><Relationship Id="rId4" Type="http://schemas.openxmlformats.org/officeDocument/2006/relationships/hyperlink" Target="https://bitcoinfees.earn.com/" TargetMode="External"/><Relationship Id="rId9" Type="http://schemas.openxmlformats.org/officeDocument/2006/relationships/hyperlink" Target="https://etherscan.io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youtube.com/watch?v=J3cQNpOR_a0" TargetMode="External"/><Relationship Id="rId7" Type="http://schemas.openxmlformats.org/officeDocument/2006/relationships/hyperlink" Target="https://bitpay.com/blog/bitpay-supports-lightning-network-payments/amp/" TargetMode="External"/><Relationship Id="rId12" Type="http://schemas.openxmlformats.org/officeDocument/2006/relationships/hyperlink" Target="https://ethereum.org/en/developers/docs/scaling/sidechain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oinbase.com/learn/crypto-basics/what-is-lightning" TargetMode="External"/><Relationship Id="rId11" Type="http://schemas.openxmlformats.org/officeDocument/2006/relationships/image" Target="../media/image5.png"/><Relationship Id="rId5" Type="http://schemas.openxmlformats.org/officeDocument/2006/relationships/hyperlink" Target="https://en.wikipedia.org/wiki/Lightning_Network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www.youtube.com/watch?v=XCSfoiD8wUA" TargetMode="Externa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pengine.com/resources/wordpress-and-bitcoin/" TargetMode="External"/><Relationship Id="rId3" Type="http://schemas.openxmlformats.org/officeDocument/2006/relationships/hyperlink" Target="https://www.owler.com/company/bitpay" TargetMode="External"/><Relationship Id="rId7" Type="http://schemas.openxmlformats.org/officeDocument/2006/relationships/hyperlink" Target="https://technicali.com/top-7-payment-gateways-that-accept-cryptocurrency/" TargetMode="External"/><Relationship Id="rId2" Type="http://schemas.openxmlformats.org/officeDocument/2006/relationships/hyperlink" Target="https://bitpay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inextra.com/blogposting/21322/the-best-cryptocurrency-payment-gateways-for-2022" TargetMode="External"/><Relationship Id="rId5" Type="http://schemas.openxmlformats.org/officeDocument/2006/relationships/hyperlink" Target="https://www.cryptowisser.com/wallet/bitpay/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bitpay.com/blog/welcome-to-the-september-cryptie/" TargetMode="External"/><Relationship Id="rId9" Type="http://schemas.openxmlformats.org/officeDocument/2006/relationships/hyperlink" Target="https://www.nerdwallet.com/article/small-business/accepting-bitcoin-crypto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en.wikipedia.org/wiki/Coinbase" TargetMode="External"/><Relationship Id="rId7" Type="http://schemas.openxmlformats.org/officeDocument/2006/relationships/hyperlink" Target="https://github.com/coinbase/coinbase-python/tree/master/coinbase/wallet" TargetMode="External"/><Relationship Id="rId2" Type="http://schemas.openxmlformats.org/officeDocument/2006/relationships/hyperlink" Target="https://www.coinbase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coinbase/coinbase-python" TargetMode="External"/><Relationship Id="rId5" Type="http://schemas.openxmlformats.org/officeDocument/2006/relationships/hyperlink" Target="https://github.com/coinbase/coinbase-commerce-python" TargetMode="External"/><Relationship Id="rId4" Type="http://schemas.openxmlformats.org/officeDocument/2006/relationships/hyperlink" Target="https://github.com/coinbase" TargetMode="External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pypi.org/project/gemini/" TargetMode="External"/><Relationship Id="rId7" Type="http://schemas.openxmlformats.org/officeDocument/2006/relationships/hyperlink" Target="https://exchange.sandbox.gemini.com/" TargetMode="External"/><Relationship Id="rId2" Type="http://schemas.openxmlformats.org/officeDocument/2006/relationships/hyperlink" Target="https://github.com/mtusman/gemini-python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Gemini_(company)" TargetMode="External"/><Relationship Id="rId5" Type="http://schemas.openxmlformats.org/officeDocument/2006/relationships/hyperlink" Target="https://www.gemini.com/" TargetMode="External"/><Relationship Id="rId10" Type="http://schemas.openxmlformats.org/officeDocument/2006/relationships/image" Target="../media/image11.png"/><Relationship Id="rId4" Type="http://schemas.openxmlformats.org/officeDocument/2006/relationships/hyperlink" Target="https://docs.gemini.com/rest-api/" TargetMode="External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ammchardy/python-binance" TargetMode="External"/><Relationship Id="rId13" Type="http://schemas.openxmlformats.org/officeDocument/2006/relationships/image" Target="../media/image16.png"/><Relationship Id="rId3" Type="http://schemas.openxmlformats.org/officeDocument/2006/relationships/hyperlink" Target="https://www.binance.com/" TargetMode="External"/><Relationship Id="rId7" Type="http://schemas.openxmlformats.org/officeDocument/2006/relationships/hyperlink" Target="https://python-binance.readthedocs.io/" TargetMode="Externa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binance.us/" TargetMode="External"/><Relationship Id="rId11" Type="http://schemas.openxmlformats.org/officeDocument/2006/relationships/image" Target="../media/image14.png"/><Relationship Id="rId5" Type="http://schemas.openxmlformats.org/officeDocument/2006/relationships/hyperlink" Target="https://en.wikipedia.org/wiki/Binance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www.binance.us/" TargetMode="External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hyperlink" Target="https://github.com/kmadac/bitstamp-python-clie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bitstamp.net/api/" TargetMode="External"/><Relationship Id="rId5" Type="http://schemas.openxmlformats.org/officeDocument/2006/relationships/hyperlink" Target="https://en.wikipedia.org/wiki/Bitstamp" TargetMode="External"/><Relationship Id="rId4" Type="http://schemas.openxmlformats.org/officeDocument/2006/relationships/hyperlink" Target="https://www.bitstamp.net/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en.wikipedia.org/wiki/Kraken_(company)" TargetMode="External"/><Relationship Id="rId7" Type="http://schemas.openxmlformats.org/officeDocument/2006/relationships/image" Target="../media/image20.png"/><Relationship Id="rId2" Type="http://schemas.openxmlformats.org/officeDocument/2006/relationships/hyperlink" Target="https://www.kraken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hyperlink" Target="https://support.kraken.com/hc/en-us/sections/360003946512-Example-API-Code" TargetMode="External"/><Relationship Id="rId4" Type="http://schemas.openxmlformats.org/officeDocument/2006/relationships/hyperlink" Target="https://docs.kraken.com/rest/" TargetMode="External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rsenlosenko/python-ripple-lib" TargetMode="External"/><Relationship Id="rId13" Type="http://schemas.openxmlformats.org/officeDocument/2006/relationships/image" Target="../media/image27.png"/><Relationship Id="rId3" Type="http://schemas.openxmlformats.org/officeDocument/2006/relationships/hyperlink" Target="https://en.wikipedia.org/wiki/Ripple_Labs" TargetMode="External"/><Relationship Id="rId7" Type="http://schemas.openxmlformats.org/officeDocument/2006/relationships/hyperlink" Target="https://xrpl.org/get-started-using-python.html" TargetMode="External"/><Relationship Id="rId12" Type="http://schemas.openxmlformats.org/officeDocument/2006/relationships/image" Target="../media/image26.png"/><Relationship Id="rId2" Type="http://schemas.openxmlformats.org/officeDocument/2006/relationships/hyperlink" Target="https://en.wikipedia.org/wiki/Ripple_(payment_protocol)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ripple/ripple-rest" TargetMode="External"/><Relationship Id="rId11" Type="http://schemas.openxmlformats.org/officeDocument/2006/relationships/image" Target="../media/image25.png"/><Relationship Id="rId5" Type="http://schemas.openxmlformats.org/officeDocument/2006/relationships/hyperlink" Target="https://github.com/ripple/rippled" TargetMode="External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hyperlink" Target="https://ripple.com/" TargetMode="External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Stellar_(payment_network)" TargetMode="External"/><Relationship Id="rId13" Type="http://schemas.openxmlformats.org/officeDocument/2006/relationships/image" Target="../media/image32.png"/><Relationship Id="rId3" Type="http://schemas.openxmlformats.org/officeDocument/2006/relationships/hyperlink" Target="https://www.stellar.org/learn/intro-to-stellar" TargetMode="External"/><Relationship Id="rId7" Type="http://schemas.openxmlformats.org/officeDocument/2006/relationships/hyperlink" Target="https://github.com/StellarCN/py-stellar-base/tree/master/examples" TargetMode="External"/><Relationship Id="rId12" Type="http://schemas.openxmlformats.org/officeDocument/2006/relationships/image" Target="../media/image31.png"/><Relationship Id="rId2" Type="http://schemas.openxmlformats.org/officeDocument/2006/relationships/hyperlink" Target="https://www.stellar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evelopers.stellar.org/docs/software-and-sdks/" TargetMode="External"/><Relationship Id="rId11" Type="http://schemas.openxmlformats.org/officeDocument/2006/relationships/image" Target="../media/image30.png"/><Relationship Id="rId5" Type="http://schemas.openxmlformats.org/officeDocument/2006/relationships/hyperlink" Target="https://github.com/stellar/stellar-core" TargetMode="External"/><Relationship Id="rId10" Type="http://schemas.openxmlformats.org/officeDocument/2006/relationships/image" Target="../media/image25.png"/><Relationship Id="rId4" Type="http://schemas.openxmlformats.org/officeDocument/2006/relationships/hyperlink" Target="https://www.youtube.com/watch?v=-u2RCOWxKww" TargetMode="External"/><Relationship Id="rId9" Type="http://schemas.openxmlformats.org/officeDocument/2006/relationships/hyperlink" Target="https://interstellar.com/" TargetMode="External"/><Relationship Id="rId1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liquality.io/blog/atomic-swaps-explained/" TargetMode="External"/><Relationship Id="rId3" Type="http://schemas.openxmlformats.org/officeDocument/2006/relationships/hyperlink" Target="https://bitpay.com/exchange-rates/" TargetMode="External"/><Relationship Id="rId7" Type="http://schemas.openxmlformats.org/officeDocument/2006/relationships/hyperlink" Target="https://simpleswap.io/crypto-to-crypto/btc-eth" TargetMode="External"/><Relationship Id="rId2" Type="http://schemas.openxmlformats.org/officeDocument/2006/relationships/hyperlink" Target="https://www.youtube.com/watch?v=bzLd7V2ZLp8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etsexchange.io/exchange/btc-to-eth" TargetMode="External"/><Relationship Id="rId5" Type="http://schemas.openxmlformats.org/officeDocument/2006/relationships/hyperlink" Target="https://www.buybitcoinworldwide.com/ethereum/buy/" TargetMode="External"/><Relationship Id="rId10" Type="http://schemas.openxmlformats.org/officeDocument/2006/relationships/image" Target="../media/image39.png"/><Relationship Id="rId4" Type="http://schemas.openxmlformats.org/officeDocument/2006/relationships/hyperlink" Target="https://medium.com/@mark.lasia/how-to-exchange-bitcoin-and-tokens-into-eth-ether-with-shapeshift-io-6a326b339c12" TargetMode="External"/><Relationship Id="rId9" Type="http://schemas.openxmlformats.org/officeDocument/2006/relationships/hyperlink" Target="https://liquality.io/blog/hash-time-locked-contracts-htlcs-explained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artner.com/reviews/market/blockchain-platforms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hegivingblock.com/" TargetMode="External"/><Relationship Id="rId7" Type="http://schemas.openxmlformats.org/officeDocument/2006/relationships/hyperlink" Target="https://thegivingblock.com/donate/action-against-hunger/" TargetMode="External"/><Relationship Id="rId2" Type="http://schemas.openxmlformats.org/officeDocument/2006/relationships/hyperlink" Target="https://thegivingblock.com/resources/nonprofits-accepting-crypto-donations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ctionagainsthunger.org/story/donate-crypto" TargetMode="External"/><Relationship Id="rId5" Type="http://schemas.openxmlformats.org/officeDocument/2006/relationships/hyperlink" Target="https://www.actionagainsthunger.org/" TargetMode="Externa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bitpay/python-bitpay-client/blob/master/GUIDE.md" TargetMode="External"/><Relationship Id="rId3" Type="http://schemas.openxmlformats.org/officeDocument/2006/relationships/hyperlink" Target="https://bitpay.com/dashboard/signup" TargetMode="External"/><Relationship Id="rId7" Type="http://schemas.openxmlformats.org/officeDocument/2006/relationships/hyperlink" Target="https://bitpay.com/integrations/python" TargetMode="External"/><Relationship Id="rId2" Type="http://schemas.openxmlformats.org/officeDocument/2006/relationships/hyperlink" Target="https://bitpay.com/api/#rest-api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bitpay/python-bitpay-client" TargetMode="External"/><Relationship Id="rId5" Type="http://schemas.openxmlformats.org/officeDocument/2006/relationships/hyperlink" Target="https://github.com/warpi/BitPay" TargetMode="External"/><Relationship Id="rId4" Type="http://schemas.openxmlformats.org/officeDocument/2006/relationships/hyperlink" Target="https://github.com/bitpay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3C9C92-48BD-F346-A19C-E408F451573B}"/>
              </a:ext>
            </a:extLst>
          </p:cNvPr>
          <p:cNvSpPr txBox="1"/>
          <p:nvPr/>
        </p:nvSpPr>
        <p:spPr>
          <a:xfrm>
            <a:off x="1" y="1"/>
            <a:ext cx="513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Crypto: buy, sell, keep, convert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098C7-E248-984A-863B-861C368613AB}"/>
              </a:ext>
            </a:extLst>
          </p:cNvPr>
          <p:cNvSpPr txBox="1"/>
          <p:nvPr/>
        </p:nvSpPr>
        <p:spPr>
          <a:xfrm>
            <a:off x="1" y="697627"/>
            <a:ext cx="81021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You can create accounts directly at multiple blockchain networks like Bitcoin, Ethereum, etc. These accounts will allow you to send messages and crypto currency between accounts. For example, person A gives dollars to person B, in exchange B sends Bitcoin to A via blockchain network. So one transaction consists of two transfers: crypto and dollars. How do we do it in practice?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How to find buyers/sellers?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How to do transactions?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How to make sure transaction fees are paid?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How to handle accounting?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B6201-FA61-6544-9C94-CCA38BA6ECFF}"/>
              </a:ext>
            </a:extLst>
          </p:cNvPr>
          <p:cNvSpPr txBox="1"/>
          <p:nvPr/>
        </p:nvSpPr>
        <p:spPr>
          <a:xfrm>
            <a:off x="11039303" y="724372"/>
            <a:ext cx="1049251" cy="318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Bitcoin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F88D5-CC0E-B147-8235-1D4562D91408}"/>
              </a:ext>
            </a:extLst>
          </p:cNvPr>
          <p:cNvSpPr txBox="1"/>
          <p:nvPr/>
        </p:nvSpPr>
        <p:spPr>
          <a:xfrm>
            <a:off x="11039303" y="1182375"/>
            <a:ext cx="1049251" cy="318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Ethereum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9CAAF1-A450-804D-9936-AAD613B6D287}"/>
              </a:ext>
            </a:extLst>
          </p:cNvPr>
          <p:cNvSpPr txBox="1"/>
          <p:nvPr/>
        </p:nvSpPr>
        <p:spPr>
          <a:xfrm>
            <a:off x="11039303" y="1638056"/>
            <a:ext cx="1049251" cy="5438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Other</a:t>
            </a:r>
          </a:p>
          <a:p>
            <a:r>
              <a:rPr lang="en-US" sz="1400"/>
              <a:t>Networks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2C4826-6AA1-1547-B35E-B9B923BDB0D0}"/>
              </a:ext>
            </a:extLst>
          </p:cNvPr>
          <p:cNvSpPr txBox="1"/>
          <p:nvPr/>
        </p:nvSpPr>
        <p:spPr>
          <a:xfrm>
            <a:off x="9023922" y="2120634"/>
            <a:ext cx="762924" cy="318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Wallet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3E8D7B-DF6C-3F4C-9999-DBE7F3EA7EC2}"/>
              </a:ext>
            </a:extLst>
          </p:cNvPr>
          <p:cNvSpPr txBox="1"/>
          <p:nvPr/>
        </p:nvSpPr>
        <p:spPr>
          <a:xfrm>
            <a:off x="11039303" y="3057247"/>
            <a:ext cx="1049251" cy="3181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Bank ($)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2C5AB6-4A30-FB46-9F7A-900EA8896BF8}"/>
              </a:ext>
            </a:extLst>
          </p:cNvPr>
          <p:cNvCxnSpPr>
            <a:cxnSpLocks/>
          </p:cNvCxnSpPr>
          <p:nvPr/>
        </p:nvCxnSpPr>
        <p:spPr>
          <a:xfrm flipV="1">
            <a:off x="9853348" y="1385455"/>
            <a:ext cx="1008617" cy="676101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CF161D-E74F-BE4D-9B98-A5E6AABE9552}"/>
              </a:ext>
            </a:extLst>
          </p:cNvPr>
          <p:cNvCxnSpPr>
            <a:cxnSpLocks/>
          </p:cNvCxnSpPr>
          <p:nvPr/>
        </p:nvCxnSpPr>
        <p:spPr>
          <a:xfrm>
            <a:off x="9853347" y="2490887"/>
            <a:ext cx="1051107" cy="656867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274064B-877D-5440-8BB7-E49DC44C5AA6}"/>
              </a:ext>
            </a:extLst>
          </p:cNvPr>
          <p:cNvSpPr txBox="1"/>
          <p:nvPr/>
        </p:nvSpPr>
        <p:spPr>
          <a:xfrm>
            <a:off x="53110" y="2819320"/>
            <a:ext cx="7995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easiest way is to link your regular bank account or credit/debit card to </a:t>
            </a:r>
            <a:br>
              <a:rPr lang="en-US" sz="1400"/>
            </a:br>
            <a:r>
              <a:rPr lang="en-US" sz="1400"/>
              <a:t>a crypto "wallet" at one of the existing services (or use independent wallet):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brokers (like Robinhood, SoFi, etc.)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exchanges (Coinbase, Gemini, Binance.US, etc.)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wallets (Guarda, Exodus, Electrum, Mycelium, Coinbase, MetaMask/Ethereum, etc.)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payment gateways (BitPay, COINQVEST, Coinbase, Coingate, CoinsBank, GoCoin, etc.)</a:t>
            </a:r>
          </a:p>
          <a:p>
            <a:endParaRPr lang="en-US" sz="1400"/>
          </a:p>
          <a:p>
            <a:r>
              <a:rPr lang="en-US" sz="1400"/>
              <a:t>Which service to choose depends on the currencies, amounts, fees, etc.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https://www.forbes.com/advisor/investing/cryptocurrency/how-to-buy-cryptocurrency/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https://www.investopedia.com/best-crypto-software-wallets-5220762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33664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0843F1-39FC-B446-BCF9-38C04967543B}"/>
              </a:ext>
            </a:extLst>
          </p:cNvPr>
          <p:cNvSpPr txBox="1"/>
          <p:nvPr/>
        </p:nvSpPr>
        <p:spPr>
          <a:xfrm>
            <a:off x="1" y="1"/>
            <a:ext cx="5212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Convert BitCoin into USD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5500E0-20B3-9745-9A3F-7F41CF1DCC91}"/>
              </a:ext>
            </a:extLst>
          </p:cNvPr>
          <p:cNvSpPr txBox="1"/>
          <p:nvPr/>
        </p:nvSpPr>
        <p:spPr>
          <a:xfrm>
            <a:off x="1" y="582382"/>
            <a:ext cx="5636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hlinkClick r:id="rId2"/>
              </a:rPr>
              <a:t>https://icoholder.com/blog/how-to-turn-bitcoin-into-usd/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4D087E-5C2B-B944-8357-1FD76494AE6B}"/>
              </a:ext>
            </a:extLst>
          </p:cNvPr>
          <p:cNvSpPr txBox="1"/>
          <p:nvPr/>
        </p:nvSpPr>
        <p:spPr>
          <a:xfrm>
            <a:off x="1795305" y="1280008"/>
            <a:ext cx="84138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If you and your buyer know and trust each other – you can do it by yourselves. Buyer can give you money – and you can send BTC from your account to his. You need to be aware of fees on both sides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You can also use facilitating service like LocalBitcoins which lists buyers (expect 1-3 days to complete transaction) - </a:t>
            </a:r>
            <a:r>
              <a:rPr lang="en-US" sz="1400">
                <a:hlinkClick r:id="rId3"/>
              </a:rPr>
              <a:t>https://localbitcoins.com/sell_bitcoins</a:t>
            </a:r>
            <a:br>
              <a:rPr lang="en-US" sz="1400"/>
            </a:b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Otherwise you can use some (big) exchange – but for additional fee 1-2% fee. For example, Coinbase Exchange - </a:t>
            </a:r>
            <a:r>
              <a:rPr lang="en-US" sz="1400">
                <a:hlinkClick r:id="rId2"/>
              </a:rPr>
              <a:t>https://icoholder.com/blog/how-to-turn-bitcoin-into-usd/</a:t>
            </a:r>
            <a:r>
              <a:rPr lang="en-US" sz="1400"/>
              <a:t>  , </a:t>
            </a:r>
            <a:r>
              <a:rPr lang="en-US" sz="1400">
                <a:hlinkClick r:id="rId4"/>
              </a:rPr>
              <a:t>https://www.youtube.com/watch?v=60Rjdv2Z_Gg</a:t>
            </a:r>
            <a:r>
              <a:rPr lang="en-US" sz="1400"/>
              <a:t>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You can also trading platforms (like Kraken). Expect more background checks and higher fees. The process also will generally take longer ( ~5 days )  - </a:t>
            </a:r>
            <a:r>
              <a:rPr lang="en-US" sz="1400">
                <a:hlinkClick r:id="rId5"/>
              </a:rPr>
              <a:t>https://support.kraken.com/hc/en-us</a:t>
            </a:r>
            <a:r>
              <a:rPr lang="en-US" sz="1400"/>
              <a:t>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Currency Converters – many places, faster processing - </a:t>
            </a:r>
            <a:r>
              <a:rPr lang="en-US" sz="1400">
                <a:hlinkClick r:id="rId6"/>
              </a:rPr>
              <a:t>https://wealthpay.org</a:t>
            </a:r>
            <a:r>
              <a:rPr lang="en-US" sz="1400"/>
              <a:t> - </a:t>
            </a:r>
            <a:r>
              <a:rPr lang="en-US" sz="1400">
                <a:hlinkClick r:id="rId7"/>
              </a:rPr>
              <a:t>https://www.bestchange.com</a:t>
            </a:r>
            <a:r>
              <a:rPr lang="en-US" sz="1400"/>
              <a:t> - </a:t>
            </a:r>
            <a:r>
              <a:rPr lang="en-US" sz="1400">
                <a:hlinkClick r:id="rId8"/>
              </a:rPr>
              <a:t>https://www.okchanger.com</a:t>
            </a:r>
            <a:r>
              <a:rPr lang="en-US" sz="1400"/>
              <a:t> 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Direct Electronic Payment System – like </a:t>
            </a:r>
            <a:r>
              <a:rPr lang="en-US" sz="1400">
                <a:hlinkClick r:id="rId9"/>
              </a:rPr>
              <a:t>https://www.worldcore.eu</a:t>
            </a:r>
            <a:r>
              <a:rPr lang="en-US" sz="1400"/>
              <a:t> - it uses BitPay under the hood - </a:t>
            </a:r>
            <a:r>
              <a:rPr lang="en-US" sz="1400">
                <a:hlinkClick r:id="rId10"/>
              </a:rPr>
              <a:t>https://bitpay.com</a:t>
            </a:r>
            <a:r>
              <a:rPr lang="en-US" sz="1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708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1446BC-FB38-4C49-9BFC-558F535A8731}"/>
              </a:ext>
            </a:extLst>
          </p:cNvPr>
          <p:cNvSpPr txBox="1"/>
          <p:nvPr/>
        </p:nvSpPr>
        <p:spPr>
          <a:xfrm>
            <a:off x="459082" y="2272829"/>
            <a:ext cx="96783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Coinbase</a:t>
            </a:r>
            <a:r>
              <a:rPr lang="en-US" sz="1400"/>
              <a:t> - mainstream brand in the US market. Integrates with Shopify and WooCommerce - </a:t>
            </a:r>
            <a:r>
              <a:rPr lang="en-US" sz="1400">
                <a:hlinkClick r:id="rId2"/>
              </a:rPr>
              <a:t>https://www.coinbase.com</a:t>
            </a:r>
            <a:r>
              <a:rPr lang="en-US" sz="1400"/>
              <a:t> –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- Bitcoin and Bitcoin Cash payment services for merchants. US, since 2011. Versatile payout options - </a:t>
            </a:r>
            <a:r>
              <a:rPr lang="en-US" sz="1400">
                <a:hlinkClick r:id="rId3"/>
              </a:rPr>
              <a:t>https://bitpay.com</a:t>
            </a:r>
            <a:r>
              <a:rPr lang="en-US" sz="1400"/>
              <a:t> -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CoinGate</a:t>
            </a:r>
            <a:r>
              <a:rPr lang="en-US" sz="1400"/>
              <a:t> - Supports payment in more obscure coins, Integrates with a large number of eCommerce platforms - </a:t>
            </a:r>
            <a:r>
              <a:rPr lang="en-US" sz="1400">
                <a:hlinkClick r:id="rId4"/>
              </a:rPr>
              <a:t>https://coingate.com</a:t>
            </a:r>
            <a:r>
              <a:rPr lang="en-US" sz="1400"/>
              <a:t> –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NOWpayments</a:t>
            </a:r>
            <a:r>
              <a:rPr lang="en-US" sz="1400"/>
              <a:t> - Supports payment in more obscure coins, Integrates with a large number of eCommerce platforms, Low fees for simple transactions - </a:t>
            </a:r>
            <a:r>
              <a:rPr lang="en-US" sz="1400">
                <a:hlinkClick r:id="rId5"/>
              </a:rPr>
              <a:t>https://nowpayments.io</a:t>
            </a:r>
            <a:r>
              <a:rPr lang="en-US" sz="1400"/>
              <a:t> –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AlfaCoins</a:t>
            </a:r>
            <a:r>
              <a:rPr lang="en-US" sz="1400"/>
              <a:t> - Flexible payment options, Easy to use - </a:t>
            </a:r>
            <a:r>
              <a:rPr lang="en-US" sz="1400">
                <a:hlinkClick r:id="rId6"/>
              </a:rPr>
              <a:t>https://www.alfacoins.com</a:t>
            </a:r>
            <a:r>
              <a:rPr lang="en-US" sz="1400"/>
              <a:t> 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0FDA16-7038-5F44-96A9-2983ADCDFDFA}"/>
              </a:ext>
            </a:extLst>
          </p:cNvPr>
          <p:cNvSpPr txBox="1"/>
          <p:nvPr/>
        </p:nvSpPr>
        <p:spPr>
          <a:xfrm>
            <a:off x="1" y="1"/>
            <a:ext cx="5298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Crypto Payment Services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B9AA6-A14C-D142-93AB-6A09A48CF631}"/>
              </a:ext>
            </a:extLst>
          </p:cNvPr>
          <p:cNvSpPr txBox="1"/>
          <p:nvPr/>
        </p:nvSpPr>
        <p:spPr>
          <a:xfrm>
            <a:off x="120415" y="933215"/>
            <a:ext cx="6544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5 Most Popular Crypto Payment Gateway &amp; Processors</a:t>
            </a:r>
          </a:p>
          <a:p>
            <a:r>
              <a:rPr lang="en-US" sz="1400">
                <a:hlinkClick r:id="rId7"/>
              </a:rPr>
              <a:t>https://www.merchantmaverick.com/best-cryptocurrency-payment-gateway/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97048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5F5F09-9DB3-9E49-8CE2-4F0323174DB1}"/>
              </a:ext>
            </a:extLst>
          </p:cNvPr>
          <p:cNvSpPr txBox="1"/>
          <p:nvPr/>
        </p:nvSpPr>
        <p:spPr>
          <a:xfrm>
            <a:off x="150519" y="1509095"/>
            <a:ext cx="1038021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Coinbase</a:t>
            </a:r>
            <a:r>
              <a:rPr lang="en-US" sz="1400"/>
              <a:t> - 89+ Mln users, 100+ countries, USA-based - </a:t>
            </a:r>
            <a:r>
              <a:rPr lang="en-US" sz="1400">
                <a:hlinkClick r:id="rId2"/>
              </a:rPr>
              <a:t>https://www.coinbase.com</a:t>
            </a:r>
            <a:r>
              <a:rPr lang="en-US" sz="1400"/>
              <a:t> - Transaction Fees: 0.04% to 0.50% (taker orders); 0% to 0.50% (makers orders), Wallet included. Very high liquidity, variety of coins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Binance</a:t>
            </a:r>
            <a:r>
              <a:rPr lang="en-US" sz="1400"/>
              <a:t> - </a:t>
            </a:r>
            <a:r>
              <a:rPr lang="en-US" sz="1400">
                <a:hlinkClick r:id="rId3"/>
              </a:rPr>
              <a:t>https://www.binance.com</a:t>
            </a:r>
            <a:r>
              <a:rPr lang="en-US" sz="1400"/>
              <a:t> - Cayman Islands (Caribbean) &amp; Seychelles (island near Africa). Hindreds of cr.currencies. Not available in US. Low fees, large variety of cryptocurrencies and trading pairs, geared for more advanced users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Binance.US</a:t>
            </a:r>
            <a:r>
              <a:rPr lang="en-US" sz="1400"/>
              <a:t> - </a:t>
            </a:r>
            <a:r>
              <a:rPr lang="en-US" sz="1400">
                <a:hlinkClick r:id="rId4"/>
              </a:rPr>
              <a:t>https://www.binance.us</a:t>
            </a:r>
            <a:r>
              <a:rPr lang="en-US" sz="1400"/>
              <a:t> – US-regulated, 50 cryptocurrencies, not all states supported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Abra</a:t>
            </a:r>
            <a:r>
              <a:rPr lang="en-US" sz="1400"/>
              <a:t> - </a:t>
            </a:r>
            <a:r>
              <a:rPr lang="en-US" sz="1400">
                <a:hlinkClick r:id="rId5"/>
              </a:rPr>
              <a:t>https://www.abra.com</a:t>
            </a:r>
            <a:r>
              <a:rPr lang="en-US" sz="1400"/>
              <a:t> - Mountain View, CA - operates a comprehensive, custodial cryptocurrency wallet and exchange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Cash App</a:t>
            </a:r>
            <a:r>
              <a:rPr lang="en-US" sz="1400"/>
              <a:t> - </a:t>
            </a:r>
            <a:r>
              <a:rPr lang="en-US" sz="1400">
                <a:hlinkClick r:id="rId6"/>
              </a:rPr>
              <a:t>https://cash.app</a:t>
            </a:r>
            <a:r>
              <a:rPr lang="en-US" sz="1400"/>
              <a:t> – easy to use, peer-to-peer money transfer (like Venmo or Zelle), ability to withdraw Bitcoin, supports only one crypto-currency – the Bitcoin. has daily and weekly withdrawal limits. Charge when sending money via credit card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bisq</a:t>
            </a:r>
            <a:r>
              <a:rPr lang="en-US" sz="1400"/>
              <a:t> – decentralized exchange - </a:t>
            </a:r>
            <a:r>
              <a:rPr lang="en-US" sz="1400">
                <a:hlinkClick r:id="rId7"/>
              </a:rPr>
              <a:t>https://bisq.network</a:t>
            </a:r>
            <a:r>
              <a:rPr lang="en-US" sz="1400"/>
              <a:t> – non-KYC platform, 18 crypto-currencies, but transaction speeds may be slow, trading volumes can be low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Kraken</a:t>
            </a:r>
            <a:r>
              <a:rPr lang="en-US" sz="1400"/>
              <a:t> – Bitcoin &amp; Crypto Exchange - </a:t>
            </a:r>
            <a:r>
              <a:rPr lang="en-US" sz="1400">
                <a:hlinkClick r:id="rId8"/>
              </a:rPr>
              <a:t>https://www.kraken.com</a:t>
            </a:r>
            <a:r>
              <a:rPr lang="en-US" sz="14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Gemini</a:t>
            </a:r>
            <a:r>
              <a:rPr lang="en-US" sz="1400"/>
              <a:t> - </a:t>
            </a:r>
            <a:r>
              <a:rPr lang="en-US" sz="1400">
                <a:hlinkClick r:id="rId9"/>
              </a:rPr>
              <a:t>https://www.gemini.com</a:t>
            </a:r>
            <a:r>
              <a:rPr lang="en-US" sz="14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Robinhood</a:t>
            </a:r>
            <a:r>
              <a:rPr lang="en-US" sz="1400"/>
              <a:t> - </a:t>
            </a:r>
            <a:r>
              <a:rPr lang="en-US" sz="1400">
                <a:hlinkClick r:id="rId10"/>
              </a:rPr>
              <a:t>https://robinhood.com</a:t>
            </a:r>
            <a:r>
              <a:rPr lang="en-US" sz="1400"/>
              <a:t> 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C8C33-6A91-5C4E-9187-89A8633AA1F9}"/>
              </a:ext>
            </a:extLst>
          </p:cNvPr>
          <p:cNvSpPr txBox="1"/>
          <p:nvPr/>
        </p:nvSpPr>
        <p:spPr>
          <a:xfrm>
            <a:off x="0" y="0"/>
            <a:ext cx="4860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Crypto Exchanges (and Wallets)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F6334-63B7-9C4A-8B2E-385511847E4C}"/>
              </a:ext>
            </a:extLst>
          </p:cNvPr>
          <p:cNvSpPr txBox="1"/>
          <p:nvPr/>
        </p:nvSpPr>
        <p:spPr>
          <a:xfrm>
            <a:off x="150519" y="8114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Best Crypto Exchanges in 2021: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11"/>
              </a:rPr>
              <a:t>https://www.investopedia.com/best-crypto-exchanges-5071855</a:t>
            </a:r>
            <a:r>
              <a:rPr lang="en-US" sz="1400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014587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60141B-E690-B949-B6F8-F8DD5D84DCB7}"/>
              </a:ext>
            </a:extLst>
          </p:cNvPr>
          <p:cNvSpPr txBox="1"/>
          <p:nvPr/>
        </p:nvSpPr>
        <p:spPr>
          <a:xfrm>
            <a:off x="1" y="2"/>
            <a:ext cx="4281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High Fees (Proof of Work)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AED350-E383-AA44-92CF-CDEF1A07CEC0}"/>
              </a:ext>
            </a:extLst>
          </p:cNvPr>
          <p:cNvSpPr txBox="1"/>
          <p:nvPr/>
        </p:nvSpPr>
        <p:spPr>
          <a:xfrm>
            <a:off x="6049432" y="345591"/>
            <a:ext cx="6108569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Bitcoin</a:t>
            </a:r>
          </a:p>
          <a:p>
            <a:r>
              <a:rPr lang="en-US" sz="1400"/>
              <a:t>Fees are calculated in "</a:t>
            </a:r>
            <a:r>
              <a:rPr lang="en-US" sz="1400" b="1">
                <a:solidFill>
                  <a:srgbClr val="00B050"/>
                </a:solidFill>
              </a:rPr>
              <a:t>satoshi</a:t>
            </a:r>
            <a:r>
              <a:rPr lang="en-US" sz="1400"/>
              <a:t>" named after Satoshi Nakamoto, creator of bitcoin.</a:t>
            </a:r>
          </a:p>
          <a:p>
            <a:r>
              <a:rPr lang="en-US" sz="1400"/>
              <a:t>1 </a:t>
            </a:r>
            <a:r>
              <a:rPr lang="en-US" sz="1400" b="1">
                <a:solidFill>
                  <a:srgbClr val="00B050"/>
                </a:solidFill>
              </a:rPr>
              <a:t>satoshi</a:t>
            </a:r>
            <a:r>
              <a:rPr lang="en-US" sz="1400"/>
              <a:t> = 0.00000001 BTC = 1e-8 BTC</a:t>
            </a:r>
          </a:p>
          <a:p>
            <a:r>
              <a:rPr lang="en-US" sz="1400"/>
              <a:t>(Jan 2022) Estimated transaction fee $2.34 = 5,056 satoshi</a:t>
            </a:r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https://www.btcsatoshi.com/</a:t>
            </a:r>
            <a:r>
              <a:rPr lang="en-US" sz="1400"/>
              <a:t> </a:t>
            </a:r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https://www.buybitcoinworldwide.com/fee-calculator/</a:t>
            </a:r>
            <a:endParaRPr lang="en-US" sz="1400"/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https://bitcoinfees.earn.com/</a:t>
            </a:r>
            <a:endParaRPr lang="en-US" sz="1400"/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https://mempool.space/</a:t>
            </a:r>
            <a:endParaRPr lang="en-US" sz="1400"/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https://bitcoinbriefly.com/how-to-use-mempool-space-block-explorer/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259496-1ED9-EE43-98E1-41D4DE288FAB}"/>
              </a:ext>
            </a:extLst>
          </p:cNvPr>
          <p:cNvSpPr txBox="1"/>
          <p:nvPr/>
        </p:nvSpPr>
        <p:spPr>
          <a:xfrm>
            <a:off x="6072716" y="3545234"/>
            <a:ext cx="6085285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Ethereum</a:t>
            </a:r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7"/>
              </a:rPr>
              <a:t>https://cryptotesters.com/blog/ethereum-gas</a:t>
            </a:r>
            <a:endParaRPr lang="en-US" sz="1400"/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8"/>
              </a:rPr>
              <a:t>https://automatedwebtools.com/usd-eth-gas-fee/</a:t>
            </a:r>
            <a:endParaRPr lang="en-US" sz="1400"/>
          </a:p>
          <a:p>
            <a:pPr marL="380981" indent="-380981">
              <a:buFont typeface="Arial" panose="020B0604020202020204" pitchFamily="34" charset="0"/>
              <a:buChar char="•"/>
            </a:pPr>
            <a:r>
              <a:rPr lang="en-US" sz="1400">
                <a:hlinkClick r:id="rId9"/>
              </a:rPr>
              <a:t>https://etherscan.io/</a:t>
            </a:r>
            <a:endParaRPr lang="en-US" sz="1400"/>
          </a:p>
          <a:p>
            <a:endParaRPr lang="en-US" sz="1400"/>
          </a:p>
          <a:p>
            <a:r>
              <a:rPr lang="en-US" sz="1400"/>
              <a:t>Cost of transaction is measured in "</a:t>
            </a:r>
            <a:r>
              <a:rPr lang="en-US" sz="1400" b="1">
                <a:solidFill>
                  <a:srgbClr val="00B050"/>
                </a:solidFill>
              </a:rPr>
              <a:t>Gwei</a:t>
            </a:r>
            <a:r>
              <a:rPr lang="en-US" sz="1400"/>
              <a:t>" – named after </a:t>
            </a:r>
            <a:r>
              <a:rPr lang="en-US" sz="1400" b="1">
                <a:solidFill>
                  <a:srgbClr val="00B050"/>
                </a:solidFill>
              </a:rPr>
              <a:t>Wei Dai</a:t>
            </a:r>
            <a:r>
              <a:rPr lang="en-US" sz="1400"/>
              <a:t>, best known as the creator of the bitcoin predecessor "</a:t>
            </a:r>
            <a:r>
              <a:rPr lang="en-US" sz="1400" b="1">
                <a:solidFill>
                  <a:srgbClr val="00B050"/>
                </a:solidFill>
              </a:rPr>
              <a:t>b-money</a:t>
            </a:r>
            <a:r>
              <a:rPr lang="en-US" sz="1400"/>
              <a:t>" and as the developer of the Crypto++ library.</a:t>
            </a:r>
          </a:p>
          <a:p>
            <a:r>
              <a:rPr lang="en-US" sz="1400"/>
              <a:t>1 gwei = 0.000000001 ether = 1/1Bln part of Ether</a:t>
            </a:r>
          </a:p>
          <a:p>
            <a:r>
              <a:rPr lang="en-US" sz="1400"/>
              <a:t>(Jan 2022) Estimated transaction fee $5.61 = 70 Gwei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B1A5F-D7E9-9243-BA66-5A30E0E04534}"/>
              </a:ext>
            </a:extLst>
          </p:cNvPr>
          <p:cNvSpPr txBox="1"/>
          <p:nvPr/>
        </p:nvSpPr>
        <p:spPr>
          <a:xfrm>
            <a:off x="0" y="823196"/>
            <a:ext cx="5744065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Miners are rewarded for calculating next block</a:t>
            </a:r>
          </a:p>
          <a:p>
            <a:r>
              <a:rPr lang="en-US" sz="1400"/>
              <a:t>in a blockchain's mempool. The reward is calculated </a:t>
            </a:r>
            <a:r>
              <a:rPr lang="en-US" sz="1400">
                <a:solidFill>
                  <a:srgbClr val="0070C0"/>
                </a:solidFill>
              </a:rPr>
              <a:t>per the length of the record and complexity of calculation</a:t>
            </a:r>
            <a:r>
              <a:rPr lang="en-US" sz="1400"/>
              <a:t> – and </a:t>
            </a:r>
            <a:r>
              <a:rPr lang="en-US" sz="1400">
                <a:solidFill>
                  <a:srgbClr val="00B050"/>
                </a:solidFill>
              </a:rPr>
              <a:t>in values native to the blockchain</a:t>
            </a:r>
            <a:r>
              <a:rPr lang="en-US" sz="1400"/>
              <a:t>. </a:t>
            </a:r>
          </a:p>
          <a:p>
            <a:endParaRPr lang="en-US" sz="1400"/>
          </a:p>
          <a:p>
            <a:r>
              <a:rPr lang="en-US" sz="1400"/>
              <a:t>When converting to dollars, the fees are very volatile.</a:t>
            </a:r>
          </a:p>
          <a:p>
            <a:r>
              <a:rPr lang="en-US" sz="1400"/>
              <a:t>Here is what Wall Street Journal says about fees in 2021:</a:t>
            </a:r>
          </a:p>
          <a:p>
            <a:r>
              <a:rPr lang="en-US" sz="1400"/>
              <a:t>""" </a:t>
            </a:r>
            <a:r>
              <a:rPr lang="en-US" sz="1400">
                <a:solidFill>
                  <a:srgbClr val="0070C0"/>
                </a:solidFill>
              </a:rPr>
              <a:t>On the Bitcoin network, the average daily transaction fee this year has been as low as </a:t>
            </a:r>
            <a:r>
              <a:rPr lang="en-US" sz="1400" b="1">
                <a:solidFill>
                  <a:srgbClr val="FF0000"/>
                </a:solidFill>
              </a:rPr>
              <a:t>$1.78</a:t>
            </a:r>
            <a:r>
              <a:rPr lang="en-US" sz="1400">
                <a:solidFill>
                  <a:srgbClr val="0070C0"/>
                </a:solidFill>
              </a:rPr>
              <a:t> and as high as</a:t>
            </a:r>
            <a:r>
              <a:rPr lang="en-US" sz="1400" b="1">
                <a:solidFill>
                  <a:srgbClr val="FF0000"/>
                </a:solidFill>
              </a:rPr>
              <a:t> $62</a:t>
            </a:r>
            <a:r>
              <a:rPr lang="en-US" sz="1400">
                <a:solidFill>
                  <a:srgbClr val="0070C0"/>
                </a:solidFill>
              </a:rPr>
              <a:t>, according to bitinfocharts. On Ethereum, the average fee has been as low as </a:t>
            </a:r>
            <a:r>
              <a:rPr lang="en-US" sz="1400" b="1">
                <a:solidFill>
                  <a:srgbClr val="FF0000"/>
                </a:solidFill>
              </a:rPr>
              <a:t>$1.59</a:t>
            </a:r>
            <a:r>
              <a:rPr lang="en-US" sz="1400">
                <a:solidFill>
                  <a:srgbClr val="0070C0"/>
                </a:solidFill>
              </a:rPr>
              <a:t> and as high as </a:t>
            </a:r>
            <a:r>
              <a:rPr lang="en-US" sz="1400" b="1">
                <a:solidFill>
                  <a:srgbClr val="FF0000"/>
                </a:solidFill>
              </a:rPr>
              <a:t>$70</a:t>
            </a:r>
            <a:r>
              <a:rPr lang="en-US" sz="1400">
                <a:solidFill>
                  <a:srgbClr val="0070C0"/>
                </a:solidFill>
              </a:rPr>
              <a:t>.</a:t>
            </a:r>
            <a:r>
              <a:rPr lang="en-US" sz="1400"/>
              <a:t> """</a:t>
            </a:r>
          </a:p>
          <a:p>
            <a:r>
              <a:rPr lang="en-US" sz="1400">
                <a:hlinkClick r:id="rId10"/>
              </a:rPr>
              <a:t>https://www.wsj.com/articles/crypto-and-its-many-fees-what-to-know-about-the-hidden-costs-of-digital-currency-11639825202</a:t>
            </a:r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F8A457-C49D-574F-9D49-D1698E2C01CA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838" y="3791765"/>
            <a:ext cx="4118269" cy="239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91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36929E-1DCE-8C0B-503F-CE2CB5C81BFD}"/>
              </a:ext>
            </a:extLst>
          </p:cNvPr>
          <p:cNvSpPr txBox="1"/>
          <p:nvPr/>
        </p:nvSpPr>
        <p:spPr>
          <a:xfrm>
            <a:off x="0" y="644122"/>
            <a:ext cx="897555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Lightning Network is a "layer 2" payment protocol layered on top of a blockchain-based cryptocurrency such as bitcoin or litecoin.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Lightning Network allows users to send or receive Bitcoin quickly and cheaply by moving transactions off of the main blockchain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Lightning Network uses smart contracts to establish off-blockchain payment channels between pairs of users. Once these payment channels are established, funds can be transferred between them almost instantly.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2015 - Original paper by Joseph Poon and Thaddeus Dryja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Good videos: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3"/>
              </a:rPr>
              <a:t>https://www.youtube.com/watch?v=J3cQNpOR_a0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4"/>
              </a:rPr>
              <a:t>https://www.youtube.com/watch?v=XCSfoiD8wUA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Wikipedia - </a:t>
            </a:r>
            <a:r>
              <a:rPr lang="en-US" sz="1400">
                <a:hlinkClick r:id="rId5"/>
              </a:rPr>
              <a:t>https://en.wikipedia.org/wiki/Lightning_Network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Coinbase - </a:t>
            </a:r>
            <a:r>
              <a:rPr lang="en-US" sz="1400">
                <a:hlinkClick r:id="rId6"/>
              </a:rPr>
              <a:t>https://www.coinbase.com/learn/crypto-basics/what-is-lightning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BitPay - </a:t>
            </a:r>
            <a:r>
              <a:rPr lang="en-US" sz="1400">
                <a:hlinkClick r:id="rId7"/>
              </a:rPr>
              <a:t>https://bitpay.com/blog/bitpay-supports-lightning-network-payments/amp/</a:t>
            </a:r>
            <a:r>
              <a:rPr lang="en-US" sz="140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A4111-4981-B99A-8F37-7EEDE1A3BEEF}"/>
              </a:ext>
            </a:extLst>
          </p:cNvPr>
          <p:cNvSpPr txBox="1"/>
          <p:nvPr/>
        </p:nvSpPr>
        <p:spPr>
          <a:xfrm>
            <a:off x="0" y="0"/>
            <a:ext cx="4186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Lightning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85A5C-73CA-AA1B-975D-BE7EC6698CC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5284" y="0"/>
            <a:ext cx="1796716" cy="1796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FD85C6-2077-C2A4-D2AC-4C6250DD74C2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3200" y="5146837"/>
            <a:ext cx="2520730" cy="1622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6EBCDD-4838-A50D-3E9F-40ACE1E8F1F1}"/>
              </a:ext>
            </a:extLst>
          </p:cNvPr>
          <p:cNvSpPr txBox="1"/>
          <p:nvPr/>
        </p:nvSpPr>
        <p:spPr>
          <a:xfrm>
            <a:off x="0" y="3918807"/>
            <a:ext cx="3891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Ethereum Sidechains</a:t>
            </a:r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82EA42-C63B-1564-3822-1290019063DA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9958" y="2311100"/>
            <a:ext cx="1368372" cy="16077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FC536D-B96D-D537-2161-6F5671B7DACF}"/>
              </a:ext>
            </a:extLst>
          </p:cNvPr>
          <p:cNvSpPr txBox="1"/>
          <p:nvPr/>
        </p:nvSpPr>
        <p:spPr>
          <a:xfrm>
            <a:off x="8619958" y="3995007"/>
            <a:ext cx="136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Joseph Poon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60C16C-7C30-1DFE-7569-CB527C9FF583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4288" y="2311100"/>
            <a:ext cx="1249515" cy="16107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D42520-9E8F-C545-B4A9-89114AC4D461}"/>
              </a:ext>
            </a:extLst>
          </p:cNvPr>
          <p:cNvSpPr txBox="1"/>
          <p:nvPr/>
        </p:nvSpPr>
        <p:spPr>
          <a:xfrm>
            <a:off x="10161694" y="3946426"/>
            <a:ext cx="167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Thaddeus Dryja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E1E8F-1728-5B2F-0EFC-174BDDBD6E67}"/>
              </a:ext>
            </a:extLst>
          </p:cNvPr>
          <p:cNvSpPr txBox="1"/>
          <p:nvPr/>
        </p:nvSpPr>
        <p:spPr>
          <a:xfrm>
            <a:off x="0" y="4442027"/>
            <a:ext cx="54660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Sidechains are similar to Lightning Network – but for Ethereum: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12"/>
              </a:rPr>
              <a:t>https://ethereum.org/en/developers/docs/scaling/sidechains/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sidechain is a separate blockchain which runs in parallel to </a:t>
            </a:r>
            <a:br>
              <a:rPr lang="en-US" sz="1400"/>
            </a:br>
            <a:r>
              <a:rPr lang="en-US" sz="1400"/>
              <a:t>Ethereum Mainnet and operates independently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It has its own consensus algorithm (e.g. proof-of-authority, </a:t>
            </a:r>
            <a:br>
              <a:rPr lang="en-US" sz="1400"/>
            </a:br>
            <a:r>
              <a:rPr lang="en-US" sz="1400"/>
              <a:t>Delegated proof-of-stake, Byzantine fault tolerance)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It is connected to Mainnet by a two-way bridge</a:t>
            </a:r>
          </a:p>
        </p:txBody>
      </p:sp>
    </p:spTree>
    <p:extLst>
      <p:ext uri="{BB962C8B-B14F-4D97-AF65-F5344CB8AC3E}">
        <p14:creationId xmlns:p14="http://schemas.microsoft.com/office/powerpoint/2010/main" val="304471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60141B-E690-B949-B6F8-F8DD5D84DCB7}"/>
              </a:ext>
            </a:extLst>
          </p:cNvPr>
          <p:cNvSpPr txBox="1"/>
          <p:nvPr/>
        </p:nvSpPr>
        <p:spPr>
          <a:xfrm>
            <a:off x="-1" y="0"/>
            <a:ext cx="3173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Fees – </a:t>
            </a:r>
            <a:r>
              <a:rPr lang="en-US" sz="2800" b="1">
                <a:hlinkClick r:id="rId2"/>
              </a:rPr>
              <a:t>BitPay.com</a:t>
            </a:r>
            <a:endParaRPr lang="en-US" sz="28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4724F-42B2-C749-B0F3-B047E9661C94}"/>
              </a:ext>
            </a:extLst>
          </p:cNvPr>
          <p:cNvSpPr txBox="1"/>
          <p:nvPr/>
        </p:nvSpPr>
        <p:spPr>
          <a:xfrm>
            <a:off x="88913" y="793703"/>
            <a:ext cx="82482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is a payment gateway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since 2011, 100+ Mln global customers,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https://www.owler.com/company/bitpay</a:t>
            </a:r>
            <a:r>
              <a:rPr lang="en-US" sz="1400"/>
              <a:t>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https://bitpay.com/blog/welcome-to-the-september-cryptie/</a:t>
            </a:r>
            <a:endParaRPr lang="en-US" sz="1400"/>
          </a:p>
          <a:p>
            <a:endParaRPr lang="en-US" sz="1400"/>
          </a:p>
          <a:p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fees ( </a:t>
            </a:r>
            <a:r>
              <a:rPr lang="en-US" sz="1400">
                <a:hlinkClick r:id="rId5"/>
              </a:rPr>
              <a:t>https://www.cryptowisser.com/wallet/bitpay/</a:t>
            </a:r>
            <a:r>
              <a:rPr lang="en-US" sz="1400"/>
              <a:t> )</a:t>
            </a:r>
          </a:p>
          <a:p>
            <a:endParaRPr lang="en-US" sz="1400"/>
          </a:p>
          <a:p>
            <a:r>
              <a:rPr lang="en-US" sz="1400"/>
              <a:t>    1. Miner fees (unavoidable, built into the blockchain, depends on crypto, very volatile)</a:t>
            </a:r>
          </a:p>
          <a:p>
            <a:r>
              <a:rPr lang="en-US" sz="1400"/>
              <a:t>    2. Network Cost (additional operations' cost imposed by </a:t>
            </a:r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starting in 2017)</a:t>
            </a:r>
          </a:p>
          <a:p>
            <a:r>
              <a:rPr lang="en-US" sz="1400"/>
              <a:t>    3. Processing Fee (1%) added by </a:t>
            </a:r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for their service</a:t>
            </a:r>
          </a:p>
          <a:p>
            <a:r>
              <a:rPr lang="en-US" sz="1400"/>
              <a:t>    4. Refund fees (if you receive a refund)</a:t>
            </a:r>
          </a:p>
          <a:p>
            <a:endParaRPr lang="en-US" sz="1400"/>
          </a:p>
          <a:p>
            <a:r>
              <a:rPr lang="en-US" sz="1400"/>
              <a:t>In 2017 when Bitcoin blockchain fee were very high (more than $30),</a:t>
            </a:r>
          </a:p>
          <a:p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made a rule to refuse transactions smaller than $100</a:t>
            </a:r>
          </a:p>
          <a:p>
            <a:endParaRPr lang="en-US" sz="1400"/>
          </a:p>
          <a:p>
            <a:r>
              <a:rPr lang="en-US" sz="1400"/>
              <a:t>Some alternatives to </a:t>
            </a:r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https://www.finextra.com/blogposting/21322/the-best-cryptocurrency-payment-gateways-for-2022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7"/>
              </a:rPr>
              <a:t>https://technicali.com/top-7-payment-gateways-that-accept-cryptocurrency/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8"/>
              </a:rPr>
              <a:t>https://wpengine.com/resources/wordpress-and-bitcoin/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9"/>
              </a:rPr>
              <a:t>https://www.nerdwallet.com/article/small-business/accepting-bitcoin-crypto</a:t>
            </a:r>
            <a:endParaRPr lang="en-US" sz="1400"/>
          </a:p>
        </p:txBody>
      </p:sp>
      <p:pic>
        <p:nvPicPr>
          <p:cNvPr id="1026" name="Picture 2" descr="BitPay - Wikipedia">
            <a:extLst>
              <a:ext uri="{FF2B5EF4-FFF2-40B4-BE49-F238E27FC236}">
                <a16:creationId xmlns:a16="http://schemas.microsoft.com/office/drawing/2014/main" id="{ABFB9639-79DD-D44F-A66E-4324223AA2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018309" y="149788"/>
            <a:ext cx="2978871" cy="109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303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60141B-E690-B949-B6F8-F8DD5D84DCB7}"/>
              </a:ext>
            </a:extLst>
          </p:cNvPr>
          <p:cNvSpPr txBox="1"/>
          <p:nvPr/>
        </p:nvSpPr>
        <p:spPr>
          <a:xfrm>
            <a:off x="-1" y="0"/>
            <a:ext cx="2072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Coinbase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4724F-42B2-C749-B0F3-B047E9661C94}"/>
              </a:ext>
            </a:extLst>
          </p:cNvPr>
          <p:cNvSpPr txBox="1"/>
          <p:nvPr/>
        </p:nvSpPr>
        <p:spPr>
          <a:xfrm>
            <a:off x="88913" y="793703"/>
            <a:ext cx="397508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https://www.coinbase.com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https://en.wikipedia.org/wiki/Coinbase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buy, sell, and manage crypto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89 Mln users in 100+ countries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Public company (traded on Nasdaq)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Founded in 2012 by Brian Armstrong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1000+ employes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000">
                <a:hlinkClick r:id="rId4"/>
              </a:rPr>
              <a:t>https://github.com/coinbase</a:t>
            </a:r>
            <a:r>
              <a:rPr lang="en-US" sz="10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000">
                <a:hlinkClick r:id="rId5"/>
              </a:rPr>
              <a:t>https://github.com/coinbase/coinbase-commerce-python</a:t>
            </a:r>
            <a:r>
              <a:rPr lang="en-US" sz="10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000">
                <a:hlinkClick r:id="rId6"/>
              </a:rPr>
              <a:t>https://github.com/coinbase/coinbase-python</a:t>
            </a:r>
            <a:r>
              <a:rPr lang="en-US" sz="10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000">
                <a:hlinkClick r:id="rId7"/>
              </a:rPr>
              <a:t>https://github.com/coinbase/coinbase-python/tree/master/coinbase/wallet</a:t>
            </a:r>
            <a:endParaRPr lang="en-US" sz="10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000"/>
              <a:t>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01DF19-4A29-614D-AF52-400A5D528E8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9851" y="181722"/>
            <a:ext cx="2253236" cy="1152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6FF339-E840-BB4F-9E23-000F727DA5D6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758" y="1548915"/>
            <a:ext cx="6648772" cy="522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6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10EDD-1316-6D4C-4930-BCFF121273CA}"/>
              </a:ext>
            </a:extLst>
          </p:cNvPr>
          <p:cNvSpPr txBox="1"/>
          <p:nvPr/>
        </p:nvSpPr>
        <p:spPr>
          <a:xfrm>
            <a:off x="-1" y="0"/>
            <a:ext cx="2072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Gemini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0F219-164C-FE32-15D7-5C5BC0FB57F4}"/>
              </a:ext>
            </a:extLst>
          </p:cNvPr>
          <p:cNvSpPr txBox="1"/>
          <p:nvPr/>
        </p:nvSpPr>
        <p:spPr>
          <a:xfrm>
            <a:off x="-1" y="1407436"/>
            <a:ext cx="756984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Gemini Trust Company, LLC (Gemini) – since 2014, New York City, 900+ employees</a:t>
            </a:r>
            <a:br>
              <a:rPr lang="en-US" sz="1400"/>
            </a:br>
            <a:r>
              <a:rPr lang="en-US" sz="1400"/>
              <a:t>Address: 600 3rd Avenue 2nd Floor New York, NY 10016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Cryptocurrency exchange and custodian, NFT marketplace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Buy, sell, store Bitcoin, Bitcoin Cash, Ethereum, Litecoin, Zcash, Gemini dollar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Gemini</a:t>
            </a:r>
            <a:r>
              <a:rPr lang="en-US" sz="1400"/>
              <a:t> means </a:t>
            </a:r>
            <a:r>
              <a:rPr lang="en-US" sz="1400" b="1">
                <a:solidFill>
                  <a:srgbClr val="00B050"/>
                </a:solidFill>
              </a:rPr>
              <a:t>twins</a:t>
            </a:r>
            <a:r>
              <a:rPr lang="en-US" sz="1400"/>
              <a:t> - twins founders </a:t>
            </a:r>
            <a:r>
              <a:rPr lang="en-US" sz="1400" b="1">
                <a:solidFill>
                  <a:srgbClr val="00B050"/>
                </a:solidFill>
              </a:rPr>
              <a:t>Cameron Winklevoss &amp; Tyler Winklevoss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Gemini operates in US, Canada, UK, South Korea, Hong Kong, and Singapore.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Primary competitors include </a:t>
            </a:r>
            <a:r>
              <a:rPr lang="en-US" sz="1400" b="1">
                <a:solidFill>
                  <a:srgbClr val="00B050"/>
                </a:solidFill>
              </a:rPr>
              <a:t>Coinbase, Binance, Bitstamp, and Kraken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All users can trade crypto and fiat currency, and transfer USD to/from bank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2017 - Gemini was the first exchange to launch </a:t>
            </a:r>
            <a:r>
              <a:rPr lang="en-US" sz="1400" b="1">
                <a:solidFill>
                  <a:srgbClr val="FF0000"/>
                </a:solidFill>
              </a:rPr>
              <a:t>bitcoin futures contracts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(Gemini is used by the Chicago Board Options Exchange (CBOE) as the basis for setlement)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2018 – launched </a:t>
            </a:r>
            <a:r>
              <a:rPr lang="en-US" sz="1400" b="1">
                <a:solidFill>
                  <a:srgbClr val="00B050"/>
                </a:solidFill>
              </a:rPr>
              <a:t>stable coin</a:t>
            </a:r>
            <a:r>
              <a:rPr lang="en-US" sz="1400"/>
              <a:t> </a:t>
            </a:r>
            <a:r>
              <a:rPr lang="en-US" sz="1400" b="1">
                <a:solidFill>
                  <a:srgbClr val="FF0000"/>
                </a:solidFill>
              </a:rPr>
              <a:t>Gemini dollar (GUSD)</a:t>
            </a:r>
            <a:r>
              <a:rPr lang="en-US" sz="1400"/>
              <a:t> pegged to USD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2019 – Gemini bought </a:t>
            </a:r>
            <a:r>
              <a:rPr lang="en-US" sz="1400" b="1">
                <a:solidFill>
                  <a:srgbClr val="00B050"/>
                </a:solidFill>
              </a:rPr>
              <a:t>Nifty Gateway</a:t>
            </a:r>
            <a:r>
              <a:rPr lang="en-US" sz="1400"/>
              <a:t> – and </a:t>
            </a:r>
            <a:r>
              <a:rPr lang="en-US" sz="1400" b="1">
                <a:solidFill>
                  <a:srgbClr val="FF0000"/>
                </a:solidFill>
              </a:rPr>
              <a:t>NFT marketplace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Python client: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2"/>
              </a:rPr>
              <a:t>https://github.com/mtusman/gemini-python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3"/>
              </a:rPr>
              <a:t>https://pypi.org/project/gemini/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REST API, Python: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4"/>
              </a:rPr>
              <a:t>https://docs.gemini.com/rest-api/</a:t>
            </a:r>
            <a:r>
              <a:rPr lang="en-US" sz="140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0E834-9C35-33AB-8443-28E59C3504FF}"/>
              </a:ext>
            </a:extLst>
          </p:cNvPr>
          <p:cNvSpPr txBox="1"/>
          <p:nvPr/>
        </p:nvSpPr>
        <p:spPr>
          <a:xfrm>
            <a:off x="0" y="509286"/>
            <a:ext cx="5058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https://www.gemini.com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https://en.wikipedia.org/wiki/Gemini_(company)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7"/>
              </a:rPr>
              <a:t>https://exchange.sandbox.gemini.com/</a:t>
            </a:r>
            <a:r>
              <a:rPr lang="en-US" sz="140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CD8E6B-DD68-8C12-1BA2-899CB8B590B6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2300" y="39386"/>
            <a:ext cx="3949700" cy="939800"/>
          </a:xfrm>
          <a:prstGeom prst="rect">
            <a:avLst/>
          </a:prstGeom>
        </p:spPr>
      </p:pic>
      <p:pic>
        <p:nvPicPr>
          <p:cNvPr id="1026" name="Picture 2" descr="Tyler and Cameron Winklevoss To Welcome 2020 With Great Expectations - The  Coin Republic: Cryptocurrency , Bitcoin, Ethereum &amp; Blockchain News">
            <a:extLst>
              <a:ext uri="{FF2B5EF4-FFF2-40B4-BE49-F238E27FC236}">
                <a16:creationId xmlns:a16="http://schemas.microsoft.com/office/drawing/2014/main" id="{7FAFAB86-3407-BE39-3658-A3C6B4B75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78097" y="1169043"/>
            <a:ext cx="4423738" cy="2580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899212-452D-5B1C-9C16-E242CB0C9CB1}"/>
              </a:ext>
            </a:extLst>
          </p:cNvPr>
          <p:cNvSpPr txBox="1"/>
          <p:nvPr/>
        </p:nvSpPr>
        <p:spPr>
          <a:xfrm>
            <a:off x="8011121" y="3763570"/>
            <a:ext cx="375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Cameron &amp; Tyler Winklevoss (twins)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09414D-0D20-D1F9-70F1-6D4796F2D8C9}"/>
              </a:ext>
            </a:extLst>
          </p:cNvPr>
          <p:cNvSpPr txBox="1"/>
          <p:nvPr/>
        </p:nvSpPr>
        <p:spPr>
          <a:xfrm>
            <a:off x="660400" y="5339994"/>
            <a:ext cx="527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requests, json</a:t>
            </a:r>
          </a:p>
          <a:p>
            <a:endParaRPr lang="en-US" sz="12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base_url = "</a:t>
            </a:r>
            <a:r>
              <a:rPr lang="en-US" sz="120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https://api.gemini.com/v1</a:t>
            </a:r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response = requests.get(base_url + "</a:t>
            </a:r>
            <a:r>
              <a:rPr lang="en-US" sz="120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/trades/btcusd</a:t>
            </a:r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btcusd_trades = response.json()</a:t>
            </a:r>
          </a:p>
          <a:p>
            <a:endParaRPr lang="en-US" sz="12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print(btcusd_trades)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CD5EB5-AE8A-9D94-9AA7-AF86F22B326A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0021" y="4426289"/>
            <a:ext cx="3513027" cy="222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27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10EDD-1316-6D4C-4930-BCFF121273CA}"/>
              </a:ext>
            </a:extLst>
          </p:cNvPr>
          <p:cNvSpPr txBox="1"/>
          <p:nvPr/>
        </p:nvSpPr>
        <p:spPr>
          <a:xfrm>
            <a:off x="-1" y="0"/>
            <a:ext cx="2072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0E834-9C35-33AB-8443-28E59C3504FF}"/>
              </a:ext>
            </a:extLst>
          </p:cNvPr>
          <p:cNvSpPr txBox="1"/>
          <p:nvPr/>
        </p:nvSpPr>
        <p:spPr>
          <a:xfrm>
            <a:off x="0" y="509286"/>
            <a:ext cx="36762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https://www.binance.com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https://www.binance.us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https://en.wikipedia.org/wiki/Binance</a:t>
            </a:r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FBFD23-195B-A528-DAAE-7585105582FA}"/>
              </a:ext>
            </a:extLst>
          </p:cNvPr>
          <p:cNvSpPr txBox="1"/>
          <p:nvPr/>
        </p:nvSpPr>
        <p:spPr>
          <a:xfrm>
            <a:off x="1" y="1400537"/>
            <a:ext cx="48120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Buy, Sell, and Trade Cryptocurrencies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Binance - </a:t>
            </a:r>
            <a:r>
              <a:rPr lang="en-US" sz="1400" b="1">
                <a:solidFill>
                  <a:srgbClr val="00B050"/>
                </a:solidFill>
              </a:rPr>
              <a:t>cryptocurrency exchange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World largest trading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Founded in 2017 by </a:t>
            </a:r>
            <a:r>
              <a:rPr lang="en-US" sz="1400" b="1">
                <a:solidFill>
                  <a:srgbClr val="00B050"/>
                </a:solidFill>
              </a:rPr>
              <a:t>Changpeng Zhao</a:t>
            </a:r>
            <a:r>
              <a:rPr lang="en-US" sz="1400"/>
              <a:t> ("</a:t>
            </a:r>
            <a:r>
              <a:rPr lang="en-US" sz="1400" b="1">
                <a:solidFill>
                  <a:srgbClr val="FF0000"/>
                </a:solidFill>
              </a:rPr>
              <a:t>CZ</a:t>
            </a:r>
            <a:r>
              <a:rPr lang="en-US" sz="1400"/>
              <a:t>") &amp; </a:t>
            </a:r>
            <a:r>
              <a:rPr lang="en-US" sz="1400" b="1">
                <a:solidFill>
                  <a:srgbClr val="00B050"/>
                </a:solidFill>
              </a:rPr>
              <a:t>Yi 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Headquarters at </a:t>
            </a:r>
            <a:r>
              <a:rPr lang="en-US" sz="1400" b="1">
                <a:solidFill>
                  <a:srgbClr val="FF0000"/>
                </a:solidFill>
              </a:rPr>
              <a:t>Cayman Islands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Not available in the US and UK</a:t>
            </a:r>
            <a:br>
              <a:rPr lang="en-US" sz="1400"/>
            </a:br>
            <a:r>
              <a:rPr lang="en-US" sz="1400"/>
              <a:t>In US you can use </a:t>
            </a:r>
            <a:r>
              <a:rPr lang="en-US" sz="1400">
                <a:hlinkClick r:id="rId4"/>
              </a:rPr>
              <a:t>https://www.binance.us</a:t>
            </a:r>
            <a:r>
              <a:rPr lang="en-US" sz="140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Python API ( </a:t>
            </a:r>
            <a:r>
              <a:rPr lang="en-US" sz="1400" b="1">
                <a:solidFill>
                  <a:srgbClr val="00B0F0"/>
                </a:solidFill>
              </a:rPr>
              <a:t>pip install python-binance</a:t>
            </a:r>
            <a:r>
              <a:rPr lang="en-US" sz="1400"/>
              <a:t> )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6"/>
              </a:rPr>
              <a:t>https://docs.binance.us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7"/>
              </a:rPr>
              <a:t>https://python-binance.readthedocs.io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8"/>
              </a:rPr>
              <a:t>https://github.com/sammchardy/python-binance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D0C026-9764-948C-71CB-F7BB39EB037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3253" y="1220301"/>
            <a:ext cx="1694819" cy="19732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B12C44-326F-E3EF-8356-E80126061451}"/>
              </a:ext>
            </a:extLst>
          </p:cNvPr>
          <p:cNvSpPr txBox="1"/>
          <p:nvPr/>
        </p:nvSpPr>
        <p:spPr>
          <a:xfrm>
            <a:off x="8334353" y="3193555"/>
            <a:ext cx="1977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 </a:t>
            </a:r>
            <a:r>
              <a:rPr lang="en-US" b="1">
                <a:solidFill>
                  <a:srgbClr val="00B050"/>
                </a:solidFill>
              </a:rPr>
              <a:t>Changpeng Zhao</a:t>
            </a:r>
          </a:p>
          <a:p>
            <a:pPr algn="ctr"/>
            <a:r>
              <a:rPr lang="en-US" sz="1400"/>
              <a:t>net worth ~ $77 Bln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401087-E8D2-2CF4-5086-4DE3ACF2A9D9}"/>
              </a:ext>
            </a:extLst>
          </p:cNvPr>
          <p:cNvSpPr txBox="1"/>
          <p:nvPr/>
        </p:nvSpPr>
        <p:spPr>
          <a:xfrm>
            <a:off x="10755349" y="3193555"/>
            <a:ext cx="98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B050"/>
                </a:solidFill>
              </a:rPr>
              <a:t>Yi He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9B30E3-E8D4-7036-577F-9A5D14169C48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3301" y="50357"/>
            <a:ext cx="3962144" cy="7212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993059C-A78D-F8D5-888C-88A085CA6614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8563" y="2050343"/>
            <a:ext cx="3405790" cy="4055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4A64B5-8483-B2DC-BCF9-F5F4B31437B4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160" y="3995061"/>
            <a:ext cx="3957445" cy="27934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D6ADAF-00BB-4075-8AF4-482E672E1F84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4591" y="1220301"/>
            <a:ext cx="1860854" cy="197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01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10EDD-1316-6D4C-4930-BCFF121273CA}"/>
              </a:ext>
            </a:extLst>
          </p:cNvPr>
          <p:cNvSpPr txBox="1"/>
          <p:nvPr/>
        </p:nvSpPr>
        <p:spPr>
          <a:xfrm>
            <a:off x="-1" y="0"/>
            <a:ext cx="2072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Bitstamp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0E834-9C35-33AB-8443-28E59C3504FF}"/>
              </a:ext>
            </a:extLst>
          </p:cNvPr>
          <p:cNvSpPr txBox="1"/>
          <p:nvPr/>
        </p:nvSpPr>
        <p:spPr>
          <a:xfrm>
            <a:off x="-1" y="1712935"/>
            <a:ext cx="540242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Bitstamp is a cryptocurrency exchange based in Luxembourg. </a:t>
            </a:r>
            <a:br>
              <a:rPr lang="en-US" sz="1400"/>
            </a:br>
            <a:r>
              <a:rPr lang="en-US" sz="1400"/>
              <a:t>(London, Luxembourg, Slovenia, New York 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Founded in 2011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It allows trading between fiat currency, bitcoin and other cryptocurrencies.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USD, EUR, GBP, bitcoin, ALGO, XRP, Ether, litecoin, bitcoin cash, XLM, Link, OMG Network, USD Coin or PAX deposits and withdrawals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30F248-013D-EC55-1302-1CA6CF3F462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97146" y="2091267"/>
            <a:ext cx="4138870" cy="33484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4BAA9C-9CDA-6777-C3BB-E2B6236AF4FC}"/>
              </a:ext>
            </a:extLst>
          </p:cNvPr>
          <p:cNvSpPr txBox="1"/>
          <p:nvPr/>
        </p:nvSpPr>
        <p:spPr>
          <a:xfrm>
            <a:off x="0" y="663179"/>
            <a:ext cx="52438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https://www.bitstamp.net/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https://en.wikipedia.org/wiki/Bitstamp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https://www.bitstamp.net/api/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7"/>
              </a:rPr>
              <a:t>https://github.com/kmadac/bitstamp-python-client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8DCB5F-E0B7-03AD-029A-33299D2E071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50693" y="59666"/>
            <a:ext cx="3085323" cy="7713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D8A426-4282-B1E8-4045-B0EF4C0DFAAD}"/>
              </a:ext>
            </a:extLst>
          </p:cNvPr>
          <p:cNvSpPr txBox="1"/>
          <p:nvPr/>
        </p:nvSpPr>
        <p:spPr>
          <a:xfrm>
            <a:off x="541581" y="3858339"/>
            <a:ext cx="47586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pip install BitstampClient</a:t>
            </a:r>
          </a:p>
          <a:p>
            <a:endParaRPr lang="en-US" sz="12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bitstamp.client</a:t>
            </a:r>
          </a:p>
          <a:p>
            <a:endParaRPr lang="en-US" sz="12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public_client = bitstamp.client.Public()</a:t>
            </a: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print(public_client.ticker()['volume'])</a:t>
            </a:r>
          </a:p>
          <a:p>
            <a:endParaRPr lang="en-US" sz="12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trading_client = bitstamp.client.Trading(</a:t>
            </a: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username='999999', key='xxx', secret='xxx')</a:t>
            </a:r>
          </a:p>
          <a:p>
            <a:endParaRPr lang="en-US" sz="12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print(trading_client.account_balance()['fee'])</a:t>
            </a:r>
          </a:p>
          <a:p>
            <a:r>
              <a:rPr lang="en-US" sz="12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print(trading_client.ticker()['volume'])</a:t>
            </a:r>
          </a:p>
        </p:txBody>
      </p:sp>
    </p:spTree>
    <p:extLst>
      <p:ext uri="{BB962C8B-B14F-4D97-AF65-F5344CB8AC3E}">
        <p14:creationId xmlns:p14="http://schemas.microsoft.com/office/powerpoint/2010/main" val="1816705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10EDD-1316-6D4C-4930-BCFF121273CA}"/>
              </a:ext>
            </a:extLst>
          </p:cNvPr>
          <p:cNvSpPr txBox="1"/>
          <p:nvPr/>
        </p:nvSpPr>
        <p:spPr>
          <a:xfrm>
            <a:off x="-1" y="0"/>
            <a:ext cx="2072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Kraken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0E834-9C35-33AB-8443-28E59C3504FF}"/>
              </a:ext>
            </a:extLst>
          </p:cNvPr>
          <p:cNvSpPr txBox="1"/>
          <p:nvPr/>
        </p:nvSpPr>
        <p:spPr>
          <a:xfrm>
            <a:off x="0" y="509286"/>
            <a:ext cx="66900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https://www.kraken.com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https://en.wikipedia.org/wiki/Kraken_(company)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https://docs.kraken.com/rest/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https://support.kraken.com/hc/en-us/sections/360003946512-Example-API-Code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CFF17-6F73-7014-B5A1-972FD9DD09A1}"/>
              </a:ext>
            </a:extLst>
          </p:cNvPr>
          <p:cNvSpPr txBox="1"/>
          <p:nvPr/>
        </p:nvSpPr>
        <p:spPr>
          <a:xfrm>
            <a:off x="0" y="1776684"/>
            <a:ext cx="609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Kraken</a:t>
            </a:r>
            <a:r>
              <a:rPr lang="en-US" sz="1400"/>
              <a:t> is a cryptocurrency exchange in San Francisco, CA since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Founded in 2011 by </a:t>
            </a:r>
            <a:r>
              <a:rPr lang="en-US" sz="1400" b="1">
                <a:solidFill>
                  <a:srgbClr val="00B050"/>
                </a:solidFill>
              </a:rPr>
              <a:t>Jesse Powell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14+ Mln users, 1000+ employees,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Support for 120+ different crypto currencies including Bitcoin, Ethereum (ether), Litecoin, Namecoin, Dogecoin, Ripple, Stellar, Cardano, Polkadot, Polygon, Solana, Sushi, Uniswap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Trading can be executed between digital assets, and between digital assets and national currencies like USD, EUR, GBP, CAD and JPY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544CE4-260E-F661-89C0-88B4D5D3990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46127" y="2440589"/>
            <a:ext cx="2058695" cy="3166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57052F-3339-C4A3-57E2-4C2DCCC75B0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4102" y="102637"/>
            <a:ext cx="1560720" cy="15919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9FF3C4-289F-8C82-5F1A-2597B69EF113}"/>
              </a:ext>
            </a:extLst>
          </p:cNvPr>
          <p:cNvSpPr txBox="1"/>
          <p:nvPr/>
        </p:nvSpPr>
        <p:spPr>
          <a:xfrm>
            <a:off x="10019080" y="5611872"/>
            <a:ext cx="2058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kraken is a legendary sea monster of enormous size said to appear off the coasts of Norway.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BB8598-50E9-6F94-D070-727FAD0D212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9852" y="102637"/>
            <a:ext cx="1690410" cy="20395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EE38EE-1A99-433D-4D12-D2DCB3E26CD6}"/>
              </a:ext>
            </a:extLst>
          </p:cNvPr>
          <p:cNvSpPr txBox="1"/>
          <p:nvPr/>
        </p:nvSpPr>
        <p:spPr>
          <a:xfrm>
            <a:off x="7679852" y="2136706"/>
            <a:ext cx="1690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 Jesse Powell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CF295C-9364-9856-BF30-79F02D5E990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9650" y="3571612"/>
            <a:ext cx="4492383" cy="31837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D1B042-CBFA-C060-A90E-BCF559314667}"/>
              </a:ext>
            </a:extLst>
          </p:cNvPr>
          <p:cNvSpPr txBox="1"/>
          <p:nvPr/>
        </p:nvSpPr>
        <p:spPr>
          <a:xfrm>
            <a:off x="102637" y="4099022"/>
            <a:ext cx="534291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sys, time, json, urllib.request</a:t>
            </a:r>
          </a:p>
          <a:p>
            <a:endParaRPr lang="en-US" sz="10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api_domain = "</a:t>
            </a:r>
            <a:r>
              <a:rPr lang="en-US" sz="100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https://api.kraken.com</a:t>
            </a:r>
            <a:r>
              <a:rPr lang="en-US" sz="10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r>
              <a:rPr lang="en-US" sz="100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...</a:t>
            </a:r>
          </a:p>
          <a:p>
            <a:endParaRPr lang="en-US" sz="1000">
              <a:solidFill>
                <a:srgbClr val="00B0F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api_data = "?pair=%(pair)s&amp;since=%(since)s" % {"pair":api_symbol, "since":api_start}</a:t>
            </a:r>
          </a:p>
          <a:p>
            <a:r>
              <a:rPr lang="en-US" sz="10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api_request = urllib.request.Request(api_domain + api_path + api_method + api_data)</a:t>
            </a:r>
          </a:p>
          <a:p>
            <a:r>
              <a:rPr lang="en-US" sz="100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api_data = urllib.request.urlopen(api_request).read()</a:t>
            </a:r>
          </a:p>
          <a:p>
            <a:r>
              <a:rPr lang="en-US" sz="100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...</a:t>
            </a:r>
          </a:p>
        </p:txBody>
      </p:sp>
    </p:spTree>
    <p:extLst>
      <p:ext uri="{BB962C8B-B14F-4D97-AF65-F5344CB8AC3E}">
        <p14:creationId xmlns:p14="http://schemas.microsoft.com/office/powerpoint/2010/main" val="1823628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10EDD-1316-6D4C-4930-BCFF121273CA}"/>
              </a:ext>
            </a:extLst>
          </p:cNvPr>
          <p:cNvSpPr txBox="1"/>
          <p:nvPr/>
        </p:nvSpPr>
        <p:spPr>
          <a:xfrm>
            <a:off x="-1" y="0"/>
            <a:ext cx="2072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Ripple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0E834-9C35-33AB-8443-28E59C3504FF}"/>
              </a:ext>
            </a:extLst>
          </p:cNvPr>
          <p:cNvSpPr txBox="1"/>
          <p:nvPr/>
        </p:nvSpPr>
        <p:spPr>
          <a:xfrm>
            <a:off x="0" y="509286"/>
            <a:ext cx="48985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2"/>
              </a:rPr>
              <a:t>https://en.wikipedia.org/wiki/Ripple_(payment_protocol)</a:t>
            </a:r>
            <a:r>
              <a:rPr lang="en-US" sz="120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3"/>
              </a:rPr>
              <a:t>https://en.wikipedia.org/wiki/Ripple_Labs</a:t>
            </a:r>
            <a:r>
              <a:rPr lang="en-US" sz="120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4"/>
              </a:rPr>
              <a:t>https://ripple.com</a:t>
            </a:r>
            <a:r>
              <a:rPr lang="en-US" sz="120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5"/>
              </a:rPr>
              <a:t>https://github.com/ripple/rippled</a:t>
            </a:r>
            <a:r>
              <a:rPr lang="en-US" sz="120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6"/>
              </a:rPr>
              <a:t>https://github.com/ripple/ripple-rest</a:t>
            </a:r>
            <a:r>
              <a:rPr lang="en-US" sz="1200"/>
              <a:t> - 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7"/>
              </a:rPr>
              <a:t>https://xrpl.org/get-started-using-python.html</a:t>
            </a:r>
            <a:r>
              <a:rPr lang="en-US" sz="1200"/>
              <a:t> - python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8"/>
              </a:rPr>
              <a:t>https://github.com/arsenlosenko/python-ripple-lib</a:t>
            </a:r>
            <a:r>
              <a:rPr lang="en-US" sz="1200"/>
              <a:t> 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CFF17-6F73-7014-B5A1-972FD9DD09A1}"/>
              </a:ext>
            </a:extLst>
          </p:cNvPr>
          <p:cNvSpPr txBox="1"/>
          <p:nvPr/>
        </p:nvSpPr>
        <p:spPr>
          <a:xfrm>
            <a:off x="0" y="2070620"/>
            <a:ext cx="674603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</a:t>
            </a:r>
            <a:r>
              <a:rPr lang="en-US" sz="1400"/>
              <a:t> ( RippleNet ) - a real-time gross settlement system, currency exchange and remittance global network. Used by 300+ binancial institutions (banks)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XRP</a:t>
            </a:r>
            <a:r>
              <a:rPr lang="en-US" sz="1400"/>
              <a:t> - native </a:t>
            </a:r>
            <a:r>
              <a:rPr lang="en-US" sz="1400" b="1">
                <a:solidFill>
                  <a:srgbClr val="00B050"/>
                </a:solidFill>
              </a:rPr>
              <a:t>Ripple</a:t>
            </a:r>
            <a:r>
              <a:rPr lang="en-US" sz="1400"/>
              <a:t> cryptocurrency, price ~ $0.76, in circulation ~48 Bln coins, traded on more than 700 markets, daily trade volume ~ $2 Bln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XRP transactions are confirmed in seconds with little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 </a:t>
            </a:r>
            <a:r>
              <a:rPr lang="en-US" sz="1400"/>
              <a:t>created by </a:t>
            </a:r>
            <a:r>
              <a:rPr lang="en-US" sz="1400" b="1">
                <a:solidFill>
                  <a:srgbClr val="00B050"/>
                </a:solidFill>
              </a:rPr>
              <a:t>Ripple Labs Inc.</a:t>
            </a:r>
            <a:r>
              <a:rPr lang="en-US" sz="1400"/>
              <a:t> (San Francisco, New York), ~ 670 employees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 </a:t>
            </a:r>
            <a:r>
              <a:rPr lang="en-US" sz="1400"/>
              <a:t>released in 2012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</a:t>
            </a:r>
            <a:r>
              <a:rPr lang="en-US" sz="1400"/>
              <a:t> is built upon a distributed open source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</a:t>
            </a:r>
            <a:r>
              <a:rPr lang="en-US" sz="1400"/>
              <a:t> supports tokens representing fiat currency, cryptocurrency, commodities, or other units of value such as frequent flier miles or mobile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</a:t>
            </a:r>
            <a:r>
              <a:rPr lang="en-US" sz="1400"/>
              <a:t> purports to enable "secure, instantly and nearly free global financial transactions of any size with no chargebacks"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Ripple</a:t>
            </a:r>
            <a:r>
              <a:rPr lang="en-US" sz="1400"/>
              <a:t> was conceived by Jed McCaleb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Original authors:  </a:t>
            </a:r>
            <a:r>
              <a:rPr lang="en-US" sz="1400" b="1">
                <a:solidFill>
                  <a:srgbClr val="00B050"/>
                </a:solidFill>
              </a:rPr>
              <a:t>Arthur Britto, David Schwartz, Ryan Fugger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Developed by Ripple Labs Inc., initial release 2012, written in  C++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9FF3C4-289F-8C82-5F1A-2597B69EF113}"/>
              </a:ext>
            </a:extLst>
          </p:cNvPr>
          <p:cNvSpPr txBox="1"/>
          <p:nvPr/>
        </p:nvSpPr>
        <p:spPr>
          <a:xfrm>
            <a:off x="6187951" y="6024443"/>
            <a:ext cx="18008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Jed McCaleb,</a:t>
            </a:r>
          </a:p>
          <a:p>
            <a:pPr algn="ctr"/>
            <a:r>
              <a:rPr lang="en-US" sz="1400"/>
              <a:t>founder of Ripple, </a:t>
            </a:r>
            <a:br>
              <a:rPr lang="en-US" sz="1400"/>
            </a:br>
            <a:r>
              <a:rPr lang="en-US" sz="1400"/>
              <a:t>co-founder of Stellar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026F5B-1D2F-723A-2E1D-4F67954CEC6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04557" y="23834"/>
            <a:ext cx="2966528" cy="8905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20B603-DE67-A95C-461D-E3E1E6F25081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8965" y="1033488"/>
            <a:ext cx="3346406" cy="2857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D02EFD-26FB-D446-EC0A-104614A7827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300" y="4712196"/>
            <a:ext cx="962111" cy="1312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B0F7C2-1ACC-8292-966A-4333B0867272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6635" y="4706753"/>
            <a:ext cx="964349" cy="13122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46198B3-FD8B-E671-C836-59F3797969C1}"/>
              </a:ext>
            </a:extLst>
          </p:cNvPr>
          <p:cNvSpPr txBox="1"/>
          <p:nvPr/>
        </p:nvSpPr>
        <p:spPr>
          <a:xfrm>
            <a:off x="7703827" y="6000789"/>
            <a:ext cx="1627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Arthur Britto</a:t>
            </a:r>
          </a:p>
          <a:p>
            <a:pPr algn="ctr"/>
            <a:r>
              <a:rPr lang="en-US" sz="1400"/>
              <a:t>founder of Ripple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B729C8D-2426-7368-9AD6-F84C9325EA1D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4376" y="4737594"/>
            <a:ext cx="962111" cy="126319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A7ECA15-94C9-7BCD-F883-F8C1A2A3F8D2}"/>
              </a:ext>
            </a:extLst>
          </p:cNvPr>
          <p:cNvSpPr txBox="1"/>
          <p:nvPr/>
        </p:nvSpPr>
        <p:spPr>
          <a:xfrm>
            <a:off x="9267703" y="6000789"/>
            <a:ext cx="1395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David Schwartz</a:t>
            </a:r>
          </a:p>
          <a:p>
            <a:pPr algn="ctr"/>
            <a:r>
              <a:rPr lang="en-US" sz="1400"/>
              <a:t>CTO of Ripple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61EE87F-7204-1A22-BE4E-EBBF5BF7A499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29877" y="4743037"/>
            <a:ext cx="1068992" cy="124715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046C6C3-0515-CFB5-A3C4-252EA181EB87}"/>
              </a:ext>
            </a:extLst>
          </p:cNvPr>
          <p:cNvSpPr txBox="1"/>
          <p:nvPr/>
        </p:nvSpPr>
        <p:spPr>
          <a:xfrm>
            <a:off x="10741792" y="6006232"/>
            <a:ext cx="1448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Ryan Fugger</a:t>
            </a:r>
          </a:p>
          <a:p>
            <a:pPr algn="ctr"/>
            <a:r>
              <a:rPr lang="en-US" sz="1400"/>
              <a:t>early consultant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AF74DF2-61DB-4932-3ED3-A9DD89002B46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2972" y="89548"/>
            <a:ext cx="1309401" cy="131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12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10EDD-1316-6D4C-4930-BCFF121273CA}"/>
              </a:ext>
            </a:extLst>
          </p:cNvPr>
          <p:cNvSpPr txBox="1"/>
          <p:nvPr/>
        </p:nvSpPr>
        <p:spPr>
          <a:xfrm>
            <a:off x="0" y="0"/>
            <a:ext cx="3447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Stellar &amp; Interstellar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0E834-9C35-33AB-8443-28E59C3504FF}"/>
              </a:ext>
            </a:extLst>
          </p:cNvPr>
          <p:cNvSpPr txBox="1"/>
          <p:nvPr/>
        </p:nvSpPr>
        <p:spPr>
          <a:xfrm>
            <a:off x="0" y="509286"/>
            <a:ext cx="66438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Open source payment protocol: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2"/>
              </a:rPr>
              <a:t>https://www.stellar.org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3"/>
              </a:rPr>
              <a:t>https://www.stellar.org/learn/intro-to-stellar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4"/>
              </a:rPr>
              <a:t>https://www.youtube.com/watch?v=-u2RCOWxKww</a:t>
            </a:r>
            <a:r>
              <a:rPr lang="en-US" sz="1400"/>
              <a:t> – good short video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5"/>
              </a:rPr>
              <a:t>https://github.com/stellar/stellar-core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6"/>
              </a:rPr>
              <a:t>https://developers.stellar.org/docs/software-and-sdks/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7"/>
              </a:rPr>
              <a:t>https://github.com/StellarCN/py-stellar-base/tree/master/examples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8"/>
              </a:rPr>
              <a:t>https://en.wikipedia.org/wiki/Stellar_(payment_network)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.. </a:t>
            </a:r>
            <a:r>
              <a:rPr lang="en-US" sz="1400">
                <a:hlinkClick r:id="rId9"/>
              </a:rPr>
              <a:t>https://interstellar.com</a:t>
            </a:r>
            <a:r>
              <a:rPr lang="en-US" sz="1400"/>
              <a:t> - Company </a:t>
            </a:r>
            <a:r>
              <a:rPr lang="en-US" sz="1400" b="1">
                <a:solidFill>
                  <a:srgbClr val="00B050"/>
                </a:solidFill>
              </a:rPr>
              <a:t>Interstellar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CFF17-6F73-7014-B5A1-972FD9DD09A1}"/>
              </a:ext>
            </a:extLst>
          </p:cNvPr>
          <p:cNvSpPr txBox="1"/>
          <p:nvPr/>
        </p:nvSpPr>
        <p:spPr>
          <a:xfrm>
            <a:off x="0" y="2681429"/>
            <a:ext cx="73311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Stellar</a:t>
            </a:r>
            <a:r>
              <a:rPr lang="en-US" sz="1400"/>
              <a:t>, or </a:t>
            </a:r>
            <a:r>
              <a:rPr lang="en-US" sz="1400" b="1">
                <a:solidFill>
                  <a:srgbClr val="00B050"/>
                </a:solidFill>
              </a:rPr>
              <a:t>Stellar Lumens tokens (XLM, 50 Bln in circulation)</a:t>
            </a:r>
            <a:r>
              <a:rPr lang="en-US" sz="1400"/>
              <a:t> is an open source (Apache), decentralized protocol (exchange) for digital currency to fiat money low-cost transfers, which allows cross-border transactions between any pair of currencies. You can create coins around anything (tokenize). Works like stable coins.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Stellar</a:t>
            </a:r>
            <a:r>
              <a:rPr lang="en-US" sz="1400"/>
              <a:t> is a decentralized exchange for crypto, forex, or securities. Users can swap between tokens using simple functions built into the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Stellar is a global public blockchain, a non-stock, non-profit corporation with no shareholders, no owners and no profit motive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In 2020 - over 4.8 million users and ~ 1 Bln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Release in 2014, original authors: Jed McCaleb; Joyce Kim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Written in: C++, Go, Java, JavaScript, Python, Ruby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Fast: 3 to 5-second settlements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Cheap: virtually no transaction fees ($1 for 100,000 transactions)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Scalable: process thousands of transactions per second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Compliant: built-in compliance layer and licensed partners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Secure: built-in security, best-in-class cryptographic techniques, and secure against 51%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Sustainable: green decentralization of the StellarConsensus protocol (</a:t>
            </a:r>
            <a:r>
              <a:rPr lang="en-US" sz="1400" b="1">
                <a:solidFill>
                  <a:srgbClr val="00B050"/>
                </a:solidFill>
              </a:rPr>
              <a:t>no mining or proof of stake</a:t>
            </a:r>
            <a:r>
              <a:rPr lang="en-US" sz="1400"/>
              <a:t> needed) - Federated Byzanntine Agreement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9FF3C4-289F-8C82-5F1A-2597B69EF113}"/>
              </a:ext>
            </a:extLst>
          </p:cNvPr>
          <p:cNvSpPr txBox="1"/>
          <p:nvPr/>
        </p:nvSpPr>
        <p:spPr>
          <a:xfrm>
            <a:off x="7331138" y="3419384"/>
            <a:ext cx="1800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B050"/>
                </a:solidFill>
              </a:rPr>
              <a:t>Jed McCaleb</a:t>
            </a:r>
            <a:r>
              <a:rPr lang="en-US" sz="1400"/>
              <a:t>,</a:t>
            </a:r>
          </a:p>
          <a:p>
            <a:pPr algn="ctr"/>
            <a:r>
              <a:rPr lang="en-US" sz="1400"/>
              <a:t>founder of Ripple, </a:t>
            </a:r>
            <a:br>
              <a:rPr lang="en-US" sz="1400"/>
            </a:br>
            <a:r>
              <a:rPr lang="en-US" sz="1400"/>
              <a:t>co-founder of </a:t>
            </a:r>
            <a:r>
              <a:rPr lang="en-US" sz="1400" b="1">
                <a:solidFill>
                  <a:srgbClr val="00B050"/>
                </a:solidFill>
              </a:rPr>
              <a:t>Stellar</a:t>
            </a:r>
            <a:r>
              <a:rPr lang="en-US" sz="1400"/>
              <a:t> and </a:t>
            </a:r>
            <a:r>
              <a:rPr lang="en-US" sz="1400" b="1">
                <a:solidFill>
                  <a:srgbClr val="00B050"/>
                </a:solidFill>
              </a:rPr>
              <a:t>Interstellar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D02EFD-26FB-D446-EC0A-104614A78278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0487" y="2107137"/>
            <a:ext cx="962111" cy="13122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BD77FA-5B73-68B2-5AB5-5E0F71F42CCB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7744" y="74646"/>
            <a:ext cx="3095501" cy="781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5651ED-5674-87BE-B2EA-9B9DB8D5414C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1881" y="2100790"/>
            <a:ext cx="1050309" cy="13185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4717E4-4B1C-E801-3F21-AF5EE6155580}"/>
              </a:ext>
            </a:extLst>
          </p:cNvPr>
          <p:cNvSpPr txBox="1"/>
          <p:nvPr/>
        </p:nvSpPr>
        <p:spPr>
          <a:xfrm>
            <a:off x="9009092" y="3440929"/>
            <a:ext cx="169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B050"/>
                </a:solidFill>
              </a:rPr>
              <a:t>Joyce Kim</a:t>
            </a:r>
            <a:r>
              <a:rPr lang="en-US" sz="1400"/>
              <a:t>, </a:t>
            </a:r>
            <a:br>
              <a:rPr lang="en-US" sz="1400"/>
            </a:br>
            <a:r>
              <a:rPr lang="en-US" sz="1400"/>
              <a:t>co-founder of </a:t>
            </a:r>
            <a:r>
              <a:rPr lang="en-US" sz="1400" b="1">
                <a:solidFill>
                  <a:srgbClr val="00B050"/>
                </a:solidFill>
              </a:rPr>
              <a:t>Stellar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6D2C18-C34A-EAAE-FA9B-B0ACA7B64B2A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0034" y="1161829"/>
            <a:ext cx="3519343" cy="6331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11F69C-1C39-E95F-E9A5-1B31ACAFDEE7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78988" y="2121037"/>
            <a:ext cx="1009656" cy="13079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7A1FFF-D3CD-BF8F-53E9-B25876C35927}"/>
              </a:ext>
            </a:extLst>
          </p:cNvPr>
          <p:cNvSpPr txBox="1"/>
          <p:nvPr/>
        </p:nvSpPr>
        <p:spPr>
          <a:xfrm>
            <a:off x="10787415" y="3429000"/>
            <a:ext cx="1399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B050"/>
                </a:solidFill>
              </a:rPr>
              <a:t>Mike Kennedy</a:t>
            </a:r>
          </a:p>
          <a:p>
            <a:pPr algn="ctr"/>
            <a:r>
              <a:rPr lang="en-US" sz="1400"/>
              <a:t>CEO, </a:t>
            </a:r>
            <a:r>
              <a:rPr lang="en-US" sz="1400" b="1">
                <a:solidFill>
                  <a:srgbClr val="00B050"/>
                </a:solidFill>
              </a:rPr>
              <a:t>Interstellar</a:t>
            </a:r>
          </a:p>
        </p:txBody>
      </p:sp>
    </p:spTree>
    <p:extLst>
      <p:ext uri="{BB962C8B-B14F-4D97-AF65-F5344CB8AC3E}">
        <p14:creationId xmlns:p14="http://schemas.microsoft.com/office/powerpoint/2010/main" val="851578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FA91D7-B506-539E-10C5-FA01AC7A649F}"/>
              </a:ext>
            </a:extLst>
          </p:cNvPr>
          <p:cNvSpPr txBox="1"/>
          <p:nvPr/>
        </p:nvSpPr>
        <p:spPr>
          <a:xfrm>
            <a:off x="0" y="0"/>
            <a:ext cx="2659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Crypto ATM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2485C-F55A-A5C5-C9EA-19A8FFA5C14A}"/>
              </a:ext>
            </a:extLst>
          </p:cNvPr>
          <p:cNvSpPr txBox="1"/>
          <p:nvPr/>
        </p:nvSpPr>
        <p:spPr>
          <a:xfrm>
            <a:off x="0" y="534364"/>
            <a:ext cx="43480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crypto ATM is an Internet-connected kiosk that allows customers to purchase bitcoins and/or other cryptocurrencies with deposited cash and make blockchain-based transactions that send cryptocurrencies to the user's digital wallet, often via the use of a QR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There are currently (Summer 2021) more than 14,000 bitcoin ATMs in operation around the world.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bitcoin ATM is not the same as an automated teller machine (ATM) that allows bank customers to physically withdraw, deposit, or transfer funds in one's bank account.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AF214-85CA-D21E-7320-0CBC459EE6A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4905" y="123112"/>
            <a:ext cx="3094000" cy="39543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3CB1FB-66A2-0280-42C8-A1E020EAF0A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6122" y="123112"/>
            <a:ext cx="2327815" cy="3954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09FA30-F941-A056-3CBD-2D9804B89D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42" y="3369853"/>
            <a:ext cx="4978911" cy="3402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6BDA42-012E-19F1-6188-0698AE2AC3C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6122" y="4373901"/>
            <a:ext cx="2327814" cy="239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35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88A64B-BA51-D958-1AEE-4763C4B65785}"/>
              </a:ext>
            </a:extLst>
          </p:cNvPr>
          <p:cNvSpPr txBox="1"/>
          <p:nvPr/>
        </p:nvSpPr>
        <p:spPr>
          <a:xfrm>
            <a:off x="285134" y="1406013"/>
            <a:ext cx="6518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https://www.kucoin.com/</a:t>
            </a:r>
          </a:p>
          <a:p>
            <a:endParaRPr lang="en-US"/>
          </a:p>
          <a:p>
            <a:r>
              <a:rPr lang="en-US"/>
              <a:t>1 Out of 4 Crypto Holders Worldwide Is with KuCoin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DB3B14-AD24-E8DE-DC14-8C1F3B686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0"/>
            <a:ext cx="3162300" cy="800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3DF63E-CFA0-0206-2D49-FE30E4B64B25}"/>
              </a:ext>
            </a:extLst>
          </p:cNvPr>
          <p:cNvSpPr txBox="1"/>
          <p:nvPr/>
        </p:nvSpPr>
        <p:spPr>
          <a:xfrm>
            <a:off x="127819" y="117987"/>
            <a:ext cx="14060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KuCoin</a:t>
            </a:r>
          </a:p>
        </p:txBody>
      </p:sp>
    </p:spTree>
    <p:extLst>
      <p:ext uri="{BB962C8B-B14F-4D97-AF65-F5344CB8AC3E}">
        <p14:creationId xmlns:p14="http://schemas.microsoft.com/office/powerpoint/2010/main" val="3927179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D228F9-69E9-C9FC-C60F-078C9232D240}"/>
              </a:ext>
            </a:extLst>
          </p:cNvPr>
          <p:cNvSpPr txBox="1"/>
          <p:nvPr/>
        </p:nvSpPr>
        <p:spPr>
          <a:xfrm>
            <a:off x="81280" y="91440"/>
            <a:ext cx="574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Cryptocurrency exchange / swap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663493-9CCC-0B63-8C42-C44D7D0401CC}"/>
              </a:ext>
            </a:extLst>
          </p:cNvPr>
          <p:cNvSpPr txBox="1"/>
          <p:nvPr/>
        </p:nvSpPr>
        <p:spPr>
          <a:xfrm>
            <a:off x="81280" y="914797"/>
            <a:ext cx="84023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You can buy Ethereum with Bitcoin on nearly any cryptocurrency exchange. </a:t>
            </a:r>
          </a:p>
          <a:p>
            <a:r>
              <a:rPr lang="en-US" sz="1400"/>
              <a:t>This is because </a:t>
            </a:r>
            <a:r>
              <a:rPr lang="en-US" sz="1400" b="1">
                <a:solidFill>
                  <a:srgbClr val="00B050"/>
                </a:solidFill>
              </a:rPr>
              <a:t>most of the global Ethereum trading volume</a:t>
            </a:r>
            <a:r>
              <a:rPr lang="en-US" sz="1400"/>
              <a:t> is actually </a:t>
            </a:r>
          </a:p>
          <a:p>
            <a:r>
              <a:rPr lang="en-US" sz="1400" b="1">
                <a:solidFill>
                  <a:srgbClr val="00B050"/>
                </a:solidFill>
              </a:rPr>
              <a:t>done in the ETH/BTC pair</a:t>
            </a:r>
            <a:r>
              <a:rPr lang="en-US" sz="1400"/>
              <a:t>, and not the ETH/USD pair.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Coinbase – convert - </a:t>
            </a:r>
            <a:r>
              <a:rPr lang="en-US" sz="1400">
                <a:hlinkClick r:id="rId2"/>
              </a:rPr>
              <a:t>https://www.youtube.com/watch?v=bzLd7V2ZLp8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BitPay does not directly buy or sell cryptocurrency, therefore, if you want to sell your cryptocurrency (cash your funds out), you need to do it with a third party (an exchange). </a:t>
            </a:r>
            <a:br>
              <a:rPr lang="en-US" sz="1400"/>
            </a:br>
            <a:r>
              <a:rPr lang="en-US" sz="1400"/>
              <a:t>BitPay can convert Crypto to regular currency - </a:t>
            </a:r>
            <a:r>
              <a:rPr lang="en-US" sz="1400">
                <a:hlinkClick r:id="rId3"/>
              </a:rPr>
              <a:t>https://bitpay.com/exchange-rates/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https://medium.com/@mark.lasia/how-to-exchange-bitcoin-and-tokens-into-eth-ether-with-shapeshift-io-6a326b339c12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https://www.buybitcoinworldwide.com/ethereum/buy/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https://letsexchange.io/exchange/btc-to-eth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7"/>
              </a:rPr>
              <a:t>https://simpleswap.io/crypto-to-crypto/btc-eth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8"/>
              </a:rPr>
              <a:t>https://liquality.io/blog/atomic-swaps-explained/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9"/>
              </a:rPr>
              <a:t>https://liquality.io/blog/hash-time-locked-contracts-htlcs-explained/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etc.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5A62C-0D73-F9D5-0625-C916AA89DB22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2080" y="3933984"/>
            <a:ext cx="5302250" cy="17832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A0BC28-F265-10D1-C05B-CB42689C0F6B}"/>
              </a:ext>
            </a:extLst>
          </p:cNvPr>
          <p:cNvSpPr txBox="1"/>
          <p:nvPr/>
        </p:nvSpPr>
        <p:spPr>
          <a:xfrm>
            <a:off x="7304405" y="5811272"/>
            <a:ext cx="365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FF0000"/>
                </a:solidFill>
              </a:rPr>
              <a:t>Atomic Swaps</a:t>
            </a:r>
            <a:r>
              <a:rPr lang="en-US" sz="1400"/>
              <a:t> - Swapping Cryptocurrencies Without Trusted Third Party Mediation</a:t>
            </a:r>
          </a:p>
          <a:p>
            <a:pPr algn="ctr"/>
            <a:r>
              <a:rPr lang="en-US" sz="1400"/>
              <a:t>using programmable Escrows</a:t>
            </a:r>
          </a:p>
          <a:p>
            <a:pPr algn="ctr"/>
            <a:r>
              <a:rPr lang="en-US" sz="1400"/>
              <a:t>(</a:t>
            </a:r>
            <a:r>
              <a:rPr lang="en-US" sz="1400" b="1">
                <a:solidFill>
                  <a:srgbClr val="FF0000"/>
                </a:solidFill>
              </a:rPr>
              <a:t>HTLCs</a:t>
            </a:r>
            <a:r>
              <a:rPr lang="en-US" sz="1400"/>
              <a:t> = Hash Time Locked Contracts)</a:t>
            </a:r>
          </a:p>
        </p:txBody>
      </p:sp>
    </p:spTree>
    <p:extLst>
      <p:ext uri="{BB962C8B-B14F-4D97-AF65-F5344CB8AC3E}">
        <p14:creationId xmlns:p14="http://schemas.microsoft.com/office/powerpoint/2010/main" val="3838443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A1FCE-DD4B-A042-906F-76F39117A3B3}"/>
              </a:ext>
            </a:extLst>
          </p:cNvPr>
          <p:cNvSpPr txBox="1"/>
          <p:nvPr/>
        </p:nvSpPr>
        <p:spPr>
          <a:xfrm>
            <a:off x="49210" y="69807"/>
            <a:ext cx="4111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Blockchain networks, platforms, companies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399CB41-6EBC-9D4C-A7D9-FC93916B3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11618" y="2471530"/>
            <a:ext cx="5344601" cy="4333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ADF98E-3192-CF44-807F-8E4F220DCA9B}"/>
              </a:ext>
            </a:extLst>
          </p:cNvPr>
          <p:cNvSpPr txBox="1"/>
          <p:nvPr/>
        </p:nvSpPr>
        <p:spPr>
          <a:xfrm>
            <a:off x="238301" y="3429001"/>
            <a:ext cx="29819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Some Blockchain Platforms: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IBM Blockchain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Corda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Ethereum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MultiChain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Tron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Stellar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B3B17-1FBD-884B-9538-0ECB4A0FCCA3}"/>
              </a:ext>
            </a:extLst>
          </p:cNvPr>
          <p:cNvSpPr txBox="1"/>
          <p:nvPr/>
        </p:nvSpPr>
        <p:spPr>
          <a:xfrm>
            <a:off x="3963463" y="1610726"/>
            <a:ext cx="269067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Some Blockchain companies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BRD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BitMEX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Chainalysis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Coinme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Netki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Paxful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Republic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Spring Labs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SALT Lending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TQ Tezos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Mythical Games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Gemini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Circle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Coinbase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Chronicled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IBM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Voatz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Steem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Shipchain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3C2FD8-EDB1-AD4B-B6D9-6E12B73FCA8D}"/>
              </a:ext>
            </a:extLst>
          </p:cNvPr>
          <p:cNvSpPr txBox="1"/>
          <p:nvPr/>
        </p:nvSpPr>
        <p:spPr>
          <a:xfrm>
            <a:off x="132281" y="1610726"/>
            <a:ext cx="34853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Number of nodes (2022):</a:t>
            </a:r>
          </a:p>
          <a:p>
            <a:r>
              <a:rPr lang="en-US" sz="1400"/>
              <a:t>Bitcoin: ~50K (15K+ full nodes)</a:t>
            </a:r>
          </a:p>
          <a:p>
            <a:r>
              <a:rPr lang="en-US" sz="1400"/>
              <a:t>Ethereum: 300,000 validators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3BDF1-1CEC-894B-AB05-D966FABE58C8}"/>
              </a:ext>
            </a:extLst>
          </p:cNvPr>
          <p:cNvSpPr txBox="1"/>
          <p:nvPr/>
        </p:nvSpPr>
        <p:spPr>
          <a:xfrm>
            <a:off x="7399037" y="237736"/>
            <a:ext cx="3653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Page Under Construction</a:t>
            </a:r>
          </a:p>
        </p:txBody>
      </p:sp>
    </p:spTree>
    <p:extLst>
      <p:ext uri="{BB962C8B-B14F-4D97-AF65-F5344CB8AC3E}">
        <p14:creationId xmlns:p14="http://schemas.microsoft.com/office/powerpoint/2010/main" val="318450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A39176-FA2B-9246-8D00-D1A0EA6E401F}"/>
              </a:ext>
            </a:extLst>
          </p:cNvPr>
          <p:cNvSpPr txBox="1"/>
          <p:nvPr/>
        </p:nvSpPr>
        <p:spPr>
          <a:xfrm>
            <a:off x="150182" y="875113"/>
            <a:ext cx="58403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public blockchains </a:t>
            </a:r>
          </a:p>
          <a:p>
            <a:r>
              <a:rPr lang="en-US" sz="1400"/>
              <a:t> - </a:t>
            </a:r>
            <a:r>
              <a:rPr lang="en-US" sz="1400">
                <a:hlinkClick r:id="rId2"/>
              </a:rPr>
              <a:t>https://www.gartner.com/reviews/market/blockchain-platforms</a:t>
            </a:r>
            <a:br>
              <a:rPr lang="en-US" sz="1400"/>
            </a:br>
            <a:r>
              <a:rPr lang="en-US" sz="1400"/>
              <a:t>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BitCoin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Etherium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Solana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IBM Blockchain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Hyperledger Fabric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Binance Smart 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NEO (Antshares)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WAVES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EOS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Stellar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Monero (XMR)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Bitcoin Cash (BCH)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Ripple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74376-AD05-2F45-9420-4C26424E1C57}"/>
              </a:ext>
            </a:extLst>
          </p:cNvPr>
          <p:cNvSpPr txBox="1"/>
          <p:nvPr/>
        </p:nvSpPr>
        <p:spPr>
          <a:xfrm>
            <a:off x="0" y="1"/>
            <a:ext cx="2255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Blockchains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BCEAE-1020-494D-89D9-4A6C377FDC36}"/>
              </a:ext>
            </a:extLst>
          </p:cNvPr>
          <p:cNvSpPr txBox="1"/>
          <p:nvPr/>
        </p:nvSpPr>
        <p:spPr>
          <a:xfrm>
            <a:off x="6940062" y="181232"/>
            <a:ext cx="3751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Page Under Construction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26E3C8-B514-A64C-9D4A-B87145CB2209}"/>
              </a:ext>
            </a:extLst>
          </p:cNvPr>
          <p:cNvSpPr txBox="1"/>
          <p:nvPr/>
        </p:nvSpPr>
        <p:spPr>
          <a:xfrm>
            <a:off x="8280187" y="2638639"/>
            <a:ext cx="33351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private blockchains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consortium blockchains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hybrid blockchains</a:t>
            </a:r>
          </a:p>
        </p:txBody>
      </p:sp>
    </p:spTree>
    <p:extLst>
      <p:ext uri="{BB962C8B-B14F-4D97-AF65-F5344CB8AC3E}">
        <p14:creationId xmlns:p14="http://schemas.microsoft.com/office/powerpoint/2010/main" val="2980302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2B39B7-663E-0642-977D-B9B9782FACDC}"/>
              </a:ext>
            </a:extLst>
          </p:cNvPr>
          <p:cNvSpPr txBox="1"/>
          <p:nvPr/>
        </p:nvSpPr>
        <p:spPr>
          <a:xfrm>
            <a:off x="0" y="0"/>
            <a:ext cx="4367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Pay for Goods using Crypto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070B8-0295-424C-830B-078672165267}"/>
              </a:ext>
            </a:extLst>
          </p:cNvPr>
          <p:cNvSpPr txBox="1"/>
          <p:nvPr/>
        </p:nvSpPr>
        <p:spPr>
          <a:xfrm>
            <a:off x="0" y="1095295"/>
            <a:ext cx="31394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Some companies already accept crypto, </a:t>
            </a:r>
          </a:p>
          <a:p>
            <a:r>
              <a:rPr lang="en-US" sz="1400"/>
              <a:t>for example:</a:t>
            </a:r>
          </a:p>
          <a:p>
            <a:endParaRPr lang="en-US" sz="1400"/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AT&amp;T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CheapAir.com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Dallas Mavericks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Etsy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Home Depot (using Flexa)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Lush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Microsoft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Namecheap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Newegg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Overstock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Pacsun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PayPal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Rakuten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Starbucks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Tesla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Travala.com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Twitch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Whole Foods (using Flexa)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Wikipedia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51173-DC20-2945-A7BF-CD3438517792}"/>
              </a:ext>
            </a:extLst>
          </p:cNvPr>
          <p:cNvSpPr txBox="1"/>
          <p:nvPr/>
        </p:nvSpPr>
        <p:spPr>
          <a:xfrm>
            <a:off x="6555699" y="109171"/>
            <a:ext cx="56363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Amazon doesn't accept crypto yet (beginning of 2022),</a:t>
            </a:r>
          </a:p>
          <a:p>
            <a:r>
              <a:rPr lang="en-US" sz="1400"/>
              <a:t>but you can use a debit or gift card. </a:t>
            </a:r>
          </a:p>
          <a:p>
            <a:r>
              <a:rPr lang="en-US" sz="1400"/>
              <a:t>Load them on BitPay: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BitPay debit card</a:t>
            </a:r>
            <a:r>
              <a:rPr lang="en-US" sz="1400"/>
              <a:t> – can be loaded using Bitcoin, Dogecoin, Ethereum, Bitcoin Cash, etc.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Amazon gift card</a:t>
            </a:r>
            <a:r>
              <a:rPr lang="en-US" sz="1400"/>
              <a:t> – can be purchased directly in the BitPay Wallet app or Extension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C695F-28B7-BC46-A9C7-5E0793F41F0B}"/>
              </a:ext>
            </a:extLst>
          </p:cNvPr>
          <p:cNvSpPr txBox="1"/>
          <p:nvPr/>
        </p:nvSpPr>
        <p:spPr>
          <a:xfrm>
            <a:off x="3768435" y="4033521"/>
            <a:ext cx="35098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BitPay accepts invoice payments in: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Bitcoin (BTC),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Bitcoin Cash (BCH),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Ethereum (ETH),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Wrapped Bitcoin (</a:t>
            </a:r>
            <a:r>
              <a:rPr lang="en-US" sz="1400" i="1"/>
              <a:t>WBTC</a:t>
            </a:r>
            <a:r>
              <a:rPr lang="en-US" sz="1400"/>
              <a:t>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Dogecoin (DOGE),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Litecoin (LTC),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Shiba Inu Coin (SHIB)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5 USD-pegged stablecoins (GUSD, USDC, USDP, DAI, BUSD)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4B220-9855-0F40-8A2F-2BDA40F76211}"/>
              </a:ext>
            </a:extLst>
          </p:cNvPr>
          <p:cNvSpPr txBox="1"/>
          <p:nvPr/>
        </p:nvSpPr>
        <p:spPr>
          <a:xfrm>
            <a:off x="8801329" y="3671065"/>
            <a:ext cx="27986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BitPay count by wallet: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BitPay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Trust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Exodus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Coinbase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Electrum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Metamask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Blockchain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Ledger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Coinbase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BitcoinCore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Other</a:t>
            </a:r>
          </a:p>
        </p:txBody>
      </p:sp>
    </p:spTree>
    <p:extLst>
      <p:ext uri="{BB962C8B-B14F-4D97-AF65-F5344CB8AC3E}">
        <p14:creationId xmlns:p14="http://schemas.microsoft.com/office/powerpoint/2010/main" val="575961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B644D5-D539-834F-9C14-7D8C99ADDADD}"/>
              </a:ext>
            </a:extLst>
          </p:cNvPr>
          <p:cNvSpPr txBox="1"/>
          <p:nvPr/>
        </p:nvSpPr>
        <p:spPr>
          <a:xfrm>
            <a:off x="1" y="74435"/>
            <a:ext cx="299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The Giving Block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BC63F-67BA-1E45-BBA2-8A6F591284ED}"/>
              </a:ext>
            </a:extLst>
          </p:cNvPr>
          <p:cNvSpPr txBox="1"/>
          <p:nvPr/>
        </p:nvSpPr>
        <p:spPr>
          <a:xfrm>
            <a:off x="84083" y="1205406"/>
            <a:ext cx="895481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Helps to accept donations in Bitcoin, Ethereum, etc.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Automatic conversion to US Dollars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Marketing support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Founded in 2018, Washington DC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1000+ nonprofits use it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2"/>
              </a:rPr>
              <a:t>https://thegivingblock.com/resources/nonprofits-accepting-crypto-donations/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Donors get big tax incentive when donating cryptocurrencies directly to nonprofits.</a:t>
            </a:r>
            <a:br>
              <a:rPr lang="en-US" sz="1400"/>
            </a:br>
            <a:r>
              <a:rPr lang="en-US" sz="1400"/>
              <a:t>The IRS classifies cryptocurrencies as property, so cryptocurrency donations to 501c3 charities receive the same tax treatment as stocks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Community to raise awareness of crypto’s potential to fuel social good causes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Viral campaigns that empower nonprofits to connect with this new pool of donors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A16BC-E03E-7F4E-AA47-045CE41887E6}"/>
              </a:ext>
            </a:extLst>
          </p:cNvPr>
          <p:cNvSpPr txBox="1"/>
          <p:nvPr/>
        </p:nvSpPr>
        <p:spPr>
          <a:xfrm>
            <a:off x="84083" y="697646"/>
            <a:ext cx="3363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 - </a:t>
            </a:r>
            <a:r>
              <a:rPr lang="en-US" sz="1400">
                <a:hlinkClick r:id="rId3"/>
              </a:rPr>
              <a:t>https://thegivingblock.com</a:t>
            </a:r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117C1-F096-094B-9743-2554AAEF93B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1944" y="17769"/>
            <a:ext cx="3942256" cy="105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1149F3-0D2C-2D4E-927C-8821AB37DA34}"/>
              </a:ext>
            </a:extLst>
          </p:cNvPr>
          <p:cNvSpPr txBox="1"/>
          <p:nvPr/>
        </p:nvSpPr>
        <p:spPr>
          <a:xfrm>
            <a:off x="409905" y="4666593"/>
            <a:ext cx="64533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Example:</a:t>
            </a:r>
          </a:p>
          <a:p>
            <a:r>
              <a:rPr lang="en-US" sz="1400"/>
              <a:t>Action Against Hunger USA</a:t>
            </a:r>
          </a:p>
          <a:p>
            <a:r>
              <a:rPr lang="en-US" sz="1400"/>
              <a:t>Accepts regular payments on their website: </a:t>
            </a:r>
          </a:p>
          <a:p>
            <a:r>
              <a:rPr lang="en-US" sz="1400"/>
              <a:t>   </a:t>
            </a:r>
            <a:r>
              <a:rPr lang="en-US" sz="1400">
                <a:hlinkClick r:id="rId5"/>
              </a:rPr>
              <a:t>https://www.actionagainsthunger.org/</a:t>
            </a:r>
            <a:endParaRPr lang="en-US" sz="1400"/>
          </a:p>
          <a:p>
            <a:r>
              <a:rPr lang="en-US" sz="1400"/>
              <a:t>   </a:t>
            </a:r>
            <a:r>
              <a:rPr lang="en-US" sz="1400">
                <a:hlinkClick r:id="rId6"/>
              </a:rPr>
              <a:t>https://www.actionagainsthunger.org/story/donate-crypto</a:t>
            </a:r>
            <a:endParaRPr lang="en-US" sz="1400"/>
          </a:p>
          <a:p>
            <a:r>
              <a:rPr lang="en-US" sz="1400"/>
              <a:t>   </a:t>
            </a:r>
            <a:r>
              <a:rPr lang="en-US" sz="1400">
                <a:hlinkClick r:id="rId7"/>
              </a:rPr>
              <a:t>https://thegivingblock.com/donate/action-against-hunger/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90195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7AC37B-D0A2-5941-96C7-EA0BABBA3D90}"/>
              </a:ext>
            </a:extLst>
          </p:cNvPr>
          <p:cNvSpPr txBox="1"/>
          <p:nvPr/>
        </p:nvSpPr>
        <p:spPr>
          <a:xfrm>
            <a:off x="0" y="0"/>
            <a:ext cx="5394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How to Accept Donations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1532A-2686-DE49-816A-E5660674E37B}"/>
              </a:ext>
            </a:extLst>
          </p:cNvPr>
          <p:cNvSpPr txBox="1"/>
          <p:nvPr/>
        </p:nvSpPr>
        <p:spPr>
          <a:xfrm>
            <a:off x="0" y="1051394"/>
            <a:ext cx="62280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Most donations are in Bitcoin (~90%)</a:t>
            </a:r>
          </a:p>
          <a:p>
            <a:r>
              <a:rPr lang="en-US" sz="1400"/>
              <a:t>Big websites have wizards to create donation pages: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Coinbase Commerce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 - https://www.coinbase.com/learn/crypto-basics/how-to-donate-crypto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BitPay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https://bitpay.com/docs/donations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488BC-4A06-044C-A7AB-ECD4411ADAEF}"/>
              </a:ext>
            </a:extLst>
          </p:cNvPr>
          <p:cNvSpPr txBox="1"/>
          <p:nvPr/>
        </p:nvSpPr>
        <p:spPr>
          <a:xfrm>
            <a:off x="7409792" y="358897"/>
            <a:ext cx="4677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is private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can have tax advantages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donations can be cheaper for organizations to process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Stablecoins can make crypto giving less volatile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Which nonprofits accept crypto</a:t>
            </a:r>
          </a:p>
        </p:txBody>
      </p:sp>
    </p:spTree>
    <p:extLst>
      <p:ext uri="{BB962C8B-B14F-4D97-AF65-F5344CB8AC3E}">
        <p14:creationId xmlns:p14="http://schemas.microsoft.com/office/powerpoint/2010/main" val="3903701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FD3481-71DD-A043-81E0-6786FB048030}"/>
              </a:ext>
            </a:extLst>
          </p:cNvPr>
          <p:cNvSpPr txBox="1"/>
          <p:nvPr/>
        </p:nvSpPr>
        <p:spPr>
          <a:xfrm>
            <a:off x="1" y="1"/>
            <a:ext cx="2062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BitPay API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26620-AAB0-664C-90D6-DE3EA0793581}"/>
              </a:ext>
            </a:extLst>
          </p:cNvPr>
          <p:cNvSpPr txBox="1"/>
          <p:nvPr/>
        </p:nvSpPr>
        <p:spPr>
          <a:xfrm>
            <a:off x="8962516" y="149856"/>
            <a:ext cx="2835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You can use REST API:</a:t>
            </a:r>
            <a:endParaRPr lang="en-US" sz="1400">
              <a:hlinkClick r:id="rId2"/>
            </a:endParaRPr>
          </a:p>
          <a:p>
            <a:r>
              <a:rPr lang="en-US" sz="1400">
                <a:hlinkClick r:id="rId2"/>
              </a:rPr>
              <a:t>https://bitpay.com/api/#rest-api</a:t>
            </a:r>
            <a:r>
              <a:rPr lang="en-US" sz="140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3A2C03-C52B-B04E-9EF2-624F315CCB47}"/>
              </a:ext>
            </a:extLst>
          </p:cNvPr>
          <p:cNvSpPr txBox="1"/>
          <p:nvPr/>
        </p:nvSpPr>
        <p:spPr>
          <a:xfrm>
            <a:off x="8962516" y="3726491"/>
            <a:ext cx="3047818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bitpay.client import Client </a:t>
            </a:r>
          </a:p>
          <a:p>
            <a:endParaRPr lang="en-US" sz="1000" b="1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myurl = "https://bitpay.com"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myurl = </a:t>
            </a:r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"https://test.bitpay.com"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client = Client(api_uri=myurl)</a:t>
            </a:r>
            <a:endParaRPr lang="en-US" sz="1000" b="1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client.pair_pos_client("abcdefg")</a:t>
            </a:r>
            <a:r>
              <a:rPr lang="en-US" sz="1000" b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0956A-15D3-7C4E-B475-A8F2125421D0}"/>
              </a:ext>
            </a:extLst>
          </p:cNvPr>
          <p:cNvSpPr txBox="1"/>
          <p:nvPr/>
        </p:nvSpPr>
        <p:spPr>
          <a:xfrm>
            <a:off x="91439" y="585617"/>
            <a:ext cx="58926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To accept payments via BitPay you need to create a business BitPay account </a:t>
            </a:r>
          </a:p>
          <a:p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and link your business bank account to it.</a:t>
            </a:r>
          </a:p>
          <a:p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Then you get BitPay or test.bitpay merchant account. </a:t>
            </a:r>
          </a:p>
          <a:p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You can start 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  <a:hlinkClick r:id="rId3"/>
              </a:rPr>
              <a:t>https://bitpay.com/dashboard/signup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  <a:hlinkClick r:id="rId4"/>
              </a:rPr>
              <a:t>https://github.com/bitpay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  - 200+ repositories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  <a:hlinkClick r:id="rId5"/>
              </a:rPr>
              <a:t>https://github.com/warpi/BitPay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 - android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  <a:hlinkClick r:id="rId6"/>
              </a:rPr>
              <a:t>https://github.com/bitpay/python-bitpay-client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 – bitpay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D65544-4E36-654D-BB47-823ABA35412A}"/>
              </a:ext>
            </a:extLst>
          </p:cNvPr>
          <p:cNvSpPr txBox="1"/>
          <p:nvPr/>
        </p:nvSpPr>
        <p:spPr>
          <a:xfrm>
            <a:off x="56715" y="3029036"/>
            <a:ext cx="81119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pip3 install bitpay</a:t>
            </a:r>
            <a:endParaRPr lang="en-US" sz="10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bitpay </a:t>
            </a:r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client config env exceptions models tokens utils</a:t>
            </a:r>
          </a:p>
          <a:p>
            <a:endParaRPr lang="en-US" sz="100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bitpay.client 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                                 LedgerEntry                          Rate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BillCreationException                LedgerQueryException                 RateQueryException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BillDeliveryException                os                                   Rates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BillQueryException                   Payout                               Refund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BillUpdateException                  PayoutBatch                          RefundCancellationException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BitPayException                      PayoutBatchCancellationException     RefundCreationException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Client                               PayoutBatchCreationException         RefundNotificationException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Config                               PayoutBatchNotificationException     RefundQueryException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Currency                             PayoutBatchQueryException            RefundUpdateException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CurrencyQueryException               PayoutCancellationException          RESTcli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Facade                               PayoutCreationException              Settlement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                              PayoutNotificationException          SettlementQueryException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InvoiceCancellationException         PayoutQueryException                 Subscription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InvoiceCreationException             PayoutRecipient                      SubscriptionCreationException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InvoiceNotificationException         PayoutRecipientCancellationException SubscriptionQueryException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InvoicePaymentException              PayoutRecipientCreationException     SubscriptionUpdateException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InvoiceQueryException                PayoutRecipientNotificationException Tokens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InvoiceUpdateException               PayoutRecipientQueryException        Wallet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json                                 PayoutRecipients                     WalletQueryException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Ledger                               PayoutRecipientUpdateException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18FC6-A66E-644B-BA8A-992616006403}"/>
              </a:ext>
            </a:extLst>
          </p:cNvPr>
          <p:cNvSpPr txBox="1"/>
          <p:nvPr/>
        </p:nvSpPr>
        <p:spPr>
          <a:xfrm>
            <a:off x="8947434" y="751834"/>
            <a:ext cx="3059961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curl -X POST \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-H "X-Accept-Version: 2.0.0" \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-H "Content-Type: application/json" \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--url "https://bitpay.com/tokens" \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-d @- &lt;&lt;'EOF'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"id":"someID",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"label": "merchantwebsite.com",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"facade":"merchant"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EOF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46333-8613-9240-A82A-B25B9B5F207D}"/>
              </a:ext>
            </a:extLst>
          </p:cNvPr>
          <p:cNvSpPr txBox="1"/>
          <p:nvPr/>
        </p:nvSpPr>
        <p:spPr>
          <a:xfrm>
            <a:off x="7609841" y="2580136"/>
            <a:ext cx="458215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Alternatively you can use "</a:t>
            </a:r>
            <a:r>
              <a:rPr lang="en-US" sz="1400" b="1">
                <a:solidFill>
                  <a:srgbClr val="00B0F0"/>
                </a:solidFill>
              </a:rPr>
              <a:t>bitpay</a:t>
            </a:r>
            <a:r>
              <a:rPr lang="en-US" sz="1400"/>
              <a:t>" module which allows you 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to implement blockchain payments on your e-commerce website, authenticate with BitPay, create/retrieve invoices.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>
                <a:ea typeface="Menlo" panose="020B0609030804020204" pitchFamily="49" charset="0"/>
                <a:cs typeface="Menlo" panose="020B0609030804020204" pitchFamily="49" charset="0"/>
                <a:hlinkClick r:id="rId7"/>
              </a:rPr>
              <a:t>https://bitpay.com/integrations/python</a:t>
            </a:r>
            <a:r>
              <a:rPr lang="en-US" sz="105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>
                <a:ea typeface="Menlo" panose="020B0609030804020204" pitchFamily="49" charset="0"/>
                <a:cs typeface="Menlo" panose="020B0609030804020204" pitchFamily="49" charset="0"/>
                <a:hlinkClick r:id="rId8"/>
              </a:rPr>
              <a:t>https://github.com/bitpay/python-bitpay-client/blob/master/GUIDE.md</a:t>
            </a:r>
            <a:endParaRPr lang="en-US" sz="1050"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243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569D52-F4E3-944A-B594-5C7070C92B26}"/>
              </a:ext>
            </a:extLst>
          </p:cNvPr>
          <p:cNvSpPr txBox="1"/>
          <p:nvPr/>
        </p:nvSpPr>
        <p:spPr>
          <a:xfrm>
            <a:off x="233680" y="1107440"/>
            <a:ext cx="5963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blockonomics.co - Bitcoin payment gateway &amp; merchant processor. Accept bitcoin payments from your e-commerce shop directly to your wallet.</a:t>
            </a:r>
          </a:p>
        </p:txBody>
      </p:sp>
    </p:spTree>
    <p:extLst>
      <p:ext uri="{BB962C8B-B14F-4D97-AF65-F5344CB8AC3E}">
        <p14:creationId xmlns:p14="http://schemas.microsoft.com/office/powerpoint/2010/main" val="1237961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2825</TotalTime>
  <Words>4457</Words>
  <Application>Microsoft Macintosh PowerPoint</Application>
  <PresentationFormat>Widescreen</PresentationFormat>
  <Paragraphs>476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262</cp:revision>
  <dcterms:modified xsi:type="dcterms:W3CDTF">2022-04-30T01:08:41Z</dcterms:modified>
</cp:coreProperties>
</file>