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26"/>
  </p:notesMasterIdLst>
  <p:sldIdLst>
    <p:sldId id="311" r:id="rId2"/>
    <p:sldId id="281" r:id="rId3"/>
    <p:sldId id="265" r:id="rId4"/>
    <p:sldId id="262" r:id="rId5"/>
    <p:sldId id="275" r:id="rId6"/>
    <p:sldId id="314" r:id="rId7"/>
    <p:sldId id="277" r:id="rId8"/>
    <p:sldId id="305" r:id="rId9"/>
    <p:sldId id="317" r:id="rId10"/>
    <p:sldId id="318" r:id="rId11"/>
    <p:sldId id="319" r:id="rId12"/>
    <p:sldId id="320" r:id="rId13"/>
    <p:sldId id="276" r:id="rId14"/>
    <p:sldId id="264" r:id="rId15"/>
    <p:sldId id="316" r:id="rId16"/>
    <p:sldId id="315" r:id="rId17"/>
    <p:sldId id="321" r:id="rId18"/>
    <p:sldId id="266" r:id="rId19"/>
    <p:sldId id="283" r:id="rId20"/>
    <p:sldId id="308" r:id="rId21"/>
    <p:sldId id="309" r:id="rId22"/>
    <p:sldId id="310" r:id="rId23"/>
    <p:sldId id="312" r:id="rId24"/>
    <p:sldId id="313"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28"/>
    <p:restoredTop sz="92426"/>
  </p:normalViewPr>
  <p:slideViewPr>
    <p:cSldViewPr snapToGrid="0" snapToObjects="1">
      <p:cViewPr varScale="1">
        <p:scale>
          <a:sx n="137" d="100"/>
          <a:sy n="137" d="100"/>
        </p:scale>
        <p:origin x="70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9246947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8765835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8607866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966140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rPr lang="en-US"/>
              <a:t>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79234285"/>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rPr lang="en-US"/>
              <a:t>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22838171"/>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rPr lang="en-US"/>
              <a:t>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654269960"/>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rPr lang="en-US"/>
              <a:t>4/20/22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7475605"/>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rPr lang="en-US"/>
              <a:t>4/20/22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396515540"/>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rPr lang="en-US"/>
              <a:t>4/20/22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872527479"/>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rPr lang="en-US"/>
              <a:t>4/20/22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0617518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rPr lang="en-US"/>
              <a:t>4/20/22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965141301"/>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rPr lang="en-US"/>
              <a:t>4/20/22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83741549"/>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rPr lang="en-US"/>
              <a:t>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43642863"/>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rPr lang="en-US"/>
              <a:t>4/20/22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26432762"/>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rPr lang="en-US"/>
              <a:t>4/20/22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752506979"/>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www.investopedia.com/best-crypto-software-wallets-5220762" TargetMode="External"/><Relationship Id="rId2" Type="http://schemas.openxmlformats.org/officeDocument/2006/relationships/hyperlink" Target="https://www.forbes.com/advisor/investing/cryptocurrency/how-to-buy-cryptocurrency/" TargetMode="Externa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hyperlink" Target="https://www.okchanger.com/" TargetMode="External"/><Relationship Id="rId3" Type="http://schemas.openxmlformats.org/officeDocument/2006/relationships/hyperlink" Target="https://localbitcoins.com/sell_bitcoins" TargetMode="External"/><Relationship Id="rId7" Type="http://schemas.openxmlformats.org/officeDocument/2006/relationships/hyperlink" Target="https://www.bestchange.com/" TargetMode="External"/><Relationship Id="rId2" Type="http://schemas.openxmlformats.org/officeDocument/2006/relationships/hyperlink" Target="https://icoholder.com/blog/how-to-turn-bitcoin-into-usd/" TargetMode="External"/><Relationship Id="rId1" Type="http://schemas.openxmlformats.org/officeDocument/2006/relationships/slideLayout" Target="../slideLayouts/slideLayout7.xml"/><Relationship Id="rId6" Type="http://schemas.openxmlformats.org/officeDocument/2006/relationships/hyperlink" Target="https://wealthpay.org/" TargetMode="External"/><Relationship Id="rId5" Type="http://schemas.openxmlformats.org/officeDocument/2006/relationships/hyperlink" Target="https://support.kraken.com/hc/en-us" TargetMode="External"/><Relationship Id="rId10" Type="http://schemas.openxmlformats.org/officeDocument/2006/relationships/hyperlink" Target="https://bitpay.com/" TargetMode="External"/><Relationship Id="rId4" Type="http://schemas.openxmlformats.org/officeDocument/2006/relationships/hyperlink" Target="https://www.youtube.com/watch?v=60Rjdv2Z_Gg" TargetMode="External"/><Relationship Id="rId9" Type="http://schemas.openxmlformats.org/officeDocument/2006/relationships/hyperlink" Target="https://www.worldcore.eu/"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bitpay.com/" TargetMode="External"/><Relationship Id="rId7" Type="http://schemas.openxmlformats.org/officeDocument/2006/relationships/hyperlink" Target="https://www.merchantmaverick.com/best-cryptocurrency-payment-gateway/" TargetMode="External"/><Relationship Id="rId2" Type="http://schemas.openxmlformats.org/officeDocument/2006/relationships/hyperlink" Target="https://www.coinbase.com/" TargetMode="External"/><Relationship Id="rId1" Type="http://schemas.openxmlformats.org/officeDocument/2006/relationships/slideLayout" Target="../slideLayouts/slideLayout7.xml"/><Relationship Id="rId6" Type="http://schemas.openxmlformats.org/officeDocument/2006/relationships/hyperlink" Target="https://www.alfacoins.com/" TargetMode="External"/><Relationship Id="rId5" Type="http://schemas.openxmlformats.org/officeDocument/2006/relationships/hyperlink" Target="https://nowpayments.io/" TargetMode="External"/><Relationship Id="rId4" Type="http://schemas.openxmlformats.org/officeDocument/2006/relationships/hyperlink" Target="https://coingate.com/" TargetMode="External"/></Relationships>
</file>

<file path=ppt/slides/_rels/slide4.xml.rels><?xml version="1.0" encoding="UTF-8" standalone="yes"?>
<Relationships xmlns="http://schemas.openxmlformats.org/package/2006/relationships"><Relationship Id="rId8" Type="http://schemas.openxmlformats.org/officeDocument/2006/relationships/hyperlink" Target="https://www.kraken.com/" TargetMode="External"/><Relationship Id="rId3" Type="http://schemas.openxmlformats.org/officeDocument/2006/relationships/hyperlink" Target="https://www.binance.com/" TargetMode="External"/><Relationship Id="rId7" Type="http://schemas.openxmlformats.org/officeDocument/2006/relationships/hyperlink" Target="https://bisq.network/" TargetMode="External"/><Relationship Id="rId2" Type="http://schemas.openxmlformats.org/officeDocument/2006/relationships/hyperlink" Target="https://www.coinbase.com/" TargetMode="External"/><Relationship Id="rId1" Type="http://schemas.openxmlformats.org/officeDocument/2006/relationships/slideLayout" Target="../slideLayouts/slideLayout7.xml"/><Relationship Id="rId6" Type="http://schemas.openxmlformats.org/officeDocument/2006/relationships/hyperlink" Target="https://cash.app/" TargetMode="External"/><Relationship Id="rId11" Type="http://schemas.openxmlformats.org/officeDocument/2006/relationships/hyperlink" Target="https://www.investopedia.com/best-crypto-exchanges-5071855" TargetMode="External"/><Relationship Id="rId5" Type="http://schemas.openxmlformats.org/officeDocument/2006/relationships/hyperlink" Target="https://www.abra.com/" TargetMode="External"/><Relationship Id="rId10" Type="http://schemas.openxmlformats.org/officeDocument/2006/relationships/hyperlink" Target="https://robinhood.com/" TargetMode="External"/><Relationship Id="rId4" Type="http://schemas.openxmlformats.org/officeDocument/2006/relationships/hyperlink" Target="https://www.binance.us/" TargetMode="External"/><Relationship Id="rId9" Type="http://schemas.openxmlformats.org/officeDocument/2006/relationships/hyperlink" Target="https://www.gemini.com/" TargetMode="External"/></Relationships>
</file>

<file path=ppt/slides/_rels/slide5.xml.rels><?xml version="1.0" encoding="UTF-8" standalone="yes"?>
<Relationships xmlns="http://schemas.openxmlformats.org/package/2006/relationships"><Relationship Id="rId8" Type="http://schemas.openxmlformats.org/officeDocument/2006/relationships/hyperlink" Target="https://automatedwebtools.com/usd-eth-gas-fee/" TargetMode="External"/><Relationship Id="rId3" Type="http://schemas.openxmlformats.org/officeDocument/2006/relationships/hyperlink" Target="https://www.buybitcoinworldwide.com/fee-calculator/" TargetMode="External"/><Relationship Id="rId7" Type="http://schemas.openxmlformats.org/officeDocument/2006/relationships/hyperlink" Target="https://cryptotesters.com/blog/ethereum-gas" TargetMode="External"/><Relationship Id="rId2" Type="http://schemas.openxmlformats.org/officeDocument/2006/relationships/hyperlink" Target="https://www.btcsatoshi.com/" TargetMode="External"/><Relationship Id="rId1" Type="http://schemas.openxmlformats.org/officeDocument/2006/relationships/slideLayout" Target="../slideLayouts/slideLayout7.xml"/><Relationship Id="rId6" Type="http://schemas.openxmlformats.org/officeDocument/2006/relationships/hyperlink" Target="https://bitcoinbriefly.com/how-to-use-mempool-space-block-explorer/" TargetMode="External"/><Relationship Id="rId11" Type="http://schemas.openxmlformats.org/officeDocument/2006/relationships/image" Target="../media/image1.png"/><Relationship Id="rId5" Type="http://schemas.openxmlformats.org/officeDocument/2006/relationships/hyperlink" Target="https://mempool.space/" TargetMode="External"/><Relationship Id="rId10" Type="http://schemas.openxmlformats.org/officeDocument/2006/relationships/hyperlink" Target="https://www.wsj.com/articles/crypto-and-its-many-fees-what-to-know-about-the-hidden-costs-of-digital-currency-11639825202" TargetMode="External"/><Relationship Id="rId4" Type="http://schemas.openxmlformats.org/officeDocument/2006/relationships/hyperlink" Target="https://bitcoinfees.earn.com/" TargetMode="External"/><Relationship Id="rId9" Type="http://schemas.openxmlformats.org/officeDocument/2006/relationships/hyperlink" Target="https://etherscan.io/" TargetMode="External"/></Relationships>
</file>

<file path=ppt/slides/_rels/slide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www.youtube.com/watch?v=J3cQNpOR_a0" TargetMode="External"/><Relationship Id="rId7" Type="http://schemas.openxmlformats.org/officeDocument/2006/relationships/hyperlink" Target="https://bitpay.com/blog/bitpay-supports-lightning-network-payments/amp/" TargetMode="External"/><Relationship Id="rId12" Type="http://schemas.openxmlformats.org/officeDocument/2006/relationships/hyperlink" Target="https://ethereum.org/en/developers/docs/scaling/sidechains/"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hyperlink" Target="https://www.coinbase.com/learn/crypto-basics/what-is-lightning" TargetMode="External"/><Relationship Id="rId11" Type="http://schemas.openxmlformats.org/officeDocument/2006/relationships/image" Target="../media/image5.png"/><Relationship Id="rId5" Type="http://schemas.openxmlformats.org/officeDocument/2006/relationships/hyperlink" Target="https://en.wikipedia.org/wiki/Lightning_Network" TargetMode="External"/><Relationship Id="rId10" Type="http://schemas.openxmlformats.org/officeDocument/2006/relationships/image" Target="../media/image4.png"/><Relationship Id="rId4" Type="http://schemas.openxmlformats.org/officeDocument/2006/relationships/hyperlink" Target="https://www.youtube.com/watch?v=XCSfoiD8wUA" TargetMode="External"/><Relationship Id="rId9" Type="http://schemas.openxmlformats.org/officeDocument/2006/relationships/image" Target="../media/image3.png"/></Relationships>
</file>

<file path=ppt/slides/_rels/slide7.xml.rels><?xml version="1.0" encoding="UTF-8" standalone="yes"?>
<Relationships xmlns="http://schemas.openxmlformats.org/package/2006/relationships"><Relationship Id="rId8" Type="http://schemas.openxmlformats.org/officeDocument/2006/relationships/hyperlink" Target="https://wpengine.com/resources/wordpress-and-bitcoin/" TargetMode="External"/><Relationship Id="rId3" Type="http://schemas.openxmlformats.org/officeDocument/2006/relationships/hyperlink" Target="https://www.owler.com/company/bitpay" TargetMode="External"/><Relationship Id="rId7" Type="http://schemas.openxmlformats.org/officeDocument/2006/relationships/hyperlink" Target="https://technicali.com/top-7-payment-gateways-that-accept-cryptocurrency/" TargetMode="External"/><Relationship Id="rId2" Type="http://schemas.openxmlformats.org/officeDocument/2006/relationships/hyperlink" Target="https://bitpay.com/" TargetMode="External"/><Relationship Id="rId1" Type="http://schemas.openxmlformats.org/officeDocument/2006/relationships/slideLayout" Target="../slideLayouts/slideLayout7.xml"/><Relationship Id="rId6" Type="http://schemas.openxmlformats.org/officeDocument/2006/relationships/hyperlink" Target="https://www.finextra.com/blogposting/21322/the-best-cryptocurrency-payment-gateways-for-2022" TargetMode="External"/><Relationship Id="rId5" Type="http://schemas.openxmlformats.org/officeDocument/2006/relationships/hyperlink" Target="https://www.cryptowisser.com/wallet/bitpay/" TargetMode="External"/><Relationship Id="rId10" Type="http://schemas.openxmlformats.org/officeDocument/2006/relationships/image" Target="../media/image6.png"/><Relationship Id="rId4" Type="http://schemas.openxmlformats.org/officeDocument/2006/relationships/hyperlink" Target="https://bitpay.com/blog/welcome-to-the-september-cryptie/" TargetMode="External"/><Relationship Id="rId9" Type="http://schemas.openxmlformats.org/officeDocument/2006/relationships/hyperlink" Target="https://www.nerdwallet.com/article/small-business/accepting-bitcoin-crypto"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hyperlink" Target="https://en.wikipedia.org/wiki/Coinbase" TargetMode="External"/><Relationship Id="rId7" Type="http://schemas.openxmlformats.org/officeDocument/2006/relationships/hyperlink" Target="https://github.com/coinbase/coinbase-python/tree/master/coinbase/wallet" TargetMode="External"/><Relationship Id="rId2" Type="http://schemas.openxmlformats.org/officeDocument/2006/relationships/hyperlink" Target="https://www.coinbase.com/" TargetMode="External"/><Relationship Id="rId1" Type="http://schemas.openxmlformats.org/officeDocument/2006/relationships/slideLayout" Target="../slideLayouts/slideLayout7.xml"/><Relationship Id="rId6" Type="http://schemas.openxmlformats.org/officeDocument/2006/relationships/hyperlink" Target="https://github.com/coinbase/coinbase-python" TargetMode="External"/><Relationship Id="rId5" Type="http://schemas.openxmlformats.org/officeDocument/2006/relationships/hyperlink" Target="https://github.com/coinbase/coinbase-commerce-python" TargetMode="External"/><Relationship Id="rId4" Type="http://schemas.openxmlformats.org/officeDocument/2006/relationships/hyperlink" Target="https://github.com/coinbase" TargetMode="External"/><Relationship Id="rId9" Type="http://schemas.openxmlformats.org/officeDocument/2006/relationships/image" Target="../media/image8.png"/></Relationships>
</file>

<file path=ppt/slides/_rels/slide9.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hyperlink" Target="https://pypi.org/project/gemini/" TargetMode="External"/><Relationship Id="rId7" Type="http://schemas.openxmlformats.org/officeDocument/2006/relationships/hyperlink" Target="https://exchange.sandbox.gemini.com/" TargetMode="External"/><Relationship Id="rId2" Type="http://schemas.openxmlformats.org/officeDocument/2006/relationships/hyperlink" Target="https://github.com/mtusman/gemini-python" TargetMode="External"/><Relationship Id="rId1" Type="http://schemas.openxmlformats.org/officeDocument/2006/relationships/slideLayout" Target="../slideLayouts/slideLayout7.xml"/><Relationship Id="rId6" Type="http://schemas.openxmlformats.org/officeDocument/2006/relationships/hyperlink" Target="https://en.wikipedia.org/wiki/Gemini_(company)" TargetMode="External"/><Relationship Id="rId5" Type="http://schemas.openxmlformats.org/officeDocument/2006/relationships/hyperlink" Target="https://www.gemini.com/" TargetMode="External"/><Relationship Id="rId10" Type="http://schemas.openxmlformats.org/officeDocument/2006/relationships/image" Target="../media/image11.png"/><Relationship Id="rId4" Type="http://schemas.openxmlformats.org/officeDocument/2006/relationships/hyperlink" Target="https://docs.gemini.com/rest-api/" TargetMode="External"/><Relationship Id="rId9"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hyperlink" Target="https://github.com/sammchardy/python-binance" TargetMode="External"/><Relationship Id="rId13" Type="http://schemas.openxmlformats.org/officeDocument/2006/relationships/image" Target="../media/image16.png"/><Relationship Id="rId3" Type="http://schemas.openxmlformats.org/officeDocument/2006/relationships/hyperlink" Target="https://www.binance.com/" TargetMode="External"/><Relationship Id="rId7" Type="http://schemas.openxmlformats.org/officeDocument/2006/relationships/hyperlink" Target="https://python-binance.readthedocs.io/" TargetMode="External"/><Relationship Id="rId12" Type="http://schemas.openxmlformats.org/officeDocument/2006/relationships/image" Target="../media/image1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docs.binance.us/" TargetMode="External"/><Relationship Id="rId11" Type="http://schemas.openxmlformats.org/officeDocument/2006/relationships/image" Target="../media/image14.png"/><Relationship Id="rId5" Type="http://schemas.openxmlformats.org/officeDocument/2006/relationships/hyperlink" Target="https://en.wikipedia.org/wiki/Binance" TargetMode="External"/><Relationship Id="rId10" Type="http://schemas.openxmlformats.org/officeDocument/2006/relationships/image" Target="../media/image13.png"/><Relationship Id="rId4" Type="http://schemas.openxmlformats.org/officeDocument/2006/relationships/hyperlink" Target="https://www.binance.us/" TargetMode="External"/><Relationship Id="rId9" Type="http://schemas.openxmlformats.org/officeDocument/2006/relationships/image" Target="../media/image12.png"/></Relationships>
</file>

<file path=ppt/slides/_rels/slide11.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17.png"/><Relationship Id="rId7" Type="http://schemas.openxmlformats.org/officeDocument/2006/relationships/hyperlink" Target="https://github.com/kmadac/bitstamp-python-client" TargetMode="External"/><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hyperlink" Target="https://www.bitstamp.net/api/" TargetMode="External"/><Relationship Id="rId5" Type="http://schemas.openxmlformats.org/officeDocument/2006/relationships/hyperlink" Target="https://en.wikipedia.org/wiki/Bitstamp" TargetMode="External"/><Relationship Id="rId4" Type="http://schemas.openxmlformats.org/officeDocument/2006/relationships/hyperlink" Target="https://www.bitstamp.net/" TargetMode="External"/></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en.wikipedia.org/wiki/Kraken_(company)" TargetMode="External"/><Relationship Id="rId7" Type="http://schemas.openxmlformats.org/officeDocument/2006/relationships/image" Target="../media/image20.png"/><Relationship Id="rId2" Type="http://schemas.openxmlformats.org/officeDocument/2006/relationships/hyperlink" Target="https://www.kraken.com/" TargetMode="Externa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hyperlink" Target="https://support.kraken.com/hc/en-us/sections/360003946512-Example-API-Code" TargetMode="External"/><Relationship Id="rId4" Type="http://schemas.openxmlformats.org/officeDocument/2006/relationships/hyperlink" Target="https://docs.kraken.com/rest/" TargetMode="External"/><Relationship Id="rId9" Type="http://schemas.openxmlformats.org/officeDocument/2006/relationships/image" Target="../media/image22.png"/></Relationships>
</file>

<file path=ppt/slides/_rels/slide13.xml.rels><?xml version="1.0" encoding="UTF-8" standalone="yes"?>
<Relationships xmlns="http://schemas.openxmlformats.org/package/2006/relationships"><Relationship Id="rId3" Type="http://schemas.openxmlformats.org/officeDocument/2006/relationships/hyperlink" Target="https://en.wikipedia.org/wiki/MetaMask" TargetMode="External"/><Relationship Id="rId7" Type="http://schemas.openxmlformats.org/officeDocument/2006/relationships/image" Target="../media/image26.png"/><Relationship Id="rId2" Type="http://schemas.openxmlformats.org/officeDocument/2006/relationships/hyperlink" Target="https://metamask.io/" TargetMode="External"/><Relationship Id="rId1" Type="http://schemas.openxmlformats.org/officeDocument/2006/relationships/slideLayout" Target="../slideLayouts/slideLayout7.xml"/><Relationship Id="rId6" Type="http://schemas.openxmlformats.org/officeDocument/2006/relationships/image" Target="../media/image25.jpe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hyperlink" Target="https://trezor.io/" TargetMode="External"/><Relationship Id="rId7" Type="http://schemas.openxmlformats.org/officeDocument/2006/relationships/image" Target="../media/image28.png"/><Relationship Id="rId2" Type="http://schemas.openxmlformats.org/officeDocument/2006/relationships/hyperlink" Target="https://www.ledger.com/" TargetMode="External"/><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hyperlink" Target="https://safepal.io/" TargetMode="External"/><Relationship Id="rId4" Type="http://schemas.openxmlformats.org/officeDocument/2006/relationships/hyperlink" Target="https://www.getarculus.com/" TargetMode="External"/><Relationship Id="rId9" Type="http://schemas.openxmlformats.org/officeDocument/2006/relationships/image" Target="../media/image30.png"/></Relationships>
</file>

<file path=ppt/slides/_rels/slide15.xml.rels><?xml version="1.0" encoding="UTF-8" standalone="yes"?>
<Relationships xmlns="http://schemas.openxmlformats.org/package/2006/relationships"><Relationship Id="rId8" Type="http://schemas.openxmlformats.org/officeDocument/2006/relationships/hyperlink" Target="https://bitcoincore.org/en/download/" TargetMode="External"/><Relationship Id="rId3" Type="http://schemas.openxmlformats.org/officeDocument/2006/relationships/hyperlink" Target="https://github.com/bitcoin" TargetMode="External"/><Relationship Id="rId7"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hyperlink" Target="https://bitcoin.org/en/choose-your-wallet" TargetMode="External"/><Relationship Id="rId5" Type="http://schemas.openxmlformats.org/officeDocument/2006/relationships/hyperlink" Target="https://bitcoin.org/" TargetMode="External"/><Relationship Id="rId4" Type="http://schemas.openxmlformats.org/officeDocument/2006/relationships/hyperlink" Target="https://bitcoincore.org/" TargetMode="External"/><Relationship Id="rId9" Type="http://schemas.openxmlformats.org/officeDocument/2006/relationships/hyperlink" Target="https://bitcoin.org/en/choose-your-wallet?step=5&amp;platform=mac" TargetMode="External"/></Relationships>
</file>

<file path=ppt/slides/_rels/slide16.xml.rels><?xml version="1.0" encoding="UTF-8" standalone="yes"?>
<Relationships xmlns="http://schemas.openxmlformats.org/package/2006/relationships"><Relationship Id="rId8" Type="http://schemas.openxmlformats.org/officeDocument/2006/relationships/hyperlink" Target="https://liquality.io/blog/atomic-swaps-explained/" TargetMode="External"/><Relationship Id="rId3" Type="http://schemas.openxmlformats.org/officeDocument/2006/relationships/hyperlink" Target="https://bitpay.com/exchange-rates/" TargetMode="External"/><Relationship Id="rId7" Type="http://schemas.openxmlformats.org/officeDocument/2006/relationships/hyperlink" Target="https://simpleswap.io/crypto-to-crypto/btc-eth" TargetMode="External"/><Relationship Id="rId2" Type="http://schemas.openxmlformats.org/officeDocument/2006/relationships/hyperlink" Target="https://www.youtube.com/watch?v=bzLd7V2ZLp8" TargetMode="External"/><Relationship Id="rId1" Type="http://schemas.openxmlformats.org/officeDocument/2006/relationships/slideLayout" Target="../slideLayouts/slideLayout7.xml"/><Relationship Id="rId6" Type="http://schemas.openxmlformats.org/officeDocument/2006/relationships/hyperlink" Target="https://letsexchange.io/exchange/btc-to-eth" TargetMode="External"/><Relationship Id="rId5" Type="http://schemas.openxmlformats.org/officeDocument/2006/relationships/hyperlink" Target="https://www.buybitcoinworldwide.com/ethereum/buy/" TargetMode="External"/><Relationship Id="rId10" Type="http://schemas.openxmlformats.org/officeDocument/2006/relationships/image" Target="../media/image32.png"/><Relationship Id="rId4" Type="http://schemas.openxmlformats.org/officeDocument/2006/relationships/hyperlink" Target="https://medium.com/@mark.lasia/how-to-exchange-bitcoin-and-tokens-into-eth-ether-with-shapeshift-io-6a326b339c12" TargetMode="External"/><Relationship Id="rId9" Type="http://schemas.openxmlformats.org/officeDocument/2006/relationships/hyperlink" Target="https://liquality.io/blog/hash-time-locked-contracts-htlcs-explained/" TargetMode="External"/></Relationships>
</file>

<file path=ppt/slides/_rels/slide1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 Id="rId5" Type="http://schemas.openxmlformats.org/officeDocument/2006/relationships/image" Target="../media/image36.png"/><Relationship Id="rId4" Type="http://schemas.openxmlformats.org/officeDocument/2006/relationships/image" Target="../media/image35.png"/></Relationships>
</file>

<file path=ppt/slides/_rels/slide18.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hyperlink" Target="https://www.gartner.com/reviews/market/blockchain-platforms" TargetMode="Externa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thegivingblock.com/" TargetMode="External"/><Relationship Id="rId7" Type="http://schemas.openxmlformats.org/officeDocument/2006/relationships/hyperlink" Target="https://thegivingblock.com/donate/action-against-hunger/" TargetMode="External"/><Relationship Id="rId2" Type="http://schemas.openxmlformats.org/officeDocument/2006/relationships/hyperlink" Target="https://thegivingblock.com/resources/nonprofits-accepting-crypto-donations/" TargetMode="External"/><Relationship Id="rId1" Type="http://schemas.openxmlformats.org/officeDocument/2006/relationships/slideLayout" Target="../slideLayouts/slideLayout7.xml"/><Relationship Id="rId6" Type="http://schemas.openxmlformats.org/officeDocument/2006/relationships/hyperlink" Target="https://www.actionagainsthunger.org/story/donate-crypto" TargetMode="External"/><Relationship Id="rId5" Type="http://schemas.openxmlformats.org/officeDocument/2006/relationships/hyperlink" Target="https://www.actionagainsthunger.org/" TargetMode="External"/><Relationship Id="rId4"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8" Type="http://schemas.openxmlformats.org/officeDocument/2006/relationships/hyperlink" Target="https://github.com/bitpay/python-bitpay-client/blob/master/GUIDE.md" TargetMode="External"/><Relationship Id="rId3" Type="http://schemas.openxmlformats.org/officeDocument/2006/relationships/hyperlink" Target="https://bitpay.com/dashboard/signup" TargetMode="External"/><Relationship Id="rId7" Type="http://schemas.openxmlformats.org/officeDocument/2006/relationships/hyperlink" Target="https://bitpay.com/integrations/python" TargetMode="External"/><Relationship Id="rId2" Type="http://schemas.openxmlformats.org/officeDocument/2006/relationships/hyperlink" Target="https://bitpay.com/api/#rest-api" TargetMode="External"/><Relationship Id="rId1" Type="http://schemas.openxmlformats.org/officeDocument/2006/relationships/slideLayout" Target="../slideLayouts/slideLayout7.xml"/><Relationship Id="rId6" Type="http://schemas.openxmlformats.org/officeDocument/2006/relationships/hyperlink" Target="https://github.com/bitpay/python-bitpay-client" TargetMode="External"/><Relationship Id="rId5" Type="http://schemas.openxmlformats.org/officeDocument/2006/relationships/hyperlink" Target="https://github.com/warpi/BitPay" TargetMode="External"/><Relationship Id="rId4" Type="http://schemas.openxmlformats.org/officeDocument/2006/relationships/hyperlink" Target="https://github.com/bitpa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3C9C92-48BD-F346-A19C-E408F451573B}"/>
              </a:ext>
            </a:extLst>
          </p:cNvPr>
          <p:cNvSpPr txBox="1"/>
          <p:nvPr/>
        </p:nvSpPr>
        <p:spPr>
          <a:xfrm>
            <a:off x="1" y="1"/>
            <a:ext cx="5130800" cy="523220"/>
          </a:xfrm>
          <a:prstGeom prst="rect">
            <a:avLst/>
          </a:prstGeom>
          <a:noFill/>
        </p:spPr>
        <p:txBody>
          <a:bodyPr wrap="square" rtlCol="0">
            <a:spAutoFit/>
          </a:bodyPr>
          <a:lstStyle/>
          <a:p>
            <a:r>
              <a:rPr lang="en-US" sz="2800" b="1"/>
              <a:t>Crypto: buy, sell, keep, convert</a:t>
            </a:r>
          </a:p>
        </p:txBody>
      </p:sp>
      <p:sp>
        <p:nvSpPr>
          <p:cNvPr id="4" name="TextBox 3">
            <a:extLst>
              <a:ext uri="{FF2B5EF4-FFF2-40B4-BE49-F238E27FC236}">
                <a16:creationId xmlns:a16="http://schemas.microsoft.com/office/drawing/2014/main" id="{83D098C7-E248-984A-863B-861C368613AB}"/>
              </a:ext>
            </a:extLst>
          </p:cNvPr>
          <p:cNvSpPr txBox="1"/>
          <p:nvPr/>
        </p:nvSpPr>
        <p:spPr>
          <a:xfrm>
            <a:off x="1" y="697627"/>
            <a:ext cx="8102139" cy="1815882"/>
          </a:xfrm>
          <a:prstGeom prst="rect">
            <a:avLst/>
          </a:prstGeom>
          <a:noFill/>
        </p:spPr>
        <p:txBody>
          <a:bodyPr wrap="square" rtlCol="0">
            <a:spAutoFit/>
          </a:bodyPr>
          <a:lstStyle/>
          <a:p>
            <a:r>
              <a:rPr lang="en-US" sz="1400"/>
              <a:t>You can create accounts directly at multiple blockchain networks like Bitcoin, Ethereum, etc. These accounts will allow you to send messages and crypto currency between accounts. For example, person A gives dollars to person B, in exchange B sends Bitcoin to A via blockchain network. So one transaction consists of two transfers: crypto and dollars. How do we do it in practice?</a:t>
            </a:r>
          </a:p>
          <a:p>
            <a:pPr marL="380990" indent="-380990">
              <a:buFont typeface="Arial" panose="020B0604020202020204" pitchFamily="34" charset="0"/>
              <a:buChar char="•"/>
            </a:pPr>
            <a:r>
              <a:rPr lang="en-US" sz="1400"/>
              <a:t>How to find buyers/sellers? </a:t>
            </a:r>
          </a:p>
          <a:p>
            <a:pPr marL="380990" indent="-380990">
              <a:buFont typeface="Arial" panose="020B0604020202020204" pitchFamily="34" charset="0"/>
              <a:buChar char="•"/>
            </a:pPr>
            <a:r>
              <a:rPr lang="en-US" sz="1400"/>
              <a:t>How to do transactions? </a:t>
            </a:r>
          </a:p>
          <a:p>
            <a:pPr marL="380990" indent="-380990">
              <a:buFont typeface="Arial" panose="020B0604020202020204" pitchFamily="34" charset="0"/>
              <a:buChar char="•"/>
            </a:pPr>
            <a:r>
              <a:rPr lang="en-US" sz="1400"/>
              <a:t>How to make sure transaction fees are paid? </a:t>
            </a:r>
          </a:p>
          <a:p>
            <a:pPr marL="380990" indent="-380990">
              <a:buFont typeface="Arial" panose="020B0604020202020204" pitchFamily="34" charset="0"/>
              <a:buChar char="•"/>
            </a:pPr>
            <a:r>
              <a:rPr lang="en-US" sz="1400"/>
              <a:t>How to handle accounting?</a:t>
            </a:r>
          </a:p>
        </p:txBody>
      </p:sp>
      <p:sp>
        <p:nvSpPr>
          <p:cNvPr id="7" name="TextBox 6">
            <a:extLst>
              <a:ext uri="{FF2B5EF4-FFF2-40B4-BE49-F238E27FC236}">
                <a16:creationId xmlns:a16="http://schemas.microsoft.com/office/drawing/2014/main" id="{038B6201-FA61-6544-9C94-CCA38BA6ECFF}"/>
              </a:ext>
            </a:extLst>
          </p:cNvPr>
          <p:cNvSpPr txBox="1"/>
          <p:nvPr/>
        </p:nvSpPr>
        <p:spPr>
          <a:xfrm>
            <a:off x="11039303" y="724372"/>
            <a:ext cx="1049251" cy="318100"/>
          </a:xfrm>
          <a:prstGeom prst="rect">
            <a:avLst/>
          </a:prstGeom>
          <a:solidFill>
            <a:schemeClr val="accent4">
              <a:lumMod val="20000"/>
              <a:lumOff val="80000"/>
            </a:schemeClr>
          </a:solidFill>
          <a:ln>
            <a:solidFill>
              <a:schemeClr val="accent1">
                <a:shade val="50000"/>
              </a:schemeClr>
            </a:solidFill>
          </a:ln>
        </p:spPr>
        <p:txBody>
          <a:bodyPr wrap="square" rtlCol="0">
            <a:spAutoFit/>
          </a:bodyPr>
          <a:lstStyle/>
          <a:p>
            <a:r>
              <a:rPr lang="en-US" sz="1400"/>
              <a:t>Bitcoin</a:t>
            </a:r>
          </a:p>
        </p:txBody>
      </p:sp>
      <p:sp>
        <p:nvSpPr>
          <p:cNvPr id="9" name="TextBox 8">
            <a:extLst>
              <a:ext uri="{FF2B5EF4-FFF2-40B4-BE49-F238E27FC236}">
                <a16:creationId xmlns:a16="http://schemas.microsoft.com/office/drawing/2014/main" id="{DC5F88D5-CC0E-B147-8235-1D4562D91408}"/>
              </a:ext>
            </a:extLst>
          </p:cNvPr>
          <p:cNvSpPr txBox="1"/>
          <p:nvPr/>
        </p:nvSpPr>
        <p:spPr>
          <a:xfrm>
            <a:off x="11039303" y="1182375"/>
            <a:ext cx="1049251" cy="318100"/>
          </a:xfrm>
          <a:prstGeom prst="rect">
            <a:avLst/>
          </a:prstGeom>
          <a:solidFill>
            <a:schemeClr val="accent4">
              <a:lumMod val="20000"/>
              <a:lumOff val="80000"/>
            </a:schemeClr>
          </a:solidFill>
          <a:ln>
            <a:solidFill>
              <a:schemeClr val="accent1">
                <a:shade val="50000"/>
              </a:schemeClr>
            </a:solidFill>
          </a:ln>
        </p:spPr>
        <p:txBody>
          <a:bodyPr wrap="square" rtlCol="0">
            <a:spAutoFit/>
          </a:bodyPr>
          <a:lstStyle/>
          <a:p>
            <a:r>
              <a:rPr lang="en-US" sz="1400"/>
              <a:t>Ethereum</a:t>
            </a:r>
          </a:p>
        </p:txBody>
      </p:sp>
      <p:sp>
        <p:nvSpPr>
          <p:cNvPr id="10" name="TextBox 9">
            <a:extLst>
              <a:ext uri="{FF2B5EF4-FFF2-40B4-BE49-F238E27FC236}">
                <a16:creationId xmlns:a16="http://schemas.microsoft.com/office/drawing/2014/main" id="{F89CAAF1-A450-804D-9936-AAD613B6D287}"/>
              </a:ext>
            </a:extLst>
          </p:cNvPr>
          <p:cNvSpPr txBox="1"/>
          <p:nvPr/>
        </p:nvSpPr>
        <p:spPr>
          <a:xfrm>
            <a:off x="11039303" y="1638056"/>
            <a:ext cx="1049251" cy="543867"/>
          </a:xfrm>
          <a:prstGeom prst="rect">
            <a:avLst/>
          </a:prstGeom>
          <a:solidFill>
            <a:schemeClr val="accent4">
              <a:lumMod val="20000"/>
              <a:lumOff val="80000"/>
            </a:schemeClr>
          </a:solidFill>
          <a:ln>
            <a:solidFill>
              <a:schemeClr val="accent1">
                <a:shade val="50000"/>
              </a:schemeClr>
            </a:solidFill>
          </a:ln>
        </p:spPr>
        <p:txBody>
          <a:bodyPr wrap="square" rtlCol="0">
            <a:spAutoFit/>
          </a:bodyPr>
          <a:lstStyle/>
          <a:p>
            <a:r>
              <a:rPr lang="en-US" sz="1400"/>
              <a:t>Other</a:t>
            </a:r>
          </a:p>
          <a:p>
            <a:r>
              <a:rPr lang="en-US" sz="1400"/>
              <a:t>Networks</a:t>
            </a:r>
          </a:p>
        </p:txBody>
      </p:sp>
      <p:sp>
        <p:nvSpPr>
          <p:cNvPr id="11" name="TextBox 10">
            <a:extLst>
              <a:ext uri="{FF2B5EF4-FFF2-40B4-BE49-F238E27FC236}">
                <a16:creationId xmlns:a16="http://schemas.microsoft.com/office/drawing/2014/main" id="{F12C4826-6AA1-1547-B35E-B9B923BDB0D0}"/>
              </a:ext>
            </a:extLst>
          </p:cNvPr>
          <p:cNvSpPr txBox="1"/>
          <p:nvPr/>
        </p:nvSpPr>
        <p:spPr>
          <a:xfrm>
            <a:off x="9023922" y="2120634"/>
            <a:ext cx="762924" cy="318100"/>
          </a:xfrm>
          <a:prstGeom prst="rect">
            <a:avLst/>
          </a:prstGeom>
          <a:solidFill>
            <a:schemeClr val="accent2">
              <a:lumMod val="20000"/>
              <a:lumOff val="80000"/>
            </a:schemeClr>
          </a:solidFill>
          <a:ln>
            <a:solidFill>
              <a:schemeClr val="accent1">
                <a:shade val="50000"/>
              </a:schemeClr>
            </a:solidFill>
          </a:ln>
        </p:spPr>
        <p:txBody>
          <a:bodyPr wrap="square" rtlCol="0">
            <a:spAutoFit/>
          </a:bodyPr>
          <a:lstStyle/>
          <a:p>
            <a:r>
              <a:rPr lang="en-US" sz="1400"/>
              <a:t>Wallet</a:t>
            </a:r>
          </a:p>
        </p:txBody>
      </p:sp>
      <p:sp>
        <p:nvSpPr>
          <p:cNvPr id="12" name="TextBox 11">
            <a:extLst>
              <a:ext uri="{FF2B5EF4-FFF2-40B4-BE49-F238E27FC236}">
                <a16:creationId xmlns:a16="http://schemas.microsoft.com/office/drawing/2014/main" id="{B43E8D7B-DF6C-3F4C-9999-DBE7F3EA7EC2}"/>
              </a:ext>
            </a:extLst>
          </p:cNvPr>
          <p:cNvSpPr txBox="1"/>
          <p:nvPr/>
        </p:nvSpPr>
        <p:spPr>
          <a:xfrm>
            <a:off x="11039303" y="3057247"/>
            <a:ext cx="1049251" cy="318100"/>
          </a:xfrm>
          <a:prstGeom prst="rect">
            <a:avLst/>
          </a:prstGeom>
          <a:solidFill>
            <a:schemeClr val="accent6">
              <a:lumMod val="20000"/>
              <a:lumOff val="80000"/>
            </a:schemeClr>
          </a:solidFill>
          <a:ln>
            <a:solidFill>
              <a:schemeClr val="accent1">
                <a:shade val="50000"/>
              </a:schemeClr>
            </a:solidFill>
          </a:ln>
        </p:spPr>
        <p:txBody>
          <a:bodyPr wrap="square" rtlCol="0">
            <a:spAutoFit/>
          </a:bodyPr>
          <a:lstStyle/>
          <a:p>
            <a:r>
              <a:rPr lang="en-US" sz="1400"/>
              <a:t>Bank ($)</a:t>
            </a:r>
          </a:p>
        </p:txBody>
      </p:sp>
      <p:cxnSp>
        <p:nvCxnSpPr>
          <p:cNvPr id="15" name="Straight Arrow Connector 14">
            <a:extLst>
              <a:ext uri="{FF2B5EF4-FFF2-40B4-BE49-F238E27FC236}">
                <a16:creationId xmlns:a16="http://schemas.microsoft.com/office/drawing/2014/main" id="{012C5AB6-4A30-FB46-9F7A-900EA8896BF8}"/>
              </a:ext>
            </a:extLst>
          </p:cNvPr>
          <p:cNvCxnSpPr>
            <a:cxnSpLocks/>
          </p:cNvCxnSpPr>
          <p:nvPr/>
        </p:nvCxnSpPr>
        <p:spPr>
          <a:xfrm flipV="1">
            <a:off x="9853348" y="1385455"/>
            <a:ext cx="1008617" cy="676101"/>
          </a:xfrm>
          <a:prstGeom prst="straightConnector1">
            <a:avLst/>
          </a:prstGeom>
          <a:ln w="635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a:extLst>
              <a:ext uri="{FF2B5EF4-FFF2-40B4-BE49-F238E27FC236}">
                <a16:creationId xmlns:a16="http://schemas.microsoft.com/office/drawing/2014/main" id="{ECCF161D-E74F-BE4D-9B98-A5E6AABE9552}"/>
              </a:ext>
            </a:extLst>
          </p:cNvPr>
          <p:cNvCxnSpPr>
            <a:cxnSpLocks/>
          </p:cNvCxnSpPr>
          <p:nvPr/>
        </p:nvCxnSpPr>
        <p:spPr>
          <a:xfrm>
            <a:off x="9853347" y="2490887"/>
            <a:ext cx="1051107" cy="656867"/>
          </a:xfrm>
          <a:prstGeom prst="straightConnector1">
            <a:avLst/>
          </a:prstGeom>
          <a:ln w="63500">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7274064B-877D-5440-8BB7-E49DC44C5AA6}"/>
              </a:ext>
            </a:extLst>
          </p:cNvPr>
          <p:cNvSpPr txBox="1"/>
          <p:nvPr/>
        </p:nvSpPr>
        <p:spPr>
          <a:xfrm>
            <a:off x="53110" y="2819320"/>
            <a:ext cx="7995920" cy="2677656"/>
          </a:xfrm>
          <a:prstGeom prst="rect">
            <a:avLst/>
          </a:prstGeom>
          <a:noFill/>
        </p:spPr>
        <p:txBody>
          <a:bodyPr wrap="square" rtlCol="0">
            <a:spAutoFit/>
          </a:bodyPr>
          <a:lstStyle/>
          <a:p>
            <a:r>
              <a:rPr lang="en-US" sz="1400"/>
              <a:t>The easiest way is to link your regular bank account or credit/debit card to </a:t>
            </a:r>
            <a:br>
              <a:rPr lang="en-US" sz="1400"/>
            </a:br>
            <a:r>
              <a:rPr lang="en-US" sz="1400"/>
              <a:t>a crypto "wallet" at one of the existing services (or use independent wallet):</a:t>
            </a:r>
          </a:p>
          <a:p>
            <a:endParaRPr lang="en-US" sz="1400"/>
          </a:p>
          <a:p>
            <a:pPr marL="380990" indent="-380990">
              <a:buFont typeface="Arial" panose="020B0604020202020204" pitchFamily="34" charset="0"/>
              <a:buChar char="•"/>
            </a:pPr>
            <a:r>
              <a:rPr lang="en-US" sz="1400"/>
              <a:t>crypto brokers (like Robinhood, SoFi, etc.)</a:t>
            </a:r>
          </a:p>
          <a:p>
            <a:pPr marL="380990" indent="-380990">
              <a:buFont typeface="Arial" panose="020B0604020202020204" pitchFamily="34" charset="0"/>
              <a:buChar char="•"/>
            </a:pPr>
            <a:r>
              <a:rPr lang="en-US" sz="1400"/>
              <a:t>crypto exchanges (Coinbase, Gemini, Binance.US, etc.)</a:t>
            </a:r>
          </a:p>
          <a:p>
            <a:pPr marL="380990" indent="-380990">
              <a:buFont typeface="Arial" panose="020B0604020202020204" pitchFamily="34" charset="0"/>
              <a:buChar char="•"/>
            </a:pPr>
            <a:r>
              <a:rPr lang="en-US" sz="1400"/>
              <a:t>crypto wallets (Guarda, Exodus, Electrum, Mycelium, Coinbase, MetaMask/Ethereum, etc.)</a:t>
            </a:r>
          </a:p>
          <a:p>
            <a:pPr marL="380990" indent="-380990">
              <a:buFont typeface="Arial" panose="020B0604020202020204" pitchFamily="34" charset="0"/>
              <a:buChar char="•"/>
            </a:pPr>
            <a:r>
              <a:rPr lang="en-US" sz="1400"/>
              <a:t>crypto payment gateways (BitPay, COINQVEST, Coinbase, Coingate, CoinsBank, GoCoin, etc.)</a:t>
            </a:r>
          </a:p>
          <a:p>
            <a:endParaRPr lang="en-US" sz="1400"/>
          </a:p>
          <a:p>
            <a:r>
              <a:rPr lang="en-US" sz="1400"/>
              <a:t>Which service to choose depends on the currencies, amounts, fees, etc.</a:t>
            </a:r>
          </a:p>
          <a:p>
            <a:endParaRPr lang="en-US" sz="1400"/>
          </a:p>
          <a:p>
            <a:pPr marL="380990" indent="-380990">
              <a:buFont typeface="Arial" panose="020B0604020202020204" pitchFamily="34" charset="0"/>
              <a:buChar char="•"/>
            </a:pPr>
            <a:r>
              <a:rPr lang="en-US" sz="1400">
                <a:hlinkClick r:id="rId2"/>
              </a:rPr>
              <a:t>https://www.forbes.com/advisor/investing/cryptocurrency/how-to-buy-cryptocurrency/</a:t>
            </a:r>
            <a:endParaRPr lang="en-US" sz="1400"/>
          </a:p>
          <a:p>
            <a:pPr marL="380990" indent="-380990">
              <a:buFont typeface="Arial" panose="020B0604020202020204" pitchFamily="34" charset="0"/>
              <a:buChar char="•"/>
            </a:pPr>
            <a:r>
              <a:rPr lang="en-US" sz="1400">
                <a:hlinkClick r:id="rId3"/>
              </a:rPr>
              <a:t>https://www.investopedia.com/best-crypto-software-wallets-5220762</a:t>
            </a:r>
            <a:endParaRPr lang="en-US" sz="1400"/>
          </a:p>
        </p:txBody>
      </p:sp>
    </p:spTree>
    <p:extLst>
      <p:ext uri="{BB962C8B-B14F-4D97-AF65-F5344CB8AC3E}">
        <p14:creationId xmlns:p14="http://schemas.microsoft.com/office/powerpoint/2010/main" val="4336645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0843F1-39FC-B446-BCF9-38C04967543B}"/>
              </a:ext>
            </a:extLst>
          </p:cNvPr>
          <p:cNvSpPr txBox="1"/>
          <p:nvPr/>
        </p:nvSpPr>
        <p:spPr>
          <a:xfrm>
            <a:off x="1" y="1"/>
            <a:ext cx="5212521" cy="523220"/>
          </a:xfrm>
          <a:prstGeom prst="rect">
            <a:avLst/>
          </a:prstGeom>
          <a:noFill/>
        </p:spPr>
        <p:txBody>
          <a:bodyPr wrap="square" rtlCol="0">
            <a:spAutoFit/>
          </a:bodyPr>
          <a:lstStyle/>
          <a:p>
            <a:r>
              <a:rPr lang="en-US" sz="2800" b="1"/>
              <a:t>Convert BitCoin into USD</a:t>
            </a:r>
          </a:p>
        </p:txBody>
      </p:sp>
      <p:sp>
        <p:nvSpPr>
          <p:cNvPr id="3" name="TextBox 2">
            <a:extLst>
              <a:ext uri="{FF2B5EF4-FFF2-40B4-BE49-F238E27FC236}">
                <a16:creationId xmlns:a16="http://schemas.microsoft.com/office/drawing/2014/main" id="{975500E0-20B3-9745-9A3F-7F41CF1DCC91}"/>
              </a:ext>
            </a:extLst>
          </p:cNvPr>
          <p:cNvSpPr txBox="1"/>
          <p:nvPr/>
        </p:nvSpPr>
        <p:spPr>
          <a:xfrm>
            <a:off x="1" y="582382"/>
            <a:ext cx="5636591" cy="307777"/>
          </a:xfrm>
          <a:prstGeom prst="rect">
            <a:avLst/>
          </a:prstGeom>
          <a:noFill/>
        </p:spPr>
        <p:txBody>
          <a:bodyPr wrap="square" rtlCol="0">
            <a:spAutoFit/>
          </a:bodyPr>
          <a:lstStyle/>
          <a:p>
            <a:r>
              <a:rPr lang="en-US" sz="1400">
                <a:hlinkClick r:id="rId2"/>
              </a:rPr>
              <a:t>https://icoholder.com/blog/how-to-turn-bitcoin-into-usd/</a:t>
            </a:r>
            <a:endParaRPr lang="en-US" sz="1400"/>
          </a:p>
        </p:txBody>
      </p:sp>
      <p:sp>
        <p:nvSpPr>
          <p:cNvPr id="4" name="TextBox 3">
            <a:extLst>
              <a:ext uri="{FF2B5EF4-FFF2-40B4-BE49-F238E27FC236}">
                <a16:creationId xmlns:a16="http://schemas.microsoft.com/office/drawing/2014/main" id="{484D087E-5C2B-B944-8357-1FD76494AE6B}"/>
              </a:ext>
            </a:extLst>
          </p:cNvPr>
          <p:cNvSpPr txBox="1"/>
          <p:nvPr/>
        </p:nvSpPr>
        <p:spPr>
          <a:xfrm>
            <a:off x="1795305" y="1280008"/>
            <a:ext cx="8413820" cy="3970318"/>
          </a:xfrm>
          <a:prstGeom prst="rect">
            <a:avLst/>
          </a:prstGeom>
          <a:noFill/>
        </p:spPr>
        <p:txBody>
          <a:bodyPr wrap="square" rtlCol="0">
            <a:spAutoFit/>
          </a:bodyPr>
          <a:lstStyle/>
          <a:p>
            <a:pPr marL="380990" indent="-380990">
              <a:buFont typeface="Arial" panose="020B0604020202020204" pitchFamily="34" charset="0"/>
              <a:buChar char="•"/>
            </a:pPr>
            <a:r>
              <a:rPr lang="en-US" sz="1400"/>
              <a:t>If you and your buyer know and trust each other – you can do it by yourselves. Buyer can give you money – and you can send BTC from your account to his. You need to be aware of fees on both sides</a:t>
            </a:r>
          </a:p>
          <a:p>
            <a:endParaRPr lang="en-US" sz="1400"/>
          </a:p>
          <a:p>
            <a:pPr marL="380990" indent="-380990">
              <a:buFont typeface="Arial" panose="020B0604020202020204" pitchFamily="34" charset="0"/>
              <a:buChar char="•"/>
            </a:pPr>
            <a:r>
              <a:rPr lang="en-US" sz="1400"/>
              <a:t>You can also use facilitating service like LocalBitcoins which lists buyers (expect 1-3 days to complete transaction) - </a:t>
            </a:r>
            <a:r>
              <a:rPr lang="en-US" sz="1400">
                <a:hlinkClick r:id="rId3"/>
              </a:rPr>
              <a:t>https://localbitcoins.com/sell_bitcoins</a:t>
            </a:r>
            <a:br>
              <a:rPr lang="en-US" sz="1400"/>
            </a:br>
            <a:endParaRPr lang="en-US" sz="1400"/>
          </a:p>
          <a:p>
            <a:pPr marL="380990" indent="-380990">
              <a:buFont typeface="Arial" panose="020B0604020202020204" pitchFamily="34" charset="0"/>
              <a:buChar char="•"/>
            </a:pPr>
            <a:r>
              <a:rPr lang="en-US" sz="1400"/>
              <a:t>Otherwise you can use some (big) exchange – but for additional fee 1-2% fee. For example, Coinbase Exchange - </a:t>
            </a:r>
            <a:r>
              <a:rPr lang="en-US" sz="1400">
                <a:hlinkClick r:id="rId2"/>
              </a:rPr>
              <a:t>https://icoholder.com/blog/how-to-turn-bitcoin-into-usd/</a:t>
            </a:r>
            <a:r>
              <a:rPr lang="en-US" sz="1400"/>
              <a:t>  , </a:t>
            </a:r>
            <a:r>
              <a:rPr lang="en-US" sz="1400">
                <a:hlinkClick r:id="rId4"/>
              </a:rPr>
              <a:t>https://www.youtube.com/watch?v=60Rjdv2Z_Gg</a:t>
            </a:r>
            <a:r>
              <a:rPr lang="en-US" sz="1400"/>
              <a:t>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You can also trading platforms (like Kraken). Expect more background checks and higher fees. The process also will generally take longer ( ~5 days )  - </a:t>
            </a:r>
            <a:r>
              <a:rPr lang="en-US" sz="1400">
                <a:hlinkClick r:id="rId5"/>
              </a:rPr>
              <a:t>https://support.kraken.com/hc/en-us</a:t>
            </a:r>
            <a:r>
              <a:rPr lang="en-US" sz="1400"/>
              <a:t> </a:t>
            </a:r>
          </a:p>
          <a:p>
            <a:endParaRPr lang="en-US" sz="1400"/>
          </a:p>
          <a:p>
            <a:pPr marL="380990" indent="-380990">
              <a:buFont typeface="Arial" panose="020B0604020202020204" pitchFamily="34" charset="0"/>
              <a:buChar char="•"/>
            </a:pPr>
            <a:r>
              <a:rPr lang="en-US" sz="1400"/>
              <a:t>Currency Converters – many places, faster processing - </a:t>
            </a:r>
            <a:r>
              <a:rPr lang="en-US" sz="1400">
                <a:hlinkClick r:id="rId6"/>
              </a:rPr>
              <a:t>https://wealthpay.org</a:t>
            </a:r>
            <a:r>
              <a:rPr lang="en-US" sz="1400"/>
              <a:t> - </a:t>
            </a:r>
            <a:r>
              <a:rPr lang="en-US" sz="1400">
                <a:hlinkClick r:id="rId7"/>
              </a:rPr>
              <a:t>https://www.bestchange.com</a:t>
            </a:r>
            <a:r>
              <a:rPr lang="en-US" sz="1400"/>
              <a:t> - </a:t>
            </a:r>
            <a:r>
              <a:rPr lang="en-US" sz="1400">
                <a:hlinkClick r:id="rId8"/>
              </a:rPr>
              <a:t>https://www.okchanger.com</a:t>
            </a:r>
            <a:r>
              <a:rPr lang="en-US" sz="1400"/>
              <a:t>  </a:t>
            </a:r>
          </a:p>
          <a:p>
            <a:endParaRPr lang="en-US" sz="1400"/>
          </a:p>
          <a:p>
            <a:pPr marL="380990" indent="-380990">
              <a:buFont typeface="Arial" panose="020B0604020202020204" pitchFamily="34" charset="0"/>
              <a:buChar char="•"/>
            </a:pPr>
            <a:r>
              <a:rPr lang="en-US" sz="1400"/>
              <a:t>Direct Electronic Payment System – like </a:t>
            </a:r>
            <a:r>
              <a:rPr lang="en-US" sz="1400">
                <a:hlinkClick r:id="rId9"/>
              </a:rPr>
              <a:t>https://www.worldcore.eu</a:t>
            </a:r>
            <a:r>
              <a:rPr lang="en-US" sz="1400"/>
              <a:t> - it uses BitPay under the hood - </a:t>
            </a:r>
            <a:r>
              <a:rPr lang="en-US" sz="1400">
                <a:hlinkClick r:id="rId10"/>
              </a:rPr>
              <a:t>https://bitpay.com</a:t>
            </a:r>
            <a:r>
              <a:rPr lang="en-US" sz="1400"/>
              <a:t> </a:t>
            </a:r>
          </a:p>
        </p:txBody>
      </p:sp>
    </p:spTree>
    <p:extLst>
      <p:ext uri="{BB962C8B-B14F-4D97-AF65-F5344CB8AC3E}">
        <p14:creationId xmlns:p14="http://schemas.microsoft.com/office/powerpoint/2010/main" val="102708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C1446BC-FB38-4C49-9BFC-558F535A8731}"/>
              </a:ext>
            </a:extLst>
          </p:cNvPr>
          <p:cNvSpPr txBox="1"/>
          <p:nvPr/>
        </p:nvSpPr>
        <p:spPr>
          <a:xfrm>
            <a:off x="459082" y="2272829"/>
            <a:ext cx="9678340" cy="2677656"/>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00B050"/>
                </a:solidFill>
              </a:rPr>
              <a:t>Coinbase</a:t>
            </a:r>
            <a:r>
              <a:rPr lang="en-US" sz="1400"/>
              <a:t> - mainstream brand in the US market. Integrates with Shopify and WooCommerce - </a:t>
            </a:r>
            <a:r>
              <a:rPr lang="en-US" sz="1400">
                <a:hlinkClick r:id="rId2"/>
              </a:rPr>
              <a:t>https://www.coinbase.com</a:t>
            </a:r>
            <a:r>
              <a:rPr lang="en-US" sz="1400"/>
              <a:t> – </a:t>
            </a:r>
          </a:p>
          <a:p>
            <a:endParaRPr lang="en-US" sz="1400"/>
          </a:p>
          <a:p>
            <a:pPr marL="380990" indent="-380990">
              <a:buFont typeface="Arial" panose="020B0604020202020204" pitchFamily="34" charset="0"/>
              <a:buChar char="•"/>
            </a:pPr>
            <a:r>
              <a:rPr lang="en-US" sz="1400" b="1">
                <a:solidFill>
                  <a:srgbClr val="00B050"/>
                </a:solidFill>
              </a:rPr>
              <a:t>BitPay</a:t>
            </a:r>
            <a:r>
              <a:rPr lang="en-US" sz="1400"/>
              <a:t> - Bitcoin and Bitcoin Cash payment services for merchants. US, since 2011. Versatile payout options - </a:t>
            </a:r>
            <a:r>
              <a:rPr lang="en-US" sz="1400">
                <a:hlinkClick r:id="rId3"/>
              </a:rPr>
              <a:t>https://bitpay.com</a:t>
            </a:r>
            <a:r>
              <a:rPr lang="en-US" sz="1400"/>
              <a:t> - </a:t>
            </a:r>
          </a:p>
          <a:p>
            <a:endParaRPr lang="en-US" sz="1400"/>
          </a:p>
          <a:p>
            <a:pPr marL="380990" indent="-380990">
              <a:buFont typeface="Arial" panose="020B0604020202020204" pitchFamily="34" charset="0"/>
              <a:buChar char="•"/>
            </a:pPr>
            <a:r>
              <a:rPr lang="en-US" sz="1400" b="1">
                <a:solidFill>
                  <a:srgbClr val="00B050"/>
                </a:solidFill>
              </a:rPr>
              <a:t>CoinGate</a:t>
            </a:r>
            <a:r>
              <a:rPr lang="en-US" sz="1400"/>
              <a:t> - Supports payment in more obscure coins, Integrates with a large number of eCommerce platforms - </a:t>
            </a:r>
            <a:r>
              <a:rPr lang="en-US" sz="1400">
                <a:hlinkClick r:id="rId4"/>
              </a:rPr>
              <a:t>https://coingate.com</a:t>
            </a:r>
            <a:r>
              <a:rPr lang="en-US" sz="1400"/>
              <a:t> – </a:t>
            </a:r>
          </a:p>
          <a:p>
            <a:endParaRPr lang="en-US" sz="1400"/>
          </a:p>
          <a:p>
            <a:pPr marL="380990" indent="-380990">
              <a:buFont typeface="Arial" panose="020B0604020202020204" pitchFamily="34" charset="0"/>
              <a:buChar char="•"/>
            </a:pPr>
            <a:r>
              <a:rPr lang="en-US" sz="1400" b="1">
                <a:solidFill>
                  <a:srgbClr val="00B050"/>
                </a:solidFill>
              </a:rPr>
              <a:t>NOWpayments</a:t>
            </a:r>
            <a:r>
              <a:rPr lang="en-US" sz="1400"/>
              <a:t> - Supports payment in more obscure coins, Integrates with a large number of eCommerce platforms, Low fees for simple transactions - </a:t>
            </a:r>
            <a:r>
              <a:rPr lang="en-US" sz="1400">
                <a:hlinkClick r:id="rId5"/>
              </a:rPr>
              <a:t>https://nowpayments.io</a:t>
            </a:r>
            <a:r>
              <a:rPr lang="en-US" sz="1400"/>
              <a:t> – </a:t>
            </a:r>
          </a:p>
          <a:p>
            <a:endParaRPr lang="en-US" sz="1400"/>
          </a:p>
          <a:p>
            <a:pPr marL="380990" indent="-380990">
              <a:buFont typeface="Arial" panose="020B0604020202020204" pitchFamily="34" charset="0"/>
              <a:buChar char="•"/>
            </a:pPr>
            <a:r>
              <a:rPr lang="en-US" sz="1400" b="1">
                <a:solidFill>
                  <a:srgbClr val="00B050"/>
                </a:solidFill>
              </a:rPr>
              <a:t>AlfaCoins</a:t>
            </a:r>
            <a:r>
              <a:rPr lang="en-US" sz="1400"/>
              <a:t> - Flexible payment options, Easy to use - </a:t>
            </a:r>
            <a:r>
              <a:rPr lang="en-US" sz="1400">
                <a:hlinkClick r:id="rId6"/>
              </a:rPr>
              <a:t>https://www.alfacoins.com</a:t>
            </a:r>
            <a:r>
              <a:rPr lang="en-US" sz="1400"/>
              <a:t> - </a:t>
            </a:r>
          </a:p>
        </p:txBody>
      </p:sp>
      <p:sp>
        <p:nvSpPr>
          <p:cNvPr id="3" name="TextBox 2">
            <a:extLst>
              <a:ext uri="{FF2B5EF4-FFF2-40B4-BE49-F238E27FC236}">
                <a16:creationId xmlns:a16="http://schemas.microsoft.com/office/drawing/2014/main" id="{170FDA16-7038-5F44-96A9-2983ADCDFDFA}"/>
              </a:ext>
            </a:extLst>
          </p:cNvPr>
          <p:cNvSpPr txBox="1"/>
          <p:nvPr/>
        </p:nvSpPr>
        <p:spPr>
          <a:xfrm>
            <a:off x="1" y="1"/>
            <a:ext cx="5298252" cy="523220"/>
          </a:xfrm>
          <a:prstGeom prst="rect">
            <a:avLst/>
          </a:prstGeom>
          <a:noFill/>
        </p:spPr>
        <p:txBody>
          <a:bodyPr wrap="square" rtlCol="0">
            <a:spAutoFit/>
          </a:bodyPr>
          <a:lstStyle/>
          <a:p>
            <a:r>
              <a:rPr lang="en-US" sz="2800" b="1"/>
              <a:t>Crypto Payment Services</a:t>
            </a:r>
          </a:p>
        </p:txBody>
      </p:sp>
      <p:sp>
        <p:nvSpPr>
          <p:cNvPr id="4" name="TextBox 3">
            <a:extLst>
              <a:ext uri="{FF2B5EF4-FFF2-40B4-BE49-F238E27FC236}">
                <a16:creationId xmlns:a16="http://schemas.microsoft.com/office/drawing/2014/main" id="{4C2B9AA6-A14C-D142-93AB-6A09A48CF631}"/>
              </a:ext>
            </a:extLst>
          </p:cNvPr>
          <p:cNvSpPr txBox="1"/>
          <p:nvPr/>
        </p:nvSpPr>
        <p:spPr>
          <a:xfrm>
            <a:off x="120415" y="933215"/>
            <a:ext cx="6544545" cy="523220"/>
          </a:xfrm>
          <a:prstGeom prst="rect">
            <a:avLst/>
          </a:prstGeom>
          <a:noFill/>
        </p:spPr>
        <p:txBody>
          <a:bodyPr wrap="square" rtlCol="0">
            <a:spAutoFit/>
          </a:bodyPr>
          <a:lstStyle/>
          <a:p>
            <a:r>
              <a:rPr lang="en-US" sz="1400"/>
              <a:t>The 5 Most Popular Crypto Payment Gateway &amp; Processors</a:t>
            </a:r>
          </a:p>
          <a:p>
            <a:r>
              <a:rPr lang="en-US" sz="1400">
                <a:hlinkClick r:id="rId7"/>
              </a:rPr>
              <a:t>https://www.merchantmaverick.com/best-cryptocurrency-payment-gateway/</a:t>
            </a:r>
            <a:endParaRPr lang="en-US" sz="1400"/>
          </a:p>
        </p:txBody>
      </p:sp>
    </p:spTree>
    <p:extLst>
      <p:ext uri="{BB962C8B-B14F-4D97-AF65-F5344CB8AC3E}">
        <p14:creationId xmlns:p14="http://schemas.microsoft.com/office/powerpoint/2010/main" val="3970481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D5F5F09-9DB3-9E49-8CE2-4F0323174DB1}"/>
              </a:ext>
            </a:extLst>
          </p:cNvPr>
          <p:cNvSpPr txBox="1"/>
          <p:nvPr/>
        </p:nvSpPr>
        <p:spPr>
          <a:xfrm>
            <a:off x="150519" y="1509095"/>
            <a:ext cx="10380212" cy="2893100"/>
          </a:xfrm>
          <a:prstGeom prst="rect">
            <a:avLst/>
          </a:prstGeom>
          <a:noFill/>
        </p:spPr>
        <p:txBody>
          <a:bodyPr wrap="square" rtlCol="0">
            <a:spAutoFit/>
          </a:bodyPr>
          <a:lstStyle/>
          <a:p>
            <a:pPr marL="380990" indent="-380990">
              <a:buFont typeface="Arial" panose="020B0604020202020204" pitchFamily="34" charset="0"/>
              <a:buChar char="•"/>
            </a:pPr>
            <a:r>
              <a:rPr lang="en-US" sz="1400" b="1">
                <a:solidFill>
                  <a:srgbClr val="FF0000"/>
                </a:solidFill>
              </a:rPr>
              <a:t>Coinbase</a:t>
            </a:r>
            <a:r>
              <a:rPr lang="en-US" sz="1400"/>
              <a:t> - 89+ Mln users, 100+ countries, USA-based - </a:t>
            </a:r>
            <a:r>
              <a:rPr lang="en-US" sz="1400">
                <a:hlinkClick r:id="rId2"/>
              </a:rPr>
              <a:t>https://www.coinbase.com</a:t>
            </a:r>
            <a:r>
              <a:rPr lang="en-US" sz="1400"/>
              <a:t> - Transaction Fees: 0.04% to 0.50% (taker orders); 0% to 0.50% (makers orders), Wallet included. Very high liquidity, variety of coins</a:t>
            </a:r>
          </a:p>
          <a:p>
            <a:pPr marL="380990" indent="-380990">
              <a:buFont typeface="Arial" panose="020B0604020202020204" pitchFamily="34" charset="0"/>
              <a:buChar char="•"/>
            </a:pPr>
            <a:r>
              <a:rPr lang="en-US" sz="1400" b="1">
                <a:solidFill>
                  <a:srgbClr val="FF0000"/>
                </a:solidFill>
              </a:rPr>
              <a:t>Binance</a:t>
            </a:r>
            <a:r>
              <a:rPr lang="en-US" sz="1400"/>
              <a:t> - </a:t>
            </a:r>
            <a:r>
              <a:rPr lang="en-US" sz="1400">
                <a:hlinkClick r:id="rId3"/>
              </a:rPr>
              <a:t>https://www.binance.com</a:t>
            </a:r>
            <a:r>
              <a:rPr lang="en-US" sz="1400"/>
              <a:t> - Cayman Islands (Caribbean) &amp; Seychelles (island near Africa). Hindreds of cr.currencies. Not available in US. Low fees, large variety of cryptocurrencies and trading pairs, geared for more advanced users</a:t>
            </a:r>
          </a:p>
          <a:p>
            <a:pPr marL="380990" indent="-380990">
              <a:buFont typeface="Arial" panose="020B0604020202020204" pitchFamily="34" charset="0"/>
              <a:buChar char="•"/>
            </a:pPr>
            <a:r>
              <a:rPr lang="en-US" sz="1400" b="1">
                <a:solidFill>
                  <a:srgbClr val="FF0000"/>
                </a:solidFill>
              </a:rPr>
              <a:t>Binance.US</a:t>
            </a:r>
            <a:r>
              <a:rPr lang="en-US" sz="1400"/>
              <a:t> - </a:t>
            </a:r>
            <a:r>
              <a:rPr lang="en-US" sz="1400">
                <a:hlinkClick r:id="rId4"/>
              </a:rPr>
              <a:t>https://www.binance.us</a:t>
            </a:r>
            <a:r>
              <a:rPr lang="en-US" sz="1400"/>
              <a:t> – US-regulated, 50 cryptocurrencies, not all states supported</a:t>
            </a:r>
          </a:p>
          <a:p>
            <a:pPr marL="380990" indent="-380990">
              <a:buFont typeface="Arial" panose="020B0604020202020204" pitchFamily="34" charset="0"/>
              <a:buChar char="•"/>
            </a:pPr>
            <a:r>
              <a:rPr lang="en-US" sz="1400" b="1">
                <a:solidFill>
                  <a:srgbClr val="FF0000"/>
                </a:solidFill>
              </a:rPr>
              <a:t>Abra</a:t>
            </a:r>
            <a:r>
              <a:rPr lang="en-US" sz="1400"/>
              <a:t> - </a:t>
            </a:r>
            <a:r>
              <a:rPr lang="en-US" sz="1400">
                <a:hlinkClick r:id="rId5"/>
              </a:rPr>
              <a:t>https://www.abra.com</a:t>
            </a:r>
            <a:r>
              <a:rPr lang="en-US" sz="1400"/>
              <a:t> - Mountain View, CA - operates a comprehensive, custodial cryptocurrency wallet and exchange</a:t>
            </a:r>
          </a:p>
          <a:p>
            <a:pPr marL="380990" indent="-380990">
              <a:buFont typeface="Arial" panose="020B0604020202020204" pitchFamily="34" charset="0"/>
              <a:buChar char="•"/>
            </a:pPr>
            <a:r>
              <a:rPr lang="en-US" sz="1400" b="1">
                <a:solidFill>
                  <a:srgbClr val="FF0000"/>
                </a:solidFill>
              </a:rPr>
              <a:t>Cash App</a:t>
            </a:r>
            <a:r>
              <a:rPr lang="en-US" sz="1400"/>
              <a:t> - </a:t>
            </a:r>
            <a:r>
              <a:rPr lang="en-US" sz="1400">
                <a:hlinkClick r:id="rId6"/>
              </a:rPr>
              <a:t>https://cash.app</a:t>
            </a:r>
            <a:r>
              <a:rPr lang="en-US" sz="1400"/>
              <a:t> – easy to use, peer-to-peer money transfer (like Venmo or Zelle), ability to withdraw Bitcoin, supports only one crypto-currency – the Bitcoin. has daily and weekly withdrawal limits. Charge when sending money via credit card</a:t>
            </a:r>
          </a:p>
          <a:p>
            <a:pPr marL="380990" indent="-380990">
              <a:buFont typeface="Arial" panose="020B0604020202020204" pitchFamily="34" charset="0"/>
              <a:buChar char="•"/>
            </a:pPr>
            <a:r>
              <a:rPr lang="en-US" sz="1400" b="1">
                <a:solidFill>
                  <a:srgbClr val="FF0000"/>
                </a:solidFill>
              </a:rPr>
              <a:t>bisq</a:t>
            </a:r>
            <a:r>
              <a:rPr lang="en-US" sz="1400"/>
              <a:t> – decentralized exchange - </a:t>
            </a:r>
            <a:r>
              <a:rPr lang="en-US" sz="1400">
                <a:hlinkClick r:id="rId7"/>
              </a:rPr>
              <a:t>https://bisq.network</a:t>
            </a:r>
            <a:r>
              <a:rPr lang="en-US" sz="1400"/>
              <a:t> – non-KYC platform, 18 crypto-currencies, but transaction speeds may be slow, trading volumes can be low</a:t>
            </a:r>
          </a:p>
          <a:p>
            <a:pPr marL="380990" indent="-380990">
              <a:buFont typeface="Arial" panose="020B0604020202020204" pitchFamily="34" charset="0"/>
              <a:buChar char="•"/>
            </a:pPr>
            <a:r>
              <a:rPr lang="en-US" sz="1400" b="1">
                <a:solidFill>
                  <a:srgbClr val="FF0000"/>
                </a:solidFill>
              </a:rPr>
              <a:t>Kraken</a:t>
            </a:r>
            <a:r>
              <a:rPr lang="en-US" sz="1400"/>
              <a:t> – Bitcoin &amp; Crypto Exchange - </a:t>
            </a:r>
            <a:r>
              <a:rPr lang="en-US" sz="1400">
                <a:hlinkClick r:id="rId8"/>
              </a:rPr>
              <a:t>https://www.kraken.com</a:t>
            </a:r>
            <a:r>
              <a:rPr lang="en-US" sz="1400"/>
              <a:t> - </a:t>
            </a:r>
          </a:p>
          <a:p>
            <a:pPr marL="380990" indent="-380990">
              <a:buFont typeface="Arial" panose="020B0604020202020204" pitchFamily="34" charset="0"/>
              <a:buChar char="•"/>
            </a:pPr>
            <a:r>
              <a:rPr lang="en-US" sz="1400" b="1">
                <a:solidFill>
                  <a:srgbClr val="FF0000"/>
                </a:solidFill>
              </a:rPr>
              <a:t>Gemini</a:t>
            </a:r>
            <a:r>
              <a:rPr lang="en-US" sz="1400"/>
              <a:t> - </a:t>
            </a:r>
            <a:r>
              <a:rPr lang="en-US" sz="1400">
                <a:hlinkClick r:id="rId9"/>
              </a:rPr>
              <a:t>https://www.gemini.com</a:t>
            </a:r>
            <a:r>
              <a:rPr lang="en-US" sz="1400"/>
              <a:t> - </a:t>
            </a:r>
          </a:p>
          <a:p>
            <a:pPr marL="380990" indent="-380990">
              <a:buFont typeface="Arial" panose="020B0604020202020204" pitchFamily="34" charset="0"/>
              <a:buChar char="•"/>
            </a:pPr>
            <a:r>
              <a:rPr lang="en-US" sz="1400" b="1">
                <a:solidFill>
                  <a:srgbClr val="FF0000"/>
                </a:solidFill>
              </a:rPr>
              <a:t>Robinhood</a:t>
            </a:r>
            <a:r>
              <a:rPr lang="en-US" sz="1400"/>
              <a:t> - </a:t>
            </a:r>
            <a:r>
              <a:rPr lang="en-US" sz="1400">
                <a:hlinkClick r:id="rId10"/>
              </a:rPr>
              <a:t>https://robinhood.com</a:t>
            </a:r>
            <a:r>
              <a:rPr lang="en-US" sz="1400"/>
              <a:t> - </a:t>
            </a:r>
          </a:p>
        </p:txBody>
      </p:sp>
      <p:sp>
        <p:nvSpPr>
          <p:cNvPr id="5" name="TextBox 4">
            <a:extLst>
              <a:ext uri="{FF2B5EF4-FFF2-40B4-BE49-F238E27FC236}">
                <a16:creationId xmlns:a16="http://schemas.microsoft.com/office/drawing/2014/main" id="{323C8C33-6A91-5C4E-9187-89A8633AA1F9}"/>
              </a:ext>
            </a:extLst>
          </p:cNvPr>
          <p:cNvSpPr txBox="1"/>
          <p:nvPr/>
        </p:nvSpPr>
        <p:spPr>
          <a:xfrm>
            <a:off x="0" y="0"/>
            <a:ext cx="4860241" cy="523220"/>
          </a:xfrm>
          <a:prstGeom prst="rect">
            <a:avLst/>
          </a:prstGeom>
          <a:noFill/>
        </p:spPr>
        <p:txBody>
          <a:bodyPr wrap="none" rtlCol="0">
            <a:spAutoFit/>
          </a:bodyPr>
          <a:lstStyle/>
          <a:p>
            <a:r>
              <a:rPr lang="en-US" sz="2800" b="1"/>
              <a:t>Crypto Exchanges (and Wallets)</a:t>
            </a:r>
          </a:p>
        </p:txBody>
      </p:sp>
      <p:sp>
        <p:nvSpPr>
          <p:cNvPr id="6" name="TextBox 5">
            <a:extLst>
              <a:ext uri="{FF2B5EF4-FFF2-40B4-BE49-F238E27FC236}">
                <a16:creationId xmlns:a16="http://schemas.microsoft.com/office/drawing/2014/main" id="{242F6334-63B7-9C4A-8B2E-385511847E4C}"/>
              </a:ext>
            </a:extLst>
          </p:cNvPr>
          <p:cNvSpPr txBox="1"/>
          <p:nvPr/>
        </p:nvSpPr>
        <p:spPr>
          <a:xfrm>
            <a:off x="150519" y="811468"/>
            <a:ext cx="7315200" cy="523220"/>
          </a:xfrm>
          <a:prstGeom prst="rect">
            <a:avLst/>
          </a:prstGeom>
          <a:noFill/>
        </p:spPr>
        <p:txBody>
          <a:bodyPr wrap="square" rtlCol="0">
            <a:spAutoFit/>
          </a:bodyPr>
          <a:lstStyle/>
          <a:p>
            <a:r>
              <a:rPr lang="en-US" sz="1400"/>
              <a:t>Best Crypto Exchanges in 2021:</a:t>
            </a:r>
            <a:br>
              <a:rPr lang="en-US" sz="1400"/>
            </a:br>
            <a:r>
              <a:rPr lang="en-US" sz="1400"/>
              <a:t> - </a:t>
            </a:r>
            <a:r>
              <a:rPr lang="en-US" sz="1400">
                <a:hlinkClick r:id="rId11"/>
              </a:rPr>
              <a:t>https://www.investopedia.com/best-crypto-exchanges-5071855</a:t>
            </a:r>
            <a:r>
              <a:rPr lang="en-US" sz="1400"/>
              <a:t> - </a:t>
            </a:r>
          </a:p>
        </p:txBody>
      </p:sp>
    </p:spTree>
    <p:extLst>
      <p:ext uri="{BB962C8B-B14F-4D97-AF65-F5344CB8AC3E}">
        <p14:creationId xmlns:p14="http://schemas.microsoft.com/office/powerpoint/2010/main" val="10145871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60141B-E690-B949-B6F8-F8DD5D84DCB7}"/>
              </a:ext>
            </a:extLst>
          </p:cNvPr>
          <p:cNvSpPr txBox="1"/>
          <p:nvPr/>
        </p:nvSpPr>
        <p:spPr>
          <a:xfrm>
            <a:off x="1" y="2"/>
            <a:ext cx="4281543" cy="523220"/>
          </a:xfrm>
          <a:prstGeom prst="rect">
            <a:avLst/>
          </a:prstGeom>
          <a:noFill/>
        </p:spPr>
        <p:txBody>
          <a:bodyPr wrap="square" rtlCol="0">
            <a:spAutoFit/>
          </a:bodyPr>
          <a:lstStyle/>
          <a:p>
            <a:r>
              <a:rPr lang="en-US" sz="2800" b="1"/>
              <a:t>High Fees (Proof of Work)</a:t>
            </a:r>
          </a:p>
        </p:txBody>
      </p:sp>
      <p:sp>
        <p:nvSpPr>
          <p:cNvPr id="3" name="TextBox 2">
            <a:extLst>
              <a:ext uri="{FF2B5EF4-FFF2-40B4-BE49-F238E27FC236}">
                <a16:creationId xmlns:a16="http://schemas.microsoft.com/office/drawing/2014/main" id="{A6AED350-E383-AA44-92CF-CDEF1A07CEC0}"/>
              </a:ext>
            </a:extLst>
          </p:cNvPr>
          <p:cNvSpPr txBox="1"/>
          <p:nvPr/>
        </p:nvSpPr>
        <p:spPr>
          <a:xfrm>
            <a:off x="6049432" y="345591"/>
            <a:ext cx="6108569" cy="2031325"/>
          </a:xfrm>
          <a:prstGeom prst="rect">
            <a:avLst/>
          </a:prstGeom>
          <a:solidFill>
            <a:schemeClr val="accent4">
              <a:lumMod val="20000"/>
              <a:lumOff val="80000"/>
            </a:schemeClr>
          </a:solidFill>
        </p:spPr>
        <p:txBody>
          <a:bodyPr wrap="square" rtlCol="0">
            <a:spAutoFit/>
          </a:bodyPr>
          <a:lstStyle/>
          <a:p>
            <a:r>
              <a:rPr lang="en-US" sz="1400" b="1">
                <a:solidFill>
                  <a:srgbClr val="FF0000"/>
                </a:solidFill>
              </a:rPr>
              <a:t>Bitcoin</a:t>
            </a:r>
          </a:p>
          <a:p>
            <a:r>
              <a:rPr lang="en-US" sz="1400"/>
              <a:t>Fees are calculated in "</a:t>
            </a:r>
            <a:r>
              <a:rPr lang="en-US" sz="1400" b="1">
                <a:solidFill>
                  <a:srgbClr val="00B050"/>
                </a:solidFill>
              </a:rPr>
              <a:t>satoshi</a:t>
            </a:r>
            <a:r>
              <a:rPr lang="en-US" sz="1400"/>
              <a:t>" named after Satoshi Nakamoto, creator of bitcoin.</a:t>
            </a:r>
          </a:p>
          <a:p>
            <a:r>
              <a:rPr lang="en-US" sz="1400"/>
              <a:t>1 </a:t>
            </a:r>
            <a:r>
              <a:rPr lang="en-US" sz="1400" b="1">
                <a:solidFill>
                  <a:srgbClr val="00B050"/>
                </a:solidFill>
              </a:rPr>
              <a:t>satoshi</a:t>
            </a:r>
            <a:r>
              <a:rPr lang="en-US" sz="1400"/>
              <a:t> = 0.00000001 BTC = 1e-8 BTC</a:t>
            </a:r>
          </a:p>
          <a:p>
            <a:r>
              <a:rPr lang="en-US" sz="1400"/>
              <a:t>(Jan 2022) Estimated transaction fee $2.34 = 5,056 satoshi</a:t>
            </a:r>
          </a:p>
          <a:p>
            <a:pPr marL="380981" indent="-380981">
              <a:buFont typeface="Arial" panose="020B0604020202020204" pitchFamily="34" charset="0"/>
              <a:buChar char="•"/>
            </a:pPr>
            <a:r>
              <a:rPr lang="en-US" sz="1400">
                <a:hlinkClick r:id="rId2"/>
              </a:rPr>
              <a:t>https://www.btcsatoshi.com/</a:t>
            </a:r>
            <a:r>
              <a:rPr lang="en-US" sz="1400"/>
              <a:t> </a:t>
            </a:r>
          </a:p>
          <a:p>
            <a:pPr marL="380981" indent="-380981">
              <a:buFont typeface="Arial" panose="020B0604020202020204" pitchFamily="34" charset="0"/>
              <a:buChar char="•"/>
            </a:pPr>
            <a:r>
              <a:rPr lang="en-US" sz="1400">
                <a:hlinkClick r:id="rId3"/>
              </a:rPr>
              <a:t>https://www.buybitcoinworldwide.com/fee-calculator/</a:t>
            </a:r>
            <a:endParaRPr lang="en-US" sz="1400"/>
          </a:p>
          <a:p>
            <a:pPr marL="380981" indent="-380981">
              <a:buFont typeface="Arial" panose="020B0604020202020204" pitchFamily="34" charset="0"/>
              <a:buChar char="•"/>
            </a:pPr>
            <a:r>
              <a:rPr lang="en-US" sz="1400">
                <a:hlinkClick r:id="rId4"/>
              </a:rPr>
              <a:t>https://bitcoinfees.earn.com/</a:t>
            </a:r>
            <a:endParaRPr lang="en-US" sz="1400"/>
          </a:p>
          <a:p>
            <a:pPr marL="380981" indent="-380981">
              <a:buFont typeface="Arial" panose="020B0604020202020204" pitchFamily="34" charset="0"/>
              <a:buChar char="•"/>
            </a:pPr>
            <a:r>
              <a:rPr lang="en-US" sz="1400">
                <a:hlinkClick r:id="rId5"/>
              </a:rPr>
              <a:t>https://mempool.space/</a:t>
            </a:r>
            <a:endParaRPr lang="en-US" sz="1400"/>
          </a:p>
          <a:p>
            <a:pPr marL="380981" indent="-380981">
              <a:buFont typeface="Arial" panose="020B0604020202020204" pitchFamily="34" charset="0"/>
              <a:buChar char="•"/>
            </a:pPr>
            <a:r>
              <a:rPr lang="en-US" sz="1400">
                <a:hlinkClick r:id="rId6"/>
              </a:rPr>
              <a:t>https://bitcoinbriefly.com/how-to-use-mempool-space-block-explorer/</a:t>
            </a:r>
            <a:endParaRPr lang="en-US" sz="1400"/>
          </a:p>
        </p:txBody>
      </p:sp>
      <p:sp>
        <p:nvSpPr>
          <p:cNvPr id="5" name="TextBox 4">
            <a:extLst>
              <a:ext uri="{FF2B5EF4-FFF2-40B4-BE49-F238E27FC236}">
                <a16:creationId xmlns:a16="http://schemas.microsoft.com/office/drawing/2014/main" id="{34259496-1ED9-EE43-98E1-41D4DE288FAB}"/>
              </a:ext>
            </a:extLst>
          </p:cNvPr>
          <p:cNvSpPr txBox="1"/>
          <p:nvPr/>
        </p:nvSpPr>
        <p:spPr>
          <a:xfrm>
            <a:off x="6072716" y="3545234"/>
            <a:ext cx="6085285" cy="2246769"/>
          </a:xfrm>
          <a:prstGeom prst="rect">
            <a:avLst/>
          </a:prstGeom>
          <a:solidFill>
            <a:schemeClr val="accent4">
              <a:lumMod val="20000"/>
              <a:lumOff val="80000"/>
            </a:schemeClr>
          </a:solidFill>
        </p:spPr>
        <p:txBody>
          <a:bodyPr wrap="square" rtlCol="0">
            <a:spAutoFit/>
          </a:bodyPr>
          <a:lstStyle/>
          <a:p>
            <a:r>
              <a:rPr lang="en-US" sz="1400" b="1">
                <a:solidFill>
                  <a:srgbClr val="FF0000"/>
                </a:solidFill>
              </a:rPr>
              <a:t>Ethereum</a:t>
            </a:r>
          </a:p>
          <a:p>
            <a:pPr marL="380981" indent="-380981">
              <a:buFont typeface="Arial" panose="020B0604020202020204" pitchFamily="34" charset="0"/>
              <a:buChar char="•"/>
            </a:pPr>
            <a:r>
              <a:rPr lang="en-US" sz="1400">
                <a:hlinkClick r:id="rId7"/>
              </a:rPr>
              <a:t>https://cryptotesters.com/blog/ethereum-gas</a:t>
            </a:r>
            <a:endParaRPr lang="en-US" sz="1400"/>
          </a:p>
          <a:p>
            <a:pPr marL="380981" indent="-380981">
              <a:buFont typeface="Arial" panose="020B0604020202020204" pitchFamily="34" charset="0"/>
              <a:buChar char="•"/>
            </a:pPr>
            <a:r>
              <a:rPr lang="en-US" sz="1400">
                <a:hlinkClick r:id="rId8"/>
              </a:rPr>
              <a:t>https://automatedwebtools.com/usd-eth-gas-fee/</a:t>
            </a:r>
            <a:endParaRPr lang="en-US" sz="1400"/>
          </a:p>
          <a:p>
            <a:pPr marL="380981" indent="-380981">
              <a:buFont typeface="Arial" panose="020B0604020202020204" pitchFamily="34" charset="0"/>
              <a:buChar char="•"/>
            </a:pPr>
            <a:r>
              <a:rPr lang="en-US" sz="1400">
                <a:hlinkClick r:id="rId9"/>
              </a:rPr>
              <a:t>https://etherscan.io/</a:t>
            </a:r>
            <a:endParaRPr lang="en-US" sz="1400"/>
          </a:p>
          <a:p>
            <a:endParaRPr lang="en-US" sz="1400"/>
          </a:p>
          <a:p>
            <a:r>
              <a:rPr lang="en-US" sz="1400"/>
              <a:t>Cost of transaction is measured in "</a:t>
            </a:r>
            <a:r>
              <a:rPr lang="en-US" sz="1400" b="1">
                <a:solidFill>
                  <a:srgbClr val="00B050"/>
                </a:solidFill>
              </a:rPr>
              <a:t>Gwei</a:t>
            </a:r>
            <a:r>
              <a:rPr lang="en-US" sz="1400"/>
              <a:t>" – named after </a:t>
            </a:r>
            <a:r>
              <a:rPr lang="en-US" sz="1400" b="1">
                <a:solidFill>
                  <a:srgbClr val="00B050"/>
                </a:solidFill>
              </a:rPr>
              <a:t>Wei Dai</a:t>
            </a:r>
            <a:r>
              <a:rPr lang="en-US" sz="1400"/>
              <a:t>, best known as the creator of the bitcoin predecessor "</a:t>
            </a:r>
            <a:r>
              <a:rPr lang="en-US" sz="1400" b="1">
                <a:solidFill>
                  <a:srgbClr val="00B050"/>
                </a:solidFill>
              </a:rPr>
              <a:t>b-money</a:t>
            </a:r>
            <a:r>
              <a:rPr lang="en-US" sz="1400"/>
              <a:t>" and as the developer of the Crypto++ library.</a:t>
            </a:r>
          </a:p>
          <a:p>
            <a:r>
              <a:rPr lang="en-US" sz="1400"/>
              <a:t>1 gwei = 0.000000001 ether = 1/1Bln part of Ether</a:t>
            </a:r>
          </a:p>
          <a:p>
            <a:r>
              <a:rPr lang="en-US" sz="1400"/>
              <a:t>(Jan 2022) Estimated transaction fee $5.61 = 70 Gwei</a:t>
            </a:r>
          </a:p>
        </p:txBody>
      </p:sp>
      <p:sp>
        <p:nvSpPr>
          <p:cNvPr id="6" name="TextBox 5">
            <a:extLst>
              <a:ext uri="{FF2B5EF4-FFF2-40B4-BE49-F238E27FC236}">
                <a16:creationId xmlns:a16="http://schemas.microsoft.com/office/drawing/2014/main" id="{27CB1A5F-D7E9-9243-BA66-5A30E0E04534}"/>
              </a:ext>
            </a:extLst>
          </p:cNvPr>
          <p:cNvSpPr txBox="1"/>
          <p:nvPr/>
        </p:nvSpPr>
        <p:spPr>
          <a:xfrm>
            <a:off x="0" y="823196"/>
            <a:ext cx="5744065" cy="2462213"/>
          </a:xfrm>
          <a:prstGeom prst="rect">
            <a:avLst/>
          </a:prstGeom>
          <a:solidFill>
            <a:schemeClr val="accent4">
              <a:lumMod val="20000"/>
              <a:lumOff val="80000"/>
            </a:schemeClr>
          </a:solidFill>
        </p:spPr>
        <p:txBody>
          <a:bodyPr wrap="square" rtlCol="0">
            <a:spAutoFit/>
          </a:bodyPr>
          <a:lstStyle/>
          <a:p>
            <a:r>
              <a:rPr lang="en-US" sz="1400"/>
              <a:t>Miners are rewarded for calculating next block</a:t>
            </a:r>
          </a:p>
          <a:p>
            <a:r>
              <a:rPr lang="en-US" sz="1400"/>
              <a:t>in a blockchain's mempool. The reward is calculated </a:t>
            </a:r>
            <a:r>
              <a:rPr lang="en-US" sz="1400">
                <a:solidFill>
                  <a:srgbClr val="0070C0"/>
                </a:solidFill>
              </a:rPr>
              <a:t>per the length of the record and complexity of calculation</a:t>
            </a:r>
            <a:r>
              <a:rPr lang="en-US" sz="1400"/>
              <a:t> – and </a:t>
            </a:r>
            <a:r>
              <a:rPr lang="en-US" sz="1400">
                <a:solidFill>
                  <a:srgbClr val="00B050"/>
                </a:solidFill>
              </a:rPr>
              <a:t>in values native to the blockchain</a:t>
            </a:r>
            <a:r>
              <a:rPr lang="en-US" sz="1400"/>
              <a:t>. </a:t>
            </a:r>
          </a:p>
          <a:p>
            <a:endParaRPr lang="en-US" sz="1400"/>
          </a:p>
          <a:p>
            <a:r>
              <a:rPr lang="en-US" sz="1400"/>
              <a:t>When converting to dollars, the fees are very volatile.</a:t>
            </a:r>
          </a:p>
          <a:p>
            <a:r>
              <a:rPr lang="en-US" sz="1400"/>
              <a:t>Here is what Wall Street Journal says about fees in 2021:</a:t>
            </a:r>
          </a:p>
          <a:p>
            <a:r>
              <a:rPr lang="en-US" sz="1400"/>
              <a:t>""" </a:t>
            </a:r>
            <a:r>
              <a:rPr lang="en-US" sz="1400">
                <a:solidFill>
                  <a:srgbClr val="0070C0"/>
                </a:solidFill>
              </a:rPr>
              <a:t>On the Bitcoin network, the average daily transaction fee this year has been as low as </a:t>
            </a:r>
            <a:r>
              <a:rPr lang="en-US" sz="1400" b="1">
                <a:solidFill>
                  <a:srgbClr val="FF0000"/>
                </a:solidFill>
              </a:rPr>
              <a:t>$1.78</a:t>
            </a:r>
            <a:r>
              <a:rPr lang="en-US" sz="1400">
                <a:solidFill>
                  <a:srgbClr val="0070C0"/>
                </a:solidFill>
              </a:rPr>
              <a:t> and as high as</a:t>
            </a:r>
            <a:r>
              <a:rPr lang="en-US" sz="1400" b="1">
                <a:solidFill>
                  <a:srgbClr val="FF0000"/>
                </a:solidFill>
              </a:rPr>
              <a:t> $62</a:t>
            </a:r>
            <a:r>
              <a:rPr lang="en-US" sz="1400">
                <a:solidFill>
                  <a:srgbClr val="0070C0"/>
                </a:solidFill>
              </a:rPr>
              <a:t>, according to bitinfocharts. On Ethereum, the average fee has been as low as </a:t>
            </a:r>
            <a:r>
              <a:rPr lang="en-US" sz="1400" b="1">
                <a:solidFill>
                  <a:srgbClr val="FF0000"/>
                </a:solidFill>
              </a:rPr>
              <a:t>$1.59</a:t>
            </a:r>
            <a:r>
              <a:rPr lang="en-US" sz="1400">
                <a:solidFill>
                  <a:srgbClr val="0070C0"/>
                </a:solidFill>
              </a:rPr>
              <a:t> and as high as </a:t>
            </a:r>
            <a:r>
              <a:rPr lang="en-US" sz="1400" b="1">
                <a:solidFill>
                  <a:srgbClr val="FF0000"/>
                </a:solidFill>
              </a:rPr>
              <a:t>$70</a:t>
            </a:r>
            <a:r>
              <a:rPr lang="en-US" sz="1400">
                <a:solidFill>
                  <a:srgbClr val="0070C0"/>
                </a:solidFill>
              </a:rPr>
              <a:t>.</a:t>
            </a:r>
            <a:r>
              <a:rPr lang="en-US" sz="1400"/>
              <a:t> """</a:t>
            </a:r>
          </a:p>
          <a:p>
            <a:r>
              <a:rPr lang="en-US" sz="1400">
                <a:hlinkClick r:id="rId10"/>
              </a:rPr>
              <a:t>https://www.wsj.com/articles/crypto-and-its-many-fees-what-to-know-about-the-hidden-costs-of-digital-currency-11639825202</a:t>
            </a:r>
            <a:endParaRPr lang="en-US" sz="1400"/>
          </a:p>
        </p:txBody>
      </p:sp>
      <p:pic>
        <p:nvPicPr>
          <p:cNvPr id="7" name="Picture 6">
            <a:extLst>
              <a:ext uri="{FF2B5EF4-FFF2-40B4-BE49-F238E27FC236}">
                <a16:creationId xmlns:a16="http://schemas.microsoft.com/office/drawing/2014/main" id="{4AF8A457-C49D-574F-9D49-D1698E2C01CA}"/>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726838" y="3791765"/>
            <a:ext cx="4118269" cy="2397339"/>
          </a:xfrm>
          <a:prstGeom prst="rect">
            <a:avLst/>
          </a:prstGeom>
        </p:spPr>
      </p:pic>
    </p:spTree>
    <p:extLst>
      <p:ext uri="{BB962C8B-B14F-4D97-AF65-F5344CB8AC3E}">
        <p14:creationId xmlns:p14="http://schemas.microsoft.com/office/powerpoint/2010/main" val="2612191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736929E-1DCE-8C0B-503F-CE2CB5C81BFD}"/>
              </a:ext>
            </a:extLst>
          </p:cNvPr>
          <p:cNvSpPr txBox="1"/>
          <p:nvPr/>
        </p:nvSpPr>
        <p:spPr>
          <a:xfrm>
            <a:off x="0" y="644122"/>
            <a:ext cx="8975558" cy="2893100"/>
          </a:xfrm>
          <a:prstGeom prst="rect">
            <a:avLst/>
          </a:prstGeom>
          <a:noFill/>
        </p:spPr>
        <p:txBody>
          <a:bodyPr wrap="square" rtlCol="0">
            <a:spAutoFit/>
          </a:bodyPr>
          <a:lstStyle/>
          <a:p>
            <a:pPr marL="285750" indent="-285750">
              <a:buFont typeface="Arial" panose="020B0604020202020204" pitchFamily="34" charset="0"/>
              <a:buChar char="•"/>
            </a:pPr>
            <a:r>
              <a:rPr lang="en-US" sz="1400"/>
              <a:t>The Lightning Network is a "layer 2" payment protocol layered on top of a blockchain-based cryptocurrency such as bitcoin or litecoin.</a:t>
            </a:r>
          </a:p>
          <a:p>
            <a:pPr marL="285750" indent="-285750">
              <a:buFont typeface="Arial" panose="020B0604020202020204" pitchFamily="34" charset="0"/>
              <a:buChar char="•"/>
            </a:pPr>
            <a:r>
              <a:rPr lang="en-US" sz="1400"/>
              <a:t>The Lightning Network allows users to send or receive Bitcoin quickly and cheaply by moving transactions off of the main blockchain</a:t>
            </a:r>
          </a:p>
          <a:p>
            <a:pPr marL="285750" indent="-285750">
              <a:buFont typeface="Arial" panose="020B0604020202020204" pitchFamily="34" charset="0"/>
              <a:buChar char="•"/>
            </a:pPr>
            <a:r>
              <a:rPr lang="en-US" sz="1400"/>
              <a:t>The Lightning Network uses smart contracts to establish off-blockchain payment channels between pairs of users. Once these payment channels are established, funds can be transferred between them almost instantly. </a:t>
            </a:r>
          </a:p>
          <a:p>
            <a:pPr marL="285750" indent="-285750">
              <a:buFont typeface="Arial" panose="020B0604020202020204" pitchFamily="34" charset="0"/>
              <a:buChar char="•"/>
            </a:pPr>
            <a:r>
              <a:rPr lang="en-US" sz="1400"/>
              <a:t>2015 - Original paper by Joseph Poon and Thaddeus Dryja</a:t>
            </a:r>
          </a:p>
          <a:p>
            <a:pPr marL="285750" indent="-285750">
              <a:buFont typeface="Arial" panose="020B0604020202020204" pitchFamily="34" charset="0"/>
              <a:buChar char="•"/>
            </a:pPr>
            <a:r>
              <a:rPr lang="en-US" sz="1400"/>
              <a:t>Good videos:</a:t>
            </a:r>
            <a:br>
              <a:rPr lang="en-US" sz="1400"/>
            </a:br>
            <a:r>
              <a:rPr lang="en-US" sz="1400"/>
              <a:t> - </a:t>
            </a:r>
            <a:r>
              <a:rPr lang="en-US" sz="1400">
                <a:hlinkClick r:id="rId3"/>
              </a:rPr>
              <a:t>https://www.youtube.com/watch?v=J3cQNpOR_a0</a:t>
            </a:r>
            <a:r>
              <a:rPr lang="en-US" sz="1400"/>
              <a:t> </a:t>
            </a:r>
            <a:br>
              <a:rPr lang="en-US" sz="1400"/>
            </a:br>
            <a:r>
              <a:rPr lang="en-US" sz="1400"/>
              <a:t> - </a:t>
            </a:r>
            <a:r>
              <a:rPr lang="en-US" sz="1400">
                <a:hlinkClick r:id="rId4"/>
              </a:rPr>
              <a:t>https://www.youtube.com/watch?v=XCSfoiD8wUA</a:t>
            </a:r>
            <a:endParaRPr lang="en-US" sz="1400"/>
          </a:p>
          <a:p>
            <a:pPr marL="285750" indent="-285750">
              <a:buFont typeface="Arial" panose="020B0604020202020204" pitchFamily="34" charset="0"/>
              <a:buChar char="•"/>
            </a:pPr>
            <a:r>
              <a:rPr lang="en-US" sz="1400"/>
              <a:t>Wikipedia - </a:t>
            </a:r>
            <a:r>
              <a:rPr lang="en-US" sz="1400">
                <a:hlinkClick r:id="rId5"/>
              </a:rPr>
              <a:t>https://en.wikipedia.org/wiki/Lightning_Network</a:t>
            </a:r>
            <a:r>
              <a:rPr lang="en-US" sz="1400"/>
              <a:t> </a:t>
            </a:r>
          </a:p>
          <a:p>
            <a:pPr marL="285750" indent="-285750">
              <a:buFont typeface="Arial" panose="020B0604020202020204" pitchFamily="34" charset="0"/>
              <a:buChar char="•"/>
            </a:pPr>
            <a:r>
              <a:rPr lang="en-US" sz="1400"/>
              <a:t>Coinbase - </a:t>
            </a:r>
            <a:r>
              <a:rPr lang="en-US" sz="1400">
                <a:hlinkClick r:id="rId6"/>
              </a:rPr>
              <a:t>https://www.coinbase.com/learn/crypto-basics/what-is-lightning</a:t>
            </a:r>
            <a:endParaRPr lang="en-US" sz="1400"/>
          </a:p>
          <a:p>
            <a:pPr marL="285750" indent="-285750">
              <a:buFont typeface="Arial" panose="020B0604020202020204" pitchFamily="34" charset="0"/>
              <a:buChar char="•"/>
            </a:pPr>
            <a:r>
              <a:rPr lang="en-US" sz="1400"/>
              <a:t>BitPay - </a:t>
            </a:r>
            <a:r>
              <a:rPr lang="en-US" sz="1400">
                <a:hlinkClick r:id="rId7"/>
              </a:rPr>
              <a:t>https://bitpay.com/blog/bitpay-supports-lightning-network-payments/amp/</a:t>
            </a:r>
            <a:r>
              <a:rPr lang="en-US" sz="1400"/>
              <a:t> </a:t>
            </a:r>
          </a:p>
        </p:txBody>
      </p:sp>
      <p:sp>
        <p:nvSpPr>
          <p:cNvPr id="3" name="TextBox 2">
            <a:extLst>
              <a:ext uri="{FF2B5EF4-FFF2-40B4-BE49-F238E27FC236}">
                <a16:creationId xmlns:a16="http://schemas.microsoft.com/office/drawing/2014/main" id="{57CA4111-4981-B99A-8F37-7EEDE1A3BEEF}"/>
              </a:ext>
            </a:extLst>
          </p:cNvPr>
          <p:cNvSpPr txBox="1"/>
          <p:nvPr/>
        </p:nvSpPr>
        <p:spPr>
          <a:xfrm>
            <a:off x="0" y="0"/>
            <a:ext cx="4186990" cy="523220"/>
          </a:xfrm>
          <a:prstGeom prst="rect">
            <a:avLst/>
          </a:prstGeom>
          <a:noFill/>
        </p:spPr>
        <p:txBody>
          <a:bodyPr wrap="square" rtlCol="0">
            <a:spAutoFit/>
          </a:bodyPr>
          <a:lstStyle/>
          <a:p>
            <a:r>
              <a:rPr lang="en-US" sz="2800" b="1"/>
              <a:t>Lightning Network</a:t>
            </a:r>
          </a:p>
        </p:txBody>
      </p:sp>
      <p:pic>
        <p:nvPicPr>
          <p:cNvPr id="4" name="Picture 3">
            <a:extLst>
              <a:ext uri="{FF2B5EF4-FFF2-40B4-BE49-F238E27FC236}">
                <a16:creationId xmlns:a16="http://schemas.microsoft.com/office/drawing/2014/main" id="{6F285A5C-73CA-AA1B-975D-BE7EC6698CCA}"/>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10395284" y="0"/>
            <a:ext cx="1796716" cy="1796716"/>
          </a:xfrm>
          <a:prstGeom prst="rect">
            <a:avLst/>
          </a:prstGeom>
        </p:spPr>
      </p:pic>
      <p:pic>
        <p:nvPicPr>
          <p:cNvPr id="5" name="Picture 4">
            <a:extLst>
              <a:ext uri="{FF2B5EF4-FFF2-40B4-BE49-F238E27FC236}">
                <a16:creationId xmlns:a16="http://schemas.microsoft.com/office/drawing/2014/main" id="{BAFD85C6-2077-C2A4-D2AC-4C6250DD74C2}"/>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7823200" y="5146837"/>
            <a:ext cx="2520730" cy="1622936"/>
          </a:xfrm>
          <a:prstGeom prst="rect">
            <a:avLst/>
          </a:prstGeom>
        </p:spPr>
      </p:pic>
      <p:sp>
        <p:nvSpPr>
          <p:cNvPr id="6" name="TextBox 5">
            <a:extLst>
              <a:ext uri="{FF2B5EF4-FFF2-40B4-BE49-F238E27FC236}">
                <a16:creationId xmlns:a16="http://schemas.microsoft.com/office/drawing/2014/main" id="{FC6EBCDD-4838-A50D-3E9F-40ACE1E8F1F1}"/>
              </a:ext>
            </a:extLst>
          </p:cNvPr>
          <p:cNvSpPr txBox="1"/>
          <p:nvPr/>
        </p:nvSpPr>
        <p:spPr>
          <a:xfrm>
            <a:off x="0" y="3918807"/>
            <a:ext cx="3891280" cy="523220"/>
          </a:xfrm>
          <a:prstGeom prst="rect">
            <a:avLst/>
          </a:prstGeom>
          <a:noFill/>
        </p:spPr>
        <p:txBody>
          <a:bodyPr wrap="square" rtlCol="0">
            <a:spAutoFit/>
          </a:bodyPr>
          <a:lstStyle/>
          <a:p>
            <a:r>
              <a:rPr lang="en-US" sz="2800" b="1"/>
              <a:t>Ethereum Sidechains</a:t>
            </a:r>
            <a:endParaRPr lang="en-US" sz="1400"/>
          </a:p>
        </p:txBody>
      </p:sp>
      <p:pic>
        <p:nvPicPr>
          <p:cNvPr id="7" name="Picture 6">
            <a:extLst>
              <a:ext uri="{FF2B5EF4-FFF2-40B4-BE49-F238E27FC236}">
                <a16:creationId xmlns:a16="http://schemas.microsoft.com/office/drawing/2014/main" id="{8B82EA42-C63B-1564-3822-1290019063DA}"/>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619958" y="2311100"/>
            <a:ext cx="1368372" cy="1607707"/>
          </a:xfrm>
          <a:prstGeom prst="rect">
            <a:avLst/>
          </a:prstGeom>
        </p:spPr>
      </p:pic>
      <p:sp>
        <p:nvSpPr>
          <p:cNvPr id="8" name="TextBox 7">
            <a:extLst>
              <a:ext uri="{FF2B5EF4-FFF2-40B4-BE49-F238E27FC236}">
                <a16:creationId xmlns:a16="http://schemas.microsoft.com/office/drawing/2014/main" id="{59FC536D-B96D-D537-2161-6F5671B7DACF}"/>
              </a:ext>
            </a:extLst>
          </p:cNvPr>
          <p:cNvSpPr txBox="1"/>
          <p:nvPr/>
        </p:nvSpPr>
        <p:spPr>
          <a:xfrm>
            <a:off x="8619958" y="3995007"/>
            <a:ext cx="1368372" cy="369332"/>
          </a:xfrm>
          <a:prstGeom prst="rect">
            <a:avLst/>
          </a:prstGeom>
          <a:noFill/>
        </p:spPr>
        <p:txBody>
          <a:bodyPr wrap="square" rtlCol="0">
            <a:spAutoFit/>
          </a:bodyPr>
          <a:lstStyle/>
          <a:p>
            <a:r>
              <a:rPr lang="en-US"/>
              <a:t>Joseph Poon</a:t>
            </a:r>
          </a:p>
        </p:txBody>
      </p:sp>
      <p:pic>
        <p:nvPicPr>
          <p:cNvPr id="10" name="Picture 9">
            <a:extLst>
              <a:ext uri="{FF2B5EF4-FFF2-40B4-BE49-F238E27FC236}">
                <a16:creationId xmlns:a16="http://schemas.microsoft.com/office/drawing/2014/main" id="{E560C16C-7C30-1DFE-7569-CB527C9FF583}"/>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10374288" y="2311100"/>
            <a:ext cx="1249515" cy="1610749"/>
          </a:xfrm>
          <a:prstGeom prst="rect">
            <a:avLst/>
          </a:prstGeom>
        </p:spPr>
      </p:pic>
      <p:sp>
        <p:nvSpPr>
          <p:cNvPr id="13" name="TextBox 12">
            <a:extLst>
              <a:ext uri="{FF2B5EF4-FFF2-40B4-BE49-F238E27FC236}">
                <a16:creationId xmlns:a16="http://schemas.microsoft.com/office/drawing/2014/main" id="{27D42520-9E8F-C545-B4A9-89114AC4D461}"/>
              </a:ext>
            </a:extLst>
          </p:cNvPr>
          <p:cNvSpPr txBox="1"/>
          <p:nvPr/>
        </p:nvSpPr>
        <p:spPr>
          <a:xfrm>
            <a:off x="10161694" y="3946426"/>
            <a:ext cx="1674705" cy="369332"/>
          </a:xfrm>
          <a:prstGeom prst="rect">
            <a:avLst/>
          </a:prstGeom>
          <a:noFill/>
        </p:spPr>
        <p:txBody>
          <a:bodyPr wrap="square" rtlCol="0">
            <a:spAutoFit/>
          </a:bodyPr>
          <a:lstStyle/>
          <a:p>
            <a:pPr algn="ctr"/>
            <a:r>
              <a:rPr lang="en-US"/>
              <a:t>Thaddeus Dryja</a:t>
            </a:r>
          </a:p>
        </p:txBody>
      </p:sp>
      <p:sp>
        <p:nvSpPr>
          <p:cNvPr id="11" name="TextBox 10">
            <a:extLst>
              <a:ext uri="{FF2B5EF4-FFF2-40B4-BE49-F238E27FC236}">
                <a16:creationId xmlns:a16="http://schemas.microsoft.com/office/drawing/2014/main" id="{6A9E1E8F-1728-5B2F-0EFC-174BDDBD6E67}"/>
              </a:ext>
            </a:extLst>
          </p:cNvPr>
          <p:cNvSpPr txBox="1"/>
          <p:nvPr/>
        </p:nvSpPr>
        <p:spPr>
          <a:xfrm>
            <a:off x="0" y="4442027"/>
            <a:ext cx="5466080" cy="1600438"/>
          </a:xfrm>
          <a:prstGeom prst="rect">
            <a:avLst/>
          </a:prstGeom>
          <a:noFill/>
        </p:spPr>
        <p:txBody>
          <a:bodyPr wrap="square" rtlCol="0">
            <a:spAutoFit/>
          </a:bodyPr>
          <a:lstStyle/>
          <a:p>
            <a:pPr marL="285750" indent="-285750">
              <a:buFont typeface="Arial" panose="020B0604020202020204" pitchFamily="34" charset="0"/>
              <a:buChar char="•"/>
            </a:pPr>
            <a:r>
              <a:rPr lang="en-US" sz="1400"/>
              <a:t>Sidechains are similar to Lightning Network – but for Ethereum:</a:t>
            </a:r>
            <a:br>
              <a:rPr lang="en-US" sz="1400"/>
            </a:br>
            <a:r>
              <a:rPr lang="en-US" sz="1400"/>
              <a:t> - </a:t>
            </a:r>
            <a:r>
              <a:rPr lang="en-US" sz="1400">
                <a:hlinkClick r:id="rId12"/>
              </a:rPr>
              <a:t>https://ethereum.org/en/developers/docs/scaling/sidechains/</a:t>
            </a:r>
            <a:endParaRPr lang="en-US" sz="1400"/>
          </a:p>
          <a:p>
            <a:pPr marL="285750" indent="-285750">
              <a:buFont typeface="Arial" panose="020B0604020202020204" pitchFamily="34" charset="0"/>
              <a:buChar char="•"/>
            </a:pPr>
            <a:r>
              <a:rPr lang="en-US" sz="1400"/>
              <a:t>A sidechain is a separate blockchain which runs in parallel to </a:t>
            </a:r>
            <a:br>
              <a:rPr lang="en-US" sz="1400"/>
            </a:br>
            <a:r>
              <a:rPr lang="en-US" sz="1400"/>
              <a:t>Ethereum Mainnet and operates independently</a:t>
            </a:r>
          </a:p>
          <a:p>
            <a:pPr marL="285750" indent="-285750">
              <a:buFont typeface="Arial" panose="020B0604020202020204" pitchFamily="34" charset="0"/>
              <a:buChar char="•"/>
            </a:pPr>
            <a:r>
              <a:rPr lang="en-US" sz="1400"/>
              <a:t>It has its own consensus algorithm (e.g. proof-of-authority, </a:t>
            </a:r>
            <a:br>
              <a:rPr lang="en-US" sz="1400"/>
            </a:br>
            <a:r>
              <a:rPr lang="en-US" sz="1400"/>
              <a:t>Delegated proof-of-stake, Byzantine fault tolerance)</a:t>
            </a:r>
          </a:p>
          <a:p>
            <a:pPr marL="285750" indent="-285750">
              <a:buFont typeface="Arial" panose="020B0604020202020204" pitchFamily="34" charset="0"/>
              <a:buChar char="•"/>
            </a:pPr>
            <a:r>
              <a:rPr lang="en-US" sz="1400"/>
              <a:t>It is connected to Mainnet by a two-way bridge</a:t>
            </a:r>
          </a:p>
        </p:txBody>
      </p:sp>
    </p:spTree>
    <p:extLst>
      <p:ext uri="{BB962C8B-B14F-4D97-AF65-F5344CB8AC3E}">
        <p14:creationId xmlns:p14="http://schemas.microsoft.com/office/powerpoint/2010/main" val="3044715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60141B-E690-B949-B6F8-F8DD5D84DCB7}"/>
              </a:ext>
            </a:extLst>
          </p:cNvPr>
          <p:cNvSpPr txBox="1"/>
          <p:nvPr/>
        </p:nvSpPr>
        <p:spPr>
          <a:xfrm>
            <a:off x="-1" y="0"/>
            <a:ext cx="3173693" cy="523220"/>
          </a:xfrm>
          <a:prstGeom prst="rect">
            <a:avLst/>
          </a:prstGeom>
          <a:noFill/>
        </p:spPr>
        <p:txBody>
          <a:bodyPr wrap="square" rtlCol="0">
            <a:spAutoFit/>
          </a:bodyPr>
          <a:lstStyle/>
          <a:p>
            <a:r>
              <a:rPr lang="en-US" sz="2800" b="1"/>
              <a:t>Fees – </a:t>
            </a:r>
            <a:r>
              <a:rPr lang="en-US" sz="2800" b="1">
                <a:hlinkClick r:id="rId2"/>
              </a:rPr>
              <a:t>BitPay.com</a:t>
            </a:r>
            <a:endParaRPr lang="en-US" sz="2800" b="1"/>
          </a:p>
        </p:txBody>
      </p:sp>
      <p:sp>
        <p:nvSpPr>
          <p:cNvPr id="4" name="TextBox 3">
            <a:extLst>
              <a:ext uri="{FF2B5EF4-FFF2-40B4-BE49-F238E27FC236}">
                <a16:creationId xmlns:a16="http://schemas.microsoft.com/office/drawing/2014/main" id="{B4B4724F-42B2-C749-B0F3-B047E9661C94}"/>
              </a:ext>
            </a:extLst>
          </p:cNvPr>
          <p:cNvSpPr txBox="1"/>
          <p:nvPr/>
        </p:nvSpPr>
        <p:spPr>
          <a:xfrm>
            <a:off x="88913" y="793703"/>
            <a:ext cx="8248264" cy="4401205"/>
          </a:xfrm>
          <a:prstGeom prst="rect">
            <a:avLst/>
          </a:prstGeom>
          <a:noFill/>
        </p:spPr>
        <p:txBody>
          <a:bodyPr wrap="square" rtlCol="0">
            <a:spAutoFit/>
          </a:bodyPr>
          <a:lstStyle/>
          <a:p>
            <a:r>
              <a:rPr lang="en-US" sz="1400" b="1">
                <a:solidFill>
                  <a:srgbClr val="00B050"/>
                </a:solidFill>
              </a:rPr>
              <a:t>BitPay</a:t>
            </a:r>
            <a:r>
              <a:rPr lang="en-US" sz="1400"/>
              <a:t> is a payment gateway</a:t>
            </a:r>
          </a:p>
          <a:p>
            <a:pPr marL="380990" indent="-380990">
              <a:buFont typeface="Arial" panose="020B0604020202020204" pitchFamily="34" charset="0"/>
              <a:buChar char="•"/>
            </a:pPr>
            <a:r>
              <a:rPr lang="en-US" sz="1400"/>
              <a:t>since 2011, 100+ Mln global customers,</a:t>
            </a:r>
          </a:p>
          <a:p>
            <a:pPr marL="380990" indent="-380990">
              <a:buFont typeface="Arial" panose="020B0604020202020204" pitchFamily="34" charset="0"/>
              <a:buChar char="•"/>
            </a:pPr>
            <a:r>
              <a:rPr lang="en-US" sz="1400">
                <a:hlinkClick r:id="rId3"/>
              </a:rPr>
              <a:t>https://www.owler.com/company/bitpay</a:t>
            </a:r>
            <a:r>
              <a:rPr lang="en-US" sz="1400"/>
              <a:t> </a:t>
            </a:r>
          </a:p>
          <a:p>
            <a:pPr marL="380990" indent="-380990">
              <a:buFont typeface="Arial" panose="020B0604020202020204" pitchFamily="34" charset="0"/>
              <a:buChar char="•"/>
            </a:pPr>
            <a:r>
              <a:rPr lang="en-US" sz="1400">
                <a:hlinkClick r:id="rId4"/>
              </a:rPr>
              <a:t>https://bitpay.com/blog/welcome-to-the-september-cryptie/</a:t>
            </a:r>
            <a:endParaRPr lang="en-US" sz="1400"/>
          </a:p>
          <a:p>
            <a:endParaRPr lang="en-US" sz="1400"/>
          </a:p>
          <a:p>
            <a:r>
              <a:rPr lang="en-US" sz="1400" b="1">
                <a:solidFill>
                  <a:srgbClr val="00B050"/>
                </a:solidFill>
              </a:rPr>
              <a:t>BitPay</a:t>
            </a:r>
            <a:r>
              <a:rPr lang="en-US" sz="1400"/>
              <a:t> fees ( </a:t>
            </a:r>
            <a:r>
              <a:rPr lang="en-US" sz="1400">
                <a:hlinkClick r:id="rId5"/>
              </a:rPr>
              <a:t>https://www.cryptowisser.com/wallet/bitpay/</a:t>
            </a:r>
            <a:r>
              <a:rPr lang="en-US" sz="1400"/>
              <a:t> )</a:t>
            </a:r>
          </a:p>
          <a:p>
            <a:endParaRPr lang="en-US" sz="1400"/>
          </a:p>
          <a:p>
            <a:r>
              <a:rPr lang="en-US" sz="1400"/>
              <a:t>    1. Miner fees (unavoidable, built into the blockchain, depends on crypto, very volatile)</a:t>
            </a:r>
          </a:p>
          <a:p>
            <a:r>
              <a:rPr lang="en-US" sz="1400"/>
              <a:t>    2. Network Cost (additional operations' cost imposed by </a:t>
            </a:r>
            <a:r>
              <a:rPr lang="en-US" sz="1400" b="1">
                <a:solidFill>
                  <a:srgbClr val="00B050"/>
                </a:solidFill>
              </a:rPr>
              <a:t>BitPay</a:t>
            </a:r>
            <a:r>
              <a:rPr lang="en-US" sz="1400"/>
              <a:t> starting in 2017)</a:t>
            </a:r>
          </a:p>
          <a:p>
            <a:r>
              <a:rPr lang="en-US" sz="1400"/>
              <a:t>    3. Processing Fee (1%) added by </a:t>
            </a:r>
            <a:r>
              <a:rPr lang="en-US" sz="1400" b="1">
                <a:solidFill>
                  <a:srgbClr val="00B050"/>
                </a:solidFill>
              </a:rPr>
              <a:t>BitPay</a:t>
            </a:r>
            <a:r>
              <a:rPr lang="en-US" sz="1400"/>
              <a:t> for their service</a:t>
            </a:r>
          </a:p>
          <a:p>
            <a:r>
              <a:rPr lang="en-US" sz="1400"/>
              <a:t>    4. Refund fees (if you receive a refund)</a:t>
            </a:r>
          </a:p>
          <a:p>
            <a:endParaRPr lang="en-US" sz="1400"/>
          </a:p>
          <a:p>
            <a:r>
              <a:rPr lang="en-US" sz="1400"/>
              <a:t>In 2017 when Bitcoin blockchain fee were very high (more than $30),</a:t>
            </a:r>
          </a:p>
          <a:p>
            <a:r>
              <a:rPr lang="en-US" sz="1400" b="1">
                <a:solidFill>
                  <a:srgbClr val="00B050"/>
                </a:solidFill>
              </a:rPr>
              <a:t>BitPay</a:t>
            </a:r>
            <a:r>
              <a:rPr lang="en-US" sz="1400"/>
              <a:t> made a rule to refuse transactions smaller than $100</a:t>
            </a:r>
          </a:p>
          <a:p>
            <a:endParaRPr lang="en-US" sz="1400"/>
          </a:p>
          <a:p>
            <a:r>
              <a:rPr lang="en-US" sz="1400"/>
              <a:t>Some alternatives to </a:t>
            </a:r>
            <a:r>
              <a:rPr lang="en-US" sz="1400" b="1">
                <a:solidFill>
                  <a:srgbClr val="00B050"/>
                </a:solidFill>
              </a:rPr>
              <a:t>BitPay</a:t>
            </a:r>
            <a:r>
              <a:rPr lang="en-US" sz="1400"/>
              <a:t>:</a:t>
            </a:r>
          </a:p>
          <a:p>
            <a:pPr marL="380990" indent="-380990">
              <a:buFont typeface="Arial" panose="020B0604020202020204" pitchFamily="34" charset="0"/>
              <a:buChar char="•"/>
            </a:pPr>
            <a:r>
              <a:rPr lang="en-US" sz="1400">
                <a:hlinkClick r:id="rId6"/>
              </a:rPr>
              <a:t>https://www.finextra.com/blogposting/21322/the-best-cryptocurrency-payment-gateways-for-2022</a:t>
            </a:r>
            <a:endParaRPr lang="en-US" sz="1400"/>
          </a:p>
          <a:p>
            <a:pPr marL="380990" indent="-380990">
              <a:buFont typeface="Arial" panose="020B0604020202020204" pitchFamily="34" charset="0"/>
              <a:buChar char="•"/>
            </a:pPr>
            <a:r>
              <a:rPr lang="en-US" sz="1400">
                <a:hlinkClick r:id="rId7"/>
              </a:rPr>
              <a:t>https://technicali.com/top-7-payment-gateways-that-accept-cryptocurrency/</a:t>
            </a:r>
            <a:endParaRPr lang="en-US" sz="1400"/>
          </a:p>
          <a:p>
            <a:pPr marL="380990" indent="-380990">
              <a:buFont typeface="Arial" panose="020B0604020202020204" pitchFamily="34" charset="0"/>
              <a:buChar char="•"/>
            </a:pPr>
            <a:r>
              <a:rPr lang="en-US" sz="1400">
                <a:hlinkClick r:id="rId8"/>
              </a:rPr>
              <a:t>https://wpengine.com/resources/wordpress-and-bitcoin/</a:t>
            </a:r>
            <a:endParaRPr lang="en-US" sz="1400"/>
          </a:p>
          <a:p>
            <a:pPr marL="380990" indent="-380990">
              <a:buFont typeface="Arial" panose="020B0604020202020204" pitchFamily="34" charset="0"/>
              <a:buChar char="•"/>
            </a:pPr>
            <a:r>
              <a:rPr lang="en-US" sz="1400">
                <a:hlinkClick r:id="rId9"/>
              </a:rPr>
              <a:t>https://www.nerdwallet.com/article/small-business/accepting-bitcoin-crypto</a:t>
            </a:r>
            <a:endParaRPr lang="en-US" sz="1400"/>
          </a:p>
        </p:txBody>
      </p:sp>
      <p:pic>
        <p:nvPicPr>
          <p:cNvPr id="1026" name="Picture 2" descr="BitPay - Wikipedia">
            <a:extLst>
              <a:ext uri="{FF2B5EF4-FFF2-40B4-BE49-F238E27FC236}">
                <a16:creationId xmlns:a16="http://schemas.microsoft.com/office/drawing/2014/main" id="{ABFB9639-79DD-D44F-A66E-4324223AA2AF}"/>
              </a:ext>
            </a:extLst>
          </p:cNvPr>
          <p:cNvPicPr>
            <a:picLocks noChangeAspect="1" noChangeArrowheads="1"/>
          </p:cNvPicPr>
          <p:nvPr/>
        </p:nvPicPr>
        <p:blipFill rotWithShape="1">
          <a:blip r:embed="rId10" cstate="email">
            <a:extLst>
              <a:ext uri="{28A0092B-C50C-407E-A947-70E740481C1C}">
                <a14:useLocalDpi xmlns:a14="http://schemas.microsoft.com/office/drawing/2010/main"/>
              </a:ext>
            </a:extLst>
          </a:blip>
          <a:srcRect/>
          <a:stretch/>
        </p:blipFill>
        <p:spPr bwMode="auto">
          <a:xfrm>
            <a:off x="9018309" y="149788"/>
            <a:ext cx="2978871" cy="10956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93030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60141B-E690-B949-B6F8-F8DD5D84DCB7}"/>
              </a:ext>
            </a:extLst>
          </p:cNvPr>
          <p:cNvSpPr txBox="1"/>
          <p:nvPr/>
        </p:nvSpPr>
        <p:spPr>
          <a:xfrm>
            <a:off x="-1" y="0"/>
            <a:ext cx="2072641" cy="523220"/>
          </a:xfrm>
          <a:prstGeom prst="rect">
            <a:avLst/>
          </a:prstGeom>
          <a:noFill/>
        </p:spPr>
        <p:txBody>
          <a:bodyPr wrap="square" rtlCol="0">
            <a:spAutoFit/>
          </a:bodyPr>
          <a:lstStyle/>
          <a:p>
            <a:r>
              <a:rPr lang="en-US" sz="2800" b="1"/>
              <a:t>Coinbase</a:t>
            </a:r>
          </a:p>
        </p:txBody>
      </p:sp>
      <p:sp>
        <p:nvSpPr>
          <p:cNvPr id="4" name="TextBox 3">
            <a:extLst>
              <a:ext uri="{FF2B5EF4-FFF2-40B4-BE49-F238E27FC236}">
                <a16:creationId xmlns:a16="http://schemas.microsoft.com/office/drawing/2014/main" id="{B4B4724F-42B2-C749-B0F3-B047E9661C94}"/>
              </a:ext>
            </a:extLst>
          </p:cNvPr>
          <p:cNvSpPr txBox="1"/>
          <p:nvPr/>
        </p:nvSpPr>
        <p:spPr>
          <a:xfrm>
            <a:off x="88913" y="793703"/>
            <a:ext cx="3975087" cy="2523768"/>
          </a:xfrm>
          <a:prstGeom prst="rect">
            <a:avLst/>
          </a:prstGeom>
          <a:noFill/>
        </p:spPr>
        <p:txBody>
          <a:bodyPr wrap="square" rtlCol="0">
            <a:spAutoFit/>
          </a:bodyPr>
          <a:lstStyle/>
          <a:p>
            <a:pPr marL="380990" indent="-380990">
              <a:buFont typeface="Arial" panose="020B0604020202020204" pitchFamily="34" charset="0"/>
              <a:buChar char="•"/>
            </a:pPr>
            <a:r>
              <a:rPr lang="en-US" sz="1400">
                <a:hlinkClick r:id="rId2"/>
              </a:rPr>
              <a:t>https://www.coinbase.com</a:t>
            </a:r>
            <a:endParaRPr lang="en-US" sz="1400"/>
          </a:p>
          <a:p>
            <a:pPr marL="380990" indent="-380990">
              <a:buFont typeface="Arial" panose="020B0604020202020204" pitchFamily="34" charset="0"/>
              <a:buChar char="•"/>
            </a:pPr>
            <a:r>
              <a:rPr lang="en-US" sz="1400">
                <a:hlinkClick r:id="rId3"/>
              </a:rPr>
              <a:t>https://en.wikipedia.org/wiki/Coinbase</a:t>
            </a:r>
            <a:endParaRPr lang="en-US" sz="1400"/>
          </a:p>
          <a:p>
            <a:pPr marL="380990" indent="-380990">
              <a:buFont typeface="Arial" panose="020B0604020202020204" pitchFamily="34" charset="0"/>
              <a:buChar char="•"/>
            </a:pPr>
            <a:r>
              <a:rPr lang="en-US" sz="1400"/>
              <a:t>buy, sell, and manage crypto</a:t>
            </a:r>
          </a:p>
          <a:p>
            <a:pPr marL="380990" indent="-380990">
              <a:buFont typeface="Arial" panose="020B0604020202020204" pitchFamily="34" charset="0"/>
              <a:buChar char="•"/>
            </a:pPr>
            <a:r>
              <a:rPr lang="en-US" sz="1400"/>
              <a:t>89 Mln users in 100+ countries</a:t>
            </a:r>
          </a:p>
          <a:p>
            <a:pPr marL="380990" indent="-380990">
              <a:buFont typeface="Arial" panose="020B0604020202020204" pitchFamily="34" charset="0"/>
              <a:buChar char="•"/>
            </a:pPr>
            <a:r>
              <a:rPr lang="en-US" sz="1400"/>
              <a:t>Public company (traded on Nasdaq)</a:t>
            </a:r>
          </a:p>
          <a:p>
            <a:pPr marL="380990" indent="-380990">
              <a:buFont typeface="Arial" panose="020B0604020202020204" pitchFamily="34" charset="0"/>
              <a:buChar char="•"/>
            </a:pPr>
            <a:r>
              <a:rPr lang="en-US" sz="1400"/>
              <a:t>Founded in 2012 by Brian Armstrong</a:t>
            </a:r>
          </a:p>
          <a:p>
            <a:pPr marL="380990" indent="-380990">
              <a:buFont typeface="Arial" panose="020B0604020202020204" pitchFamily="34" charset="0"/>
              <a:buChar char="•"/>
            </a:pPr>
            <a:r>
              <a:rPr lang="en-US" sz="1400"/>
              <a:t>1000+ employes</a:t>
            </a:r>
          </a:p>
          <a:p>
            <a:pPr marL="380990" indent="-380990">
              <a:buFont typeface="Arial" panose="020B0604020202020204" pitchFamily="34" charset="0"/>
              <a:buChar char="•"/>
            </a:pPr>
            <a:r>
              <a:rPr lang="en-US" sz="1000">
                <a:hlinkClick r:id="rId4"/>
              </a:rPr>
              <a:t>https://github.com/coinbase</a:t>
            </a:r>
            <a:r>
              <a:rPr lang="en-US" sz="1000"/>
              <a:t> - </a:t>
            </a:r>
          </a:p>
          <a:p>
            <a:pPr marL="380990" indent="-380990">
              <a:buFont typeface="Arial" panose="020B0604020202020204" pitchFamily="34" charset="0"/>
              <a:buChar char="•"/>
            </a:pPr>
            <a:r>
              <a:rPr lang="en-US" sz="1000">
                <a:hlinkClick r:id="rId5"/>
              </a:rPr>
              <a:t>https://github.com/coinbase/coinbase-commerce-python</a:t>
            </a:r>
            <a:r>
              <a:rPr lang="en-US" sz="1000"/>
              <a:t> - </a:t>
            </a:r>
          </a:p>
          <a:p>
            <a:pPr marL="380990" indent="-380990">
              <a:buFont typeface="Arial" panose="020B0604020202020204" pitchFamily="34" charset="0"/>
              <a:buChar char="•"/>
            </a:pPr>
            <a:r>
              <a:rPr lang="en-US" sz="1000">
                <a:hlinkClick r:id="rId6"/>
              </a:rPr>
              <a:t>https://github.com/coinbase/coinbase-python</a:t>
            </a:r>
            <a:r>
              <a:rPr lang="en-US" sz="1000"/>
              <a:t> - </a:t>
            </a:r>
          </a:p>
          <a:p>
            <a:pPr marL="380990" indent="-380990">
              <a:buFont typeface="Arial" panose="020B0604020202020204" pitchFamily="34" charset="0"/>
              <a:buChar char="•"/>
            </a:pPr>
            <a:r>
              <a:rPr lang="en-US" sz="1000">
                <a:hlinkClick r:id="rId7"/>
              </a:rPr>
              <a:t>https://github.com/coinbase/coinbase-python/tree/master/coinbase/wallet</a:t>
            </a:r>
            <a:endParaRPr lang="en-US" sz="1000"/>
          </a:p>
          <a:p>
            <a:pPr marL="380990" indent="-380990">
              <a:buFont typeface="Arial" panose="020B0604020202020204" pitchFamily="34" charset="0"/>
              <a:buChar char="•"/>
            </a:pPr>
            <a:r>
              <a:rPr lang="en-US" sz="1000"/>
              <a:t>...</a:t>
            </a:r>
          </a:p>
        </p:txBody>
      </p:sp>
      <p:pic>
        <p:nvPicPr>
          <p:cNvPr id="3" name="Picture 2">
            <a:extLst>
              <a:ext uri="{FF2B5EF4-FFF2-40B4-BE49-F238E27FC236}">
                <a16:creationId xmlns:a16="http://schemas.microsoft.com/office/drawing/2014/main" id="{E901DF19-4A29-614D-AF52-400A5D528E8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9849851" y="181722"/>
            <a:ext cx="2253236" cy="1152121"/>
          </a:xfrm>
          <a:prstGeom prst="rect">
            <a:avLst/>
          </a:prstGeom>
        </p:spPr>
      </p:pic>
      <p:pic>
        <p:nvPicPr>
          <p:cNvPr id="5" name="Picture 4">
            <a:extLst>
              <a:ext uri="{FF2B5EF4-FFF2-40B4-BE49-F238E27FC236}">
                <a16:creationId xmlns:a16="http://schemas.microsoft.com/office/drawing/2014/main" id="{7C6FF339-E840-BB4F-9E23-000F727DA5D6}"/>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4860758" y="1548915"/>
            <a:ext cx="6648772" cy="5223620"/>
          </a:xfrm>
          <a:prstGeom prst="rect">
            <a:avLst/>
          </a:prstGeom>
        </p:spPr>
      </p:pic>
    </p:spTree>
    <p:extLst>
      <p:ext uri="{BB962C8B-B14F-4D97-AF65-F5344CB8AC3E}">
        <p14:creationId xmlns:p14="http://schemas.microsoft.com/office/powerpoint/2010/main" val="13383691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110EDD-1316-6D4C-4930-BCFF121273CA}"/>
              </a:ext>
            </a:extLst>
          </p:cNvPr>
          <p:cNvSpPr txBox="1"/>
          <p:nvPr/>
        </p:nvSpPr>
        <p:spPr>
          <a:xfrm>
            <a:off x="-1" y="0"/>
            <a:ext cx="2072641" cy="523220"/>
          </a:xfrm>
          <a:prstGeom prst="rect">
            <a:avLst/>
          </a:prstGeom>
          <a:noFill/>
        </p:spPr>
        <p:txBody>
          <a:bodyPr wrap="square" rtlCol="0">
            <a:spAutoFit/>
          </a:bodyPr>
          <a:lstStyle/>
          <a:p>
            <a:r>
              <a:rPr lang="en-US" sz="2800" b="1"/>
              <a:t>Gemini</a:t>
            </a:r>
          </a:p>
        </p:txBody>
      </p:sp>
      <p:sp>
        <p:nvSpPr>
          <p:cNvPr id="3" name="TextBox 2">
            <a:extLst>
              <a:ext uri="{FF2B5EF4-FFF2-40B4-BE49-F238E27FC236}">
                <a16:creationId xmlns:a16="http://schemas.microsoft.com/office/drawing/2014/main" id="{3220F219-164C-FE32-15D7-5C5BC0FB57F4}"/>
              </a:ext>
            </a:extLst>
          </p:cNvPr>
          <p:cNvSpPr txBox="1"/>
          <p:nvPr/>
        </p:nvSpPr>
        <p:spPr>
          <a:xfrm>
            <a:off x="-1" y="1407436"/>
            <a:ext cx="7569843" cy="3754874"/>
          </a:xfrm>
          <a:prstGeom prst="rect">
            <a:avLst/>
          </a:prstGeom>
          <a:noFill/>
        </p:spPr>
        <p:txBody>
          <a:bodyPr wrap="square" rtlCol="0">
            <a:spAutoFit/>
          </a:bodyPr>
          <a:lstStyle/>
          <a:p>
            <a:pPr marL="285750" indent="-285750">
              <a:buFont typeface="Arial" panose="020B0604020202020204" pitchFamily="34" charset="0"/>
              <a:buChar char="•"/>
            </a:pPr>
            <a:r>
              <a:rPr lang="en-US" sz="1400"/>
              <a:t>Gemini Trust Company, LLC (Gemini) – since 2014, New York City, 900+ employees</a:t>
            </a:r>
            <a:br>
              <a:rPr lang="en-US" sz="1400"/>
            </a:br>
            <a:r>
              <a:rPr lang="en-US" sz="1400"/>
              <a:t>Address: 600 3rd Avenue 2nd Floor New York, NY 10016</a:t>
            </a:r>
          </a:p>
          <a:p>
            <a:pPr marL="285750" indent="-285750">
              <a:buFont typeface="Arial" panose="020B0604020202020204" pitchFamily="34" charset="0"/>
              <a:buChar char="•"/>
            </a:pPr>
            <a:r>
              <a:rPr lang="en-US" sz="1400"/>
              <a:t>Cryptocurrency exchange and custodian, NFT marketplace</a:t>
            </a:r>
          </a:p>
          <a:p>
            <a:pPr marL="285750" indent="-285750">
              <a:buFont typeface="Arial" panose="020B0604020202020204" pitchFamily="34" charset="0"/>
              <a:buChar char="•"/>
            </a:pPr>
            <a:r>
              <a:rPr lang="en-US" sz="1400"/>
              <a:t>Buy, sell, store Bitcoin, Bitcoin Cash, Ethereum, Litecoin, Zcash, Gemini dollar</a:t>
            </a:r>
          </a:p>
          <a:p>
            <a:pPr marL="285750" indent="-285750">
              <a:buFont typeface="Arial" panose="020B0604020202020204" pitchFamily="34" charset="0"/>
              <a:buChar char="•"/>
            </a:pPr>
            <a:r>
              <a:rPr lang="en-US" sz="1400" b="1">
                <a:solidFill>
                  <a:srgbClr val="00B050"/>
                </a:solidFill>
              </a:rPr>
              <a:t>Gemini</a:t>
            </a:r>
            <a:r>
              <a:rPr lang="en-US" sz="1400"/>
              <a:t> means </a:t>
            </a:r>
            <a:r>
              <a:rPr lang="en-US" sz="1400" b="1">
                <a:solidFill>
                  <a:srgbClr val="00B050"/>
                </a:solidFill>
              </a:rPr>
              <a:t>twins</a:t>
            </a:r>
            <a:r>
              <a:rPr lang="en-US" sz="1400"/>
              <a:t> - twins founders </a:t>
            </a:r>
            <a:r>
              <a:rPr lang="en-US" sz="1400" b="1">
                <a:solidFill>
                  <a:srgbClr val="00B050"/>
                </a:solidFill>
              </a:rPr>
              <a:t>Cameron Winklevoss &amp; Tyler Winklevoss</a:t>
            </a:r>
          </a:p>
          <a:p>
            <a:pPr marL="285750" indent="-285750">
              <a:buFont typeface="Arial" panose="020B0604020202020204" pitchFamily="34" charset="0"/>
              <a:buChar char="•"/>
            </a:pPr>
            <a:r>
              <a:rPr lang="en-US" sz="1400"/>
              <a:t>Gemini operates in US, Canada, UK, South Korea, Hong Kong, and Singapore.</a:t>
            </a:r>
          </a:p>
          <a:p>
            <a:pPr marL="285750" indent="-285750">
              <a:buFont typeface="Arial" panose="020B0604020202020204" pitchFamily="34" charset="0"/>
              <a:buChar char="•"/>
            </a:pPr>
            <a:r>
              <a:rPr lang="en-US" sz="1400"/>
              <a:t>Primary competitors include </a:t>
            </a:r>
            <a:r>
              <a:rPr lang="en-US" sz="1400" b="1">
                <a:solidFill>
                  <a:srgbClr val="00B050"/>
                </a:solidFill>
              </a:rPr>
              <a:t>Coinbase, Binance, Bitstamp, and Kraken</a:t>
            </a:r>
          </a:p>
          <a:p>
            <a:pPr marL="285750" indent="-285750">
              <a:buFont typeface="Arial" panose="020B0604020202020204" pitchFamily="34" charset="0"/>
              <a:buChar char="•"/>
            </a:pPr>
            <a:r>
              <a:rPr lang="en-US" sz="1400"/>
              <a:t>All users can trade crypto and fiat currency, and transfer USD to/from bank accounts</a:t>
            </a:r>
          </a:p>
          <a:p>
            <a:pPr marL="285750" indent="-285750">
              <a:buFont typeface="Arial" panose="020B0604020202020204" pitchFamily="34" charset="0"/>
              <a:buChar char="•"/>
            </a:pPr>
            <a:r>
              <a:rPr lang="en-US" sz="1400"/>
              <a:t>2017 - Gemini was the first exchange to launch </a:t>
            </a:r>
            <a:r>
              <a:rPr lang="en-US" sz="1400" b="1">
                <a:solidFill>
                  <a:srgbClr val="FF0000"/>
                </a:solidFill>
              </a:rPr>
              <a:t>bitcoin futures contracts</a:t>
            </a:r>
            <a:r>
              <a:rPr lang="en-US" sz="1400"/>
              <a:t> </a:t>
            </a:r>
            <a:br>
              <a:rPr lang="en-US" sz="1400"/>
            </a:br>
            <a:r>
              <a:rPr lang="en-US" sz="1400"/>
              <a:t>(Gemini is used by the Chicago Board Options Exchange (CBOE) as the basis for setlement)</a:t>
            </a:r>
          </a:p>
          <a:p>
            <a:pPr marL="285750" indent="-285750">
              <a:buFont typeface="Arial" panose="020B0604020202020204" pitchFamily="34" charset="0"/>
              <a:buChar char="•"/>
            </a:pPr>
            <a:r>
              <a:rPr lang="en-US" sz="1400"/>
              <a:t>2018 – launched </a:t>
            </a:r>
            <a:r>
              <a:rPr lang="en-US" sz="1400" b="1">
                <a:solidFill>
                  <a:srgbClr val="00B050"/>
                </a:solidFill>
              </a:rPr>
              <a:t>stable coin</a:t>
            </a:r>
            <a:r>
              <a:rPr lang="en-US" sz="1400"/>
              <a:t> </a:t>
            </a:r>
            <a:r>
              <a:rPr lang="en-US" sz="1400" b="1">
                <a:solidFill>
                  <a:srgbClr val="FF0000"/>
                </a:solidFill>
              </a:rPr>
              <a:t>Gemini dollar (GUSD)</a:t>
            </a:r>
            <a:r>
              <a:rPr lang="en-US" sz="1400"/>
              <a:t> pegged to USD</a:t>
            </a:r>
          </a:p>
          <a:p>
            <a:pPr marL="285750" indent="-285750">
              <a:buFont typeface="Arial" panose="020B0604020202020204" pitchFamily="34" charset="0"/>
              <a:buChar char="•"/>
            </a:pPr>
            <a:r>
              <a:rPr lang="en-US" sz="1400"/>
              <a:t>2019 – Gemini bought </a:t>
            </a:r>
            <a:r>
              <a:rPr lang="en-US" sz="1400" b="1">
                <a:solidFill>
                  <a:srgbClr val="00B050"/>
                </a:solidFill>
              </a:rPr>
              <a:t>Nifty Gateway</a:t>
            </a:r>
            <a:r>
              <a:rPr lang="en-US" sz="1400"/>
              <a:t> – and </a:t>
            </a:r>
            <a:r>
              <a:rPr lang="en-US" sz="1400" b="1">
                <a:solidFill>
                  <a:srgbClr val="FF0000"/>
                </a:solidFill>
              </a:rPr>
              <a:t>NFT marketplace</a:t>
            </a:r>
            <a:r>
              <a:rPr lang="en-US" sz="1400"/>
              <a:t> </a:t>
            </a:r>
          </a:p>
          <a:p>
            <a:pPr marL="285750" indent="-285750">
              <a:buFont typeface="Arial" panose="020B0604020202020204" pitchFamily="34" charset="0"/>
              <a:buChar char="•"/>
            </a:pPr>
            <a:r>
              <a:rPr lang="en-US" sz="1400"/>
              <a:t>Python client:</a:t>
            </a:r>
            <a:br>
              <a:rPr lang="en-US" sz="1400"/>
            </a:br>
            <a:r>
              <a:rPr lang="en-US" sz="1400"/>
              <a:t>- </a:t>
            </a:r>
            <a:r>
              <a:rPr lang="en-US" sz="1400">
                <a:hlinkClick r:id="rId2"/>
              </a:rPr>
              <a:t>https://github.com/mtusman/gemini-python</a:t>
            </a:r>
            <a:r>
              <a:rPr lang="en-US" sz="1400"/>
              <a:t> </a:t>
            </a:r>
            <a:br>
              <a:rPr lang="en-US" sz="1400"/>
            </a:br>
            <a:r>
              <a:rPr lang="en-US" sz="1400"/>
              <a:t>- </a:t>
            </a:r>
            <a:r>
              <a:rPr lang="en-US" sz="1400">
                <a:hlinkClick r:id="rId3"/>
              </a:rPr>
              <a:t>https://pypi.org/project/gemini/</a:t>
            </a:r>
            <a:r>
              <a:rPr lang="en-US" sz="1400"/>
              <a:t> </a:t>
            </a:r>
          </a:p>
          <a:p>
            <a:pPr marL="285750" indent="-285750">
              <a:buFont typeface="Arial" panose="020B0604020202020204" pitchFamily="34" charset="0"/>
              <a:buChar char="•"/>
            </a:pPr>
            <a:r>
              <a:rPr lang="en-US" sz="1400"/>
              <a:t>REST API, Python:</a:t>
            </a:r>
            <a:br>
              <a:rPr lang="en-US" sz="1400"/>
            </a:br>
            <a:r>
              <a:rPr lang="en-US" sz="1400"/>
              <a:t>- </a:t>
            </a:r>
            <a:r>
              <a:rPr lang="en-US" sz="1400">
                <a:hlinkClick r:id="rId4"/>
              </a:rPr>
              <a:t>https://docs.gemini.com/rest-api/</a:t>
            </a:r>
            <a:r>
              <a:rPr lang="en-US" sz="1400"/>
              <a:t> </a:t>
            </a:r>
          </a:p>
        </p:txBody>
      </p:sp>
      <p:sp>
        <p:nvSpPr>
          <p:cNvPr id="4" name="TextBox 3">
            <a:extLst>
              <a:ext uri="{FF2B5EF4-FFF2-40B4-BE49-F238E27FC236}">
                <a16:creationId xmlns:a16="http://schemas.microsoft.com/office/drawing/2014/main" id="{D450E834-9C35-33AB-8443-28E59C3504FF}"/>
              </a:ext>
            </a:extLst>
          </p:cNvPr>
          <p:cNvSpPr txBox="1"/>
          <p:nvPr/>
        </p:nvSpPr>
        <p:spPr>
          <a:xfrm>
            <a:off x="0" y="509286"/>
            <a:ext cx="5058137"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5"/>
              </a:rPr>
              <a:t>https://www.gemini.com</a:t>
            </a:r>
            <a:endParaRPr lang="en-US" sz="1400"/>
          </a:p>
          <a:p>
            <a:pPr marL="285750" indent="-285750">
              <a:buFont typeface="Arial" panose="020B0604020202020204" pitchFamily="34" charset="0"/>
              <a:buChar char="•"/>
            </a:pPr>
            <a:r>
              <a:rPr lang="en-US" sz="1400">
                <a:hlinkClick r:id="rId6"/>
              </a:rPr>
              <a:t>https://en.wikipedia.org/wiki/Gemini_(company)</a:t>
            </a:r>
            <a:r>
              <a:rPr lang="en-US" sz="1400"/>
              <a:t> </a:t>
            </a:r>
          </a:p>
          <a:p>
            <a:pPr marL="285750" indent="-285750">
              <a:buFont typeface="Arial" panose="020B0604020202020204" pitchFamily="34" charset="0"/>
              <a:buChar char="•"/>
            </a:pPr>
            <a:r>
              <a:rPr lang="en-US" sz="1400">
                <a:hlinkClick r:id="rId7"/>
              </a:rPr>
              <a:t>https://exchange.sandbox.gemini.com/</a:t>
            </a:r>
            <a:r>
              <a:rPr lang="en-US" sz="1400"/>
              <a:t> </a:t>
            </a:r>
          </a:p>
        </p:txBody>
      </p:sp>
      <p:pic>
        <p:nvPicPr>
          <p:cNvPr id="5" name="Picture 4">
            <a:extLst>
              <a:ext uri="{FF2B5EF4-FFF2-40B4-BE49-F238E27FC236}">
                <a16:creationId xmlns:a16="http://schemas.microsoft.com/office/drawing/2014/main" id="{61CD8E6B-DD68-8C12-1BA2-899CB8B590B6}"/>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8242300" y="39386"/>
            <a:ext cx="3949700" cy="939800"/>
          </a:xfrm>
          <a:prstGeom prst="rect">
            <a:avLst/>
          </a:prstGeom>
        </p:spPr>
      </p:pic>
      <p:pic>
        <p:nvPicPr>
          <p:cNvPr id="1026" name="Picture 2" descr="Tyler and Cameron Winklevoss To Welcome 2020 With Great Expectations - The  Coin Republic: Cryptocurrency , Bitcoin, Ethereum &amp; Blockchain News">
            <a:extLst>
              <a:ext uri="{FF2B5EF4-FFF2-40B4-BE49-F238E27FC236}">
                <a16:creationId xmlns:a16="http://schemas.microsoft.com/office/drawing/2014/main" id="{7FAFAB86-3407-BE39-3658-A3C6B4B75554}"/>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7678097" y="1169043"/>
            <a:ext cx="4423738" cy="258041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3899212-452D-5B1C-9C16-E242CB0C9CB1}"/>
              </a:ext>
            </a:extLst>
          </p:cNvPr>
          <p:cNvSpPr txBox="1"/>
          <p:nvPr/>
        </p:nvSpPr>
        <p:spPr>
          <a:xfrm>
            <a:off x="8011121" y="3763570"/>
            <a:ext cx="3757690" cy="369332"/>
          </a:xfrm>
          <a:prstGeom prst="rect">
            <a:avLst/>
          </a:prstGeom>
          <a:noFill/>
        </p:spPr>
        <p:txBody>
          <a:bodyPr wrap="square" rtlCol="0">
            <a:spAutoFit/>
          </a:bodyPr>
          <a:lstStyle/>
          <a:p>
            <a:pPr algn="ctr"/>
            <a:r>
              <a:rPr lang="en-US"/>
              <a:t>Cameron &amp; Tyler Winklevoss (twins)</a:t>
            </a:r>
          </a:p>
        </p:txBody>
      </p:sp>
      <p:sp>
        <p:nvSpPr>
          <p:cNvPr id="9" name="TextBox 8">
            <a:extLst>
              <a:ext uri="{FF2B5EF4-FFF2-40B4-BE49-F238E27FC236}">
                <a16:creationId xmlns:a16="http://schemas.microsoft.com/office/drawing/2014/main" id="{DC09414D-0D20-D1F9-70F1-6D4796F2D8C9}"/>
              </a:ext>
            </a:extLst>
          </p:cNvPr>
          <p:cNvSpPr txBox="1"/>
          <p:nvPr/>
        </p:nvSpPr>
        <p:spPr>
          <a:xfrm>
            <a:off x="660400" y="5339994"/>
            <a:ext cx="5279600" cy="1384995"/>
          </a:xfrm>
          <a:prstGeom prst="rect">
            <a:avLst/>
          </a:prstGeom>
          <a:noFill/>
        </p:spPr>
        <p:txBody>
          <a:bodyPr wrap="square" rtlCol="0">
            <a:spAutoFit/>
          </a:bodyPr>
          <a:lstStyle/>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import requests, json</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base_url = "</a:t>
            </a:r>
            <a:r>
              <a:rPr lang="en-US" sz="1200">
                <a:solidFill>
                  <a:srgbClr val="00B050"/>
                </a:solidFill>
                <a:latin typeface="Menlo" panose="020B0609030804020204" pitchFamily="49" charset="0"/>
                <a:ea typeface="Menlo" panose="020B0609030804020204" pitchFamily="49" charset="0"/>
                <a:cs typeface="Menlo" panose="020B0609030804020204" pitchFamily="49" charset="0"/>
              </a:rPr>
              <a:t>https://api.gemini.com/v1</a:t>
            </a:r>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a:t>
            </a: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response = requests.get(base_url + "</a:t>
            </a:r>
            <a:r>
              <a:rPr lang="en-US" sz="1200">
                <a:solidFill>
                  <a:srgbClr val="00B050"/>
                </a:solidFill>
                <a:latin typeface="Menlo" panose="020B0609030804020204" pitchFamily="49" charset="0"/>
                <a:ea typeface="Menlo" panose="020B0609030804020204" pitchFamily="49" charset="0"/>
                <a:cs typeface="Menlo" panose="020B0609030804020204" pitchFamily="49" charset="0"/>
              </a:rPr>
              <a:t>/trades/btcusd</a:t>
            </a:r>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a:t>
            </a: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btcusd_trades = response.json()</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print(btcusd_trades)</a:t>
            </a:r>
          </a:p>
        </p:txBody>
      </p:sp>
      <p:pic>
        <p:nvPicPr>
          <p:cNvPr id="11" name="Picture 10">
            <a:extLst>
              <a:ext uri="{FF2B5EF4-FFF2-40B4-BE49-F238E27FC236}">
                <a16:creationId xmlns:a16="http://schemas.microsoft.com/office/drawing/2014/main" id="{E2CD5EB5-AE8A-9D94-9AA7-AF86F22B326A}"/>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150021" y="4426289"/>
            <a:ext cx="3513027" cy="2224538"/>
          </a:xfrm>
          <a:prstGeom prst="rect">
            <a:avLst/>
          </a:prstGeom>
        </p:spPr>
      </p:pic>
    </p:spTree>
    <p:extLst>
      <p:ext uri="{BB962C8B-B14F-4D97-AF65-F5344CB8AC3E}">
        <p14:creationId xmlns:p14="http://schemas.microsoft.com/office/powerpoint/2010/main" val="15060275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110EDD-1316-6D4C-4930-BCFF121273CA}"/>
              </a:ext>
            </a:extLst>
          </p:cNvPr>
          <p:cNvSpPr txBox="1"/>
          <p:nvPr/>
        </p:nvSpPr>
        <p:spPr>
          <a:xfrm>
            <a:off x="-1" y="0"/>
            <a:ext cx="2072641" cy="523220"/>
          </a:xfrm>
          <a:prstGeom prst="rect">
            <a:avLst/>
          </a:prstGeom>
          <a:noFill/>
        </p:spPr>
        <p:txBody>
          <a:bodyPr wrap="square" rtlCol="0">
            <a:spAutoFit/>
          </a:bodyPr>
          <a:lstStyle/>
          <a:p>
            <a:r>
              <a:rPr lang="en-US" sz="2800" b="1"/>
              <a:t>Binance</a:t>
            </a:r>
          </a:p>
        </p:txBody>
      </p:sp>
      <p:sp>
        <p:nvSpPr>
          <p:cNvPr id="4" name="TextBox 3">
            <a:extLst>
              <a:ext uri="{FF2B5EF4-FFF2-40B4-BE49-F238E27FC236}">
                <a16:creationId xmlns:a16="http://schemas.microsoft.com/office/drawing/2014/main" id="{D450E834-9C35-33AB-8443-28E59C3504FF}"/>
              </a:ext>
            </a:extLst>
          </p:cNvPr>
          <p:cNvSpPr txBox="1"/>
          <p:nvPr/>
        </p:nvSpPr>
        <p:spPr>
          <a:xfrm>
            <a:off x="0" y="509286"/>
            <a:ext cx="367626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3"/>
              </a:rPr>
              <a:t>https://www.binance.com</a:t>
            </a:r>
            <a:endParaRPr lang="en-US" sz="1400"/>
          </a:p>
          <a:p>
            <a:pPr marL="285750" indent="-285750">
              <a:buFont typeface="Arial" panose="020B0604020202020204" pitchFamily="34" charset="0"/>
              <a:buChar char="•"/>
            </a:pPr>
            <a:r>
              <a:rPr lang="en-US" sz="1400">
                <a:hlinkClick r:id="rId4"/>
              </a:rPr>
              <a:t>https://www.binance.us</a:t>
            </a:r>
            <a:endParaRPr lang="en-US" sz="1400"/>
          </a:p>
          <a:p>
            <a:pPr marL="285750" indent="-285750">
              <a:buFont typeface="Arial" panose="020B0604020202020204" pitchFamily="34" charset="0"/>
              <a:buChar char="•"/>
            </a:pPr>
            <a:r>
              <a:rPr lang="en-US" sz="1400">
                <a:hlinkClick r:id="rId5"/>
              </a:rPr>
              <a:t>https://en.wikipedia.org/wiki/Binance</a:t>
            </a:r>
            <a:endParaRPr lang="en-US" sz="1400"/>
          </a:p>
        </p:txBody>
      </p:sp>
      <p:sp>
        <p:nvSpPr>
          <p:cNvPr id="7" name="TextBox 6">
            <a:extLst>
              <a:ext uri="{FF2B5EF4-FFF2-40B4-BE49-F238E27FC236}">
                <a16:creationId xmlns:a16="http://schemas.microsoft.com/office/drawing/2014/main" id="{4CFBFD23-195B-A528-DAAE-7585105582FA}"/>
              </a:ext>
            </a:extLst>
          </p:cNvPr>
          <p:cNvSpPr txBox="1"/>
          <p:nvPr/>
        </p:nvSpPr>
        <p:spPr>
          <a:xfrm>
            <a:off x="1" y="1400537"/>
            <a:ext cx="4812044" cy="2677656"/>
          </a:xfrm>
          <a:prstGeom prst="rect">
            <a:avLst/>
          </a:prstGeom>
          <a:noFill/>
        </p:spPr>
        <p:txBody>
          <a:bodyPr wrap="square" rtlCol="0">
            <a:spAutoFit/>
          </a:bodyPr>
          <a:lstStyle/>
          <a:p>
            <a:pPr marL="285750" indent="-285750">
              <a:buFont typeface="Arial" panose="020B0604020202020204" pitchFamily="34" charset="0"/>
              <a:buChar char="•"/>
            </a:pPr>
            <a:r>
              <a:rPr lang="en-US" sz="1400"/>
              <a:t>Buy, Sell, and Trade Cryptocurrencies</a:t>
            </a:r>
          </a:p>
          <a:p>
            <a:pPr marL="285750" indent="-285750">
              <a:buFont typeface="Arial" panose="020B0604020202020204" pitchFamily="34" charset="0"/>
              <a:buChar char="•"/>
            </a:pPr>
            <a:r>
              <a:rPr lang="en-US" sz="1400"/>
              <a:t>Binance - </a:t>
            </a:r>
            <a:r>
              <a:rPr lang="en-US" sz="1400" b="1">
                <a:solidFill>
                  <a:srgbClr val="00B050"/>
                </a:solidFill>
              </a:rPr>
              <a:t>cryptocurrency exchange</a:t>
            </a:r>
            <a:r>
              <a:rPr lang="en-US" sz="1400"/>
              <a:t> </a:t>
            </a:r>
          </a:p>
          <a:p>
            <a:pPr marL="285750" indent="-285750">
              <a:buFont typeface="Arial" panose="020B0604020202020204" pitchFamily="34" charset="0"/>
              <a:buChar char="•"/>
            </a:pPr>
            <a:r>
              <a:rPr lang="en-US" sz="1400"/>
              <a:t>World largest trading volume</a:t>
            </a:r>
          </a:p>
          <a:p>
            <a:pPr marL="285750" indent="-285750">
              <a:buFont typeface="Arial" panose="020B0604020202020204" pitchFamily="34" charset="0"/>
              <a:buChar char="•"/>
            </a:pPr>
            <a:r>
              <a:rPr lang="en-US" sz="1400"/>
              <a:t>Founded in 2017 by </a:t>
            </a:r>
            <a:r>
              <a:rPr lang="en-US" sz="1400" b="1">
                <a:solidFill>
                  <a:srgbClr val="00B050"/>
                </a:solidFill>
              </a:rPr>
              <a:t>Changpeng Zhao</a:t>
            </a:r>
            <a:r>
              <a:rPr lang="en-US" sz="1400"/>
              <a:t> ("</a:t>
            </a:r>
            <a:r>
              <a:rPr lang="en-US" sz="1400" b="1">
                <a:solidFill>
                  <a:srgbClr val="FF0000"/>
                </a:solidFill>
              </a:rPr>
              <a:t>CZ</a:t>
            </a:r>
            <a:r>
              <a:rPr lang="en-US" sz="1400"/>
              <a:t>") &amp; </a:t>
            </a:r>
            <a:r>
              <a:rPr lang="en-US" sz="1400" b="1">
                <a:solidFill>
                  <a:srgbClr val="00B050"/>
                </a:solidFill>
              </a:rPr>
              <a:t>Yi He</a:t>
            </a:r>
          </a:p>
          <a:p>
            <a:pPr marL="285750" indent="-285750">
              <a:buFont typeface="Arial" panose="020B0604020202020204" pitchFamily="34" charset="0"/>
              <a:buChar char="•"/>
            </a:pPr>
            <a:r>
              <a:rPr lang="en-US" sz="1400"/>
              <a:t>Headquarters at </a:t>
            </a:r>
            <a:r>
              <a:rPr lang="en-US" sz="1400" b="1">
                <a:solidFill>
                  <a:srgbClr val="FF0000"/>
                </a:solidFill>
              </a:rPr>
              <a:t>Cayman Islands</a:t>
            </a:r>
          </a:p>
          <a:p>
            <a:pPr marL="285750" indent="-285750">
              <a:buFont typeface="Arial" panose="020B0604020202020204" pitchFamily="34" charset="0"/>
              <a:buChar char="•"/>
            </a:pPr>
            <a:r>
              <a:rPr lang="en-US" sz="1400"/>
              <a:t>Not available in the US and UK</a:t>
            </a:r>
            <a:br>
              <a:rPr lang="en-US" sz="1400"/>
            </a:br>
            <a:r>
              <a:rPr lang="en-US" sz="1400"/>
              <a:t>In US you can use </a:t>
            </a:r>
            <a:r>
              <a:rPr lang="en-US" sz="1400">
                <a:hlinkClick r:id="rId4"/>
              </a:rPr>
              <a:t>https://www.binance.us</a:t>
            </a:r>
            <a:r>
              <a:rPr lang="en-US" sz="1400"/>
              <a:t>  </a:t>
            </a:r>
          </a:p>
          <a:p>
            <a:pPr marL="285750" indent="-285750">
              <a:buFont typeface="Arial" panose="020B0604020202020204" pitchFamily="34" charset="0"/>
              <a:buChar char="•"/>
            </a:pPr>
            <a:r>
              <a:rPr lang="en-US" sz="1400"/>
              <a:t>Python API ( </a:t>
            </a:r>
            <a:r>
              <a:rPr lang="en-US" sz="1400" b="1">
                <a:solidFill>
                  <a:srgbClr val="00B0F0"/>
                </a:solidFill>
              </a:rPr>
              <a:t>pip install python-binance</a:t>
            </a:r>
            <a:r>
              <a:rPr lang="en-US" sz="1400"/>
              <a:t> )</a:t>
            </a:r>
            <a:br>
              <a:rPr lang="en-US" sz="1400"/>
            </a:br>
            <a:r>
              <a:rPr lang="en-US" sz="1400"/>
              <a:t>- </a:t>
            </a:r>
            <a:r>
              <a:rPr lang="en-US" sz="1400">
                <a:hlinkClick r:id="rId6"/>
              </a:rPr>
              <a:t>https://docs.binance.us</a:t>
            </a:r>
            <a:br>
              <a:rPr lang="en-US" sz="1400"/>
            </a:br>
            <a:r>
              <a:rPr lang="en-US" sz="1400"/>
              <a:t>- </a:t>
            </a:r>
            <a:r>
              <a:rPr lang="en-US" sz="1400">
                <a:hlinkClick r:id="rId7"/>
              </a:rPr>
              <a:t>https://python-binance.readthedocs.io</a:t>
            </a:r>
            <a:br>
              <a:rPr lang="en-US" sz="1400"/>
            </a:br>
            <a:r>
              <a:rPr lang="en-US" sz="1400"/>
              <a:t>- </a:t>
            </a:r>
            <a:r>
              <a:rPr lang="en-US" sz="1400">
                <a:hlinkClick r:id="rId8"/>
              </a:rPr>
              <a:t>https://github.com/sammchardy/python-binance</a:t>
            </a:r>
            <a:endParaRPr lang="en-US" sz="1400"/>
          </a:p>
          <a:p>
            <a:pPr marL="285750" indent="-285750">
              <a:buFont typeface="Arial" panose="020B0604020202020204" pitchFamily="34" charset="0"/>
              <a:buChar char="•"/>
            </a:pPr>
            <a:endParaRPr lang="en-US" sz="1400"/>
          </a:p>
        </p:txBody>
      </p:sp>
      <p:pic>
        <p:nvPicPr>
          <p:cNvPr id="8" name="Picture 7">
            <a:extLst>
              <a:ext uri="{FF2B5EF4-FFF2-40B4-BE49-F238E27FC236}">
                <a16:creationId xmlns:a16="http://schemas.microsoft.com/office/drawing/2014/main" id="{D9D0C026-9764-948C-71CB-F7BB39EB0371}"/>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8473253" y="1220301"/>
            <a:ext cx="1694819" cy="1973254"/>
          </a:xfrm>
          <a:prstGeom prst="rect">
            <a:avLst/>
          </a:prstGeom>
        </p:spPr>
      </p:pic>
      <p:sp>
        <p:nvSpPr>
          <p:cNvPr id="10" name="TextBox 9">
            <a:extLst>
              <a:ext uri="{FF2B5EF4-FFF2-40B4-BE49-F238E27FC236}">
                <a16:creationId xmlns:a16="http://schemas.microsoft.com/office/drawing/2014/main" id="{12B12C44-326F-E3EF-8356-E80126061451}"/>
              </a:ext>
            </a:extLst>
          </p:cNvPr>
          <p:cNvSpPr txBox="1"/>
          <p:nvPr/>
        </p:nvSpPr>
        <p:spPr>
          <a:xfrm>
            <a:off x="8334353" y="3193555"/>
            <a:ext cx="1977905" cy="584775"/>
          </a:xfrm>
          <a:prstGeom prst="rect">
            <a:avLst/>
          </a:prstGeom>
          <a:noFill/>
        </p:spPr>
        <p:txBody>
          <a:bodyPr wrap="square" rtlCol="0">
            <a:spAutoFit/>
          </a:bodyPr>
          <a:lstStyle/>
          <a:p>
            <a:pPr algn="ctr"/>
            <a:r>
              <a:rPr lang="en-US" sz="1400"/>
              <a:t> </a:t>
            </a:r>
            <a:r>
              <a:rPr lang="en-US" b="1">
                <a:solidFill>
                  <a:srgbClr val="00B050"/>
                </a:solidFill>
              </a:rPr>
              <a:t>Changpeng Zhao</a:t>
            </a:r>
          </a:p>
          <a:p>
            <a:pPr algn="ctr"/>
            <a:r>
              <a:rPr lang="en-US" sz="1400"/>
              <a:t>net worth ~ $77 Bln </a:t>
            </a:r>
          </a:p>
        </p:txBody>
      </p:sp>
      <p:sp>
        <p:nvSpPr>
          <p:cNvPr id="15" name="TextBox 14">
            <a:extLst>
              <a:ext uri="{FF2B5EF4-FFF2-40B4-BE49-F238E27FC236}">
                <a16:creationId xmlns:a16="http://schemas.microsoft.com/office/drawing/2014/main" id="{A1401087-E8D2-2CF4-5086-4DE3ACF2A9D9}"/>
              </a:ext>
            </a:extLst>
          </p:cNvPr>
          <p:cNvSpPr txBox="1"/>
          <p:nvPr/>
        </p:nvSpPr>
        <p:spPr>
          <a:xfrm>
            <a:off x="10755349" y="3193555"/>
            <a:ext cx="987907" cy="369332"/>
          </a:xfrm>
          <a:prstGeom prst="rect">
            <a:avLst/>
          </a:prstGeom>
          <a:noFill/>
        </p:spPr>
        <p:txBody>
          <a:bodyPr wrap="square" rtlCol="0">
            <a:spAutoFit/>
          </a:bodyPr>
          <a:lstStyle/>
          <a:p>
            <a:pPr algn="ctr"/>
            <a:r>
              <a:rPr lang="en-US" b="1">
                <a:solidFill>
                  <a:srgbClr val="00B050"/>
                </a:solidFill>
              </a:rPr>
              <a:t>Yi He</a:t>
            </a:r>
          </a:p>
        </p:txBody>
      </p:sp>
      <p:pic>
        <p:nvPicPr>
          <p:cNvPr id="14" name="Picture 13">
            <a:extLst>
              <a:ext uri="{FF2B5EF4-FFF2-40B4-BE49-F238E27FC236}">
                <a16:creationId xmlns:a16="http://schemas.microsoft.com/office/drawing/2014/main" id="{4E9B30E3-E8D4-7036-577F-9A5D14169C48}"/>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8183301" y="50357"/>
            <a:ext cx="3962144" cy="721241"/>
          </a:xfrm>
          <a:prstGeom prst="rect">
            <a:avLst/>
          </a:prstGeom>
        </p:spPr>
      </p:pic>
      <p:pic>
        <p:nvPicPr>
          <p:cNvPr id="16" name="Picture 15">
            <a:extLst>
              <a:ext uri="{FF2B5EF4-FFF2-40B4-BE49-F238E27FC236}">
                <a16:creationId xmlns:a16="http://schemas.microsoft.com/office/drawing/2014/main" id="{7993059C-A78D-F8D5-888C-88A085CA6614}"/>
              </a:ext>
            </a:extLst>
          </p:cNvPr>
          <p:cNvPicPr>
            <a:picLocks noChangeAspect="1"/>
          </p:cNvPicPr>
          <p:nvPr/>
        </p:nvPicPr>
        <p:blipFill rotWithShape="1">
          <a:blip r:embed="rId11" cstate="email">
            <a:extLst>
              <a:ext uri="{28A0092B-C50C-407E-A947-70E740481C1C}">
                <a14:useLocalDpi xmlns:a14="http://schemas.microsoft.com/office/drawing/2010/main"/>
              </a:ext>
            </a:extLst>
          </a:blip>
          <a:srcRect/>
          <a:stretch/>
        </p:blipFill>
        <p:spPr>
          <a:xfrm>
            <a:off x="4928563" y="2050343"/>
            <a:ext cx="3405790" cy="4055700"/>
          </a:xfrm>
          <a:prstGeom prst="rect">
            <a:avLst/>
          </a:prstGeom>
        </p:spPr>
      </p:pic>
      <p:pic>
        <p:nvPicPr>
          <p:cNvPr id="17" name="Picture 16">
            <a:extLst>
              <a:ext uri="{FF2B5EF4-FFF2-40B4-BE49-F238E27FC236}">
                <a16:creationId xmlns:a16="http://schemas.microsoft.com/office/drawing/2014/main" id="{FB4A64B5-8483-B2DC-BCF9-F5F4B31437B4}"/>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387160" y="3995061"/>
            <a:ext cx="3957445" cy="2793491"/>
          </a:xfrm>
          <a:prstGeom prst="rect">
            <a:avLst/>
          </a:prstGeom>
        </p:spPr>
      </p:pic>
      <p:pic>
        <p:nvPicPr>
          <p:cNvPr id="3" name="Picture 2">
            <a:extLst>
              <a:ext uri="{FF2B5EF4-FFF2-40B4-BE49-F238E27FC236}">
                <a16:creationId xmlns:a16="http://schemas.microsoft.com/office/drawing/2014/main" id="{D6D6ADAF-00BB-4075-8AF4-482E672E1F84}"/>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284591" y="1220301"/>
            <a:ext cx="1860854" cy="1973254"/>
          </a:xfrm>
          <a:prstGeom prst="rect">
            <a:avLst/>
          </a:prstGeom>
        </p:spPr>
      </p:pic>
    </p:spTree>
    <p:extLst>
      <p:ext uri="{BB962C8B-B14F-4D97-AF65-F5344CB8AC3E}">
        <p14:creationId xmlns:p14="http://schemas.microsoft.com/office/powerpoint/2010/main" val="4057401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110EDD-1316-6D4C-4930-BCFF121273CA}"/>
              </a:ext>
            </a:extLst>
          </p:cNvPr>
          <p:cNvSpPr txBox="1"/>
          <p:nvPr/>
        </p:nvSpPr>
        <p:spPr>
          <a:xfrm>
            <a:off x="-1" y="0"/>
            <a:ext cx="2072641" cy="523220"/>
          </a:xfrm>
          <a:prstGeom prst="rect">
            <a:avLst/>
          </a:prstGeom>
          <a:noFill/>
        </p:spPr>
        <p:txBody>
          <a:bodyPr wrap="square" rtlCol="0">
            <a:spAutoFit/>
          </a:bodyPr>
          <a:lstStyle/>
          <a:p>
            <a:r>
              <a:rPr lang="en-US" sz="2800" b="1"/>
              <a:t>Bitstamp</a:t>
            </a:r>
          </a:p>
        </p:txBody>
      </p:sp>
      <p:sp>
        <p:nvSpPr>
          <p:cNvPr id="4" name="TextBox 3">
            <a:extLst>
              <a:ext uri="{FF2B5EF4-FFF2-40B4-BE49-F238E27FC236}">
                <a16:creationId xmlns:a16="http://schemas.microsoft.com/office/drawing/2014/main" id="{D450E834-9C35-33AB-8443-28E59C3504FF}"/>
              </a:ext>
            </a:extLst>
          </p:cNvPr>
          <p:cNvSpPr txBox="1"/>
          <p:nvPr/>
        </p:nvSpPr>
        <p:spPr>
          <a:xfrm>
            <a:off x="-1" y="1712935"/>
            <a:ext cx="5402424" cy="1600438"/>
          </a:xfrm>
          <a:prstGeom prst="rect">
            <a:avLst/>
          </a:prstGeom>
          <a:noFill/>
        </p:spPr>
        <p:txBody>
          <a:bodyPr wrap="square" rtlCol="0">
            <a:spAutoFit/>
          </a:bodyPr>
          <a:lstStyle/>
          <a:p>
            <a:pPr marL="285750" indent="-285750">
              <a:buFont typeface="Arial" panose="020B0604020202020204" pitchFamily="34" charset="0"/>
              <a:buChar char="•"/>
            </a:pPr>
            <a:r>
              <a:rPr lang="en-US" sz="1400"/>
              <a:t>Bitstamp is a cryptocurrency exchange based in Luxembourg. </a:t>
            </a:r>
            <a:br>
              <a:rPr lang="en-US" sz="1400"/>
            </a:br>
            <a:r>
              <a:rPr lang="en-US" sz="1400"/>
              <a:t>(London, Luxembourg, Slovenia, New York City)</a:t>
            </a:r>
          </a:p>
          <a:p>
            <a:pPr marL="285750" indent="-285750">
              <a:buFont typeface="Arial" panose="020B0604020202020204" pitchFamily="34" charset="0"/>
              <a:buChar char="•"/>
            </a:pPr>
            <a:r>
              <a:rPr lang="en-US" sz="1400"/>
              <a:t>Founded in 2011</a:t>
            </a:r>
          </a:p>
          <a:p>
            <a:pPr marL="285750" indent="-285750">
              <a:buFont typeface="Arial" panose="020B0604020202020204" pitchFamily="34" charset="0"/>
              <a:buChar char="•"/>
            </a:pPr>
            <a:r>
              <a:rPr lang="en-US" sz="1400"/>
              <a:t>It allows trading between fiat currency, bitcoin and other cryptocurrencies.</a:t>
            </a:r>
          </a:p>
          <a:p>
            <a:pPr marL="285750" indent="-285750">
              <a:buFont typeface="Arial" panose="020B0604020202020204" pitchFamily="34" charset="0"/>
              <a:buChar char="•"/>
            </a:pPr>
            <a:r>
              <a:rPr lang="en-US" sz="1400"/>
              <a:t>USD, EUR, GBP, bitcoin, ALGO, XRP, Ether, litecoin, bitcoin cash, XLM, Link, OMG Network, USD Coin or PAX deposits and withdrawals</a:t>
            </a:r>
          </a:p>
        </p:txBody>
      </p:sp>
      <p:pic>
        <p:nvPicPr>
          <p:cNvPr id="3" name="Picture 2">
            <a:extLst>
              <a:ext uri="{FF2B5EF4-FFF2-40B4-BE49-F238E27FC236}">
                <a16:creationId xmlns:a16="http://schemas.microsoft.com/office/drawing/2014/main" id="{B030F248-013D-EC55-1302-1CA6CF3F462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97146" y="2091267"/>
            <a:ext cx="4138870" cy="3348479"/>
          </a:xfrm>
          <a:prstGeom prst="rect">
            <a:avLst/>
          </a:prstGeom>
        </p:spPr>
      </p:pic>
      <p:sp>
        <p:nvSpPr>
          <p:cNvPr id="5" name="TextBox 4">
            <a:extLst>
              <a:ext uri="{FF2B5EF4-FFF2-40B4-BE49-F238E27FC236}">
                <a16:creationId xmlns:a16="http://schemas.microsoft.com/office/drawing/2014/main" id="{C34BAA9C-9CDA-6777-C3BB-E2B6236AF4FC}"/>
              </a:ext>
            </a:extLst>
          </p:cNvPr>
          <p:cNvSpPr txBox="1"/>
          <p:nvPr/>
        </p:nvSpPr>
        <p:spPr>
          <a:xfrm>
            <a:off x="0" y="663179"/>
            <a:ext cx="5243804" cy="1169551"/>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4"/>
              </a:rPr>
              <a:t>https://www.bitstamp.net/</a:t>
            </a:r>
            <a:r>
              <a:rPr lang="en-US" sz="1400"/>
              <a:t> </a:t>
            </a:r>
          </a:p>
          <a:p>
            <a:pPr marL="285750" indent="-285750">
              <a:buFont typeface="Arial" panose="020B0604020202020204" pitchFamily="34" charset="0"/>
              <a:buChar char="•"/>
            </a:pPr>
            <a:r>
              <a:rPr lang="en-US" sz="1400">
                <a:hlinkClick r:id="rId5"/>
              </a:rPr>
              <a:t>https://en.wikipedia.org/wiki/Bitstamp</a:t>
            </a:r>
            <a:r>
              <a:rPr lang="en-US" sz="1400"/>
              <a:t> </a:t>
            </a:r>
          </a:p>
          <a:p>
            <a:pPr marL="285750" indent="-285750">
              <a:buFont typeface="Arial" panose="020B0604020202020204" pitchFamily="34" charset="0"/>
              <a:buChar char="•"/>
            </a:pPr>
            <a:r>
              <a:rPr lang="en-US" sz="1400">
                <a:hlinkClick r:id="rId6"/>
              </a:rPr>
              <a:t>https://www.bitstamp.net/api/</a:t>
            </a:r>
            <a:r>
              <a:rPr lang="en-US" sz="1400"/>
              <a:t> </a:t>
            </a:r>
          </a:p>
          <a:p>
            <a:pPr marL="285750" indent="-285750">
              <a:buFont typeface="Arial" panose="020B0604020202020204" pitchFamily="34" charset="0"/>
              <a:buChar char="•"/>
            </a:pPr>
            <a:r>
              <a:rPr lang="en-US" sz="1400">
                <a:hlinkClick r:id="rId7"/>
              </a:rPr>
              <a:t>https://github.com/kmadac/bitstamp-python-client</a:t>
            </a:r>
            <a:r>
              <a:rPr lang="en-US" sz="1400"/>
              <a:t> </a:t>
            </a:r>
          </a:p>
          <a:p>
            <a:pPr marL="285750" indent="-285750">
              <a:buFont typeface="Arial" panose="020B0604020202020204" pitchFamily="34" charset="0"/>
              <a:buChar char="•"/>
            </a:pPr>
            <a:endParaRPr lang="en-US" sz="1400"/>
          </a:p>
        </p:txBody>
      </p:sp>
      <p:pic>
        <p:nvPicPr>
          <p:cNvPr id="6" name="Picture 5">
            <a:extLst>
              <a:ext uri="{FF2B5EF4-FFF2-40B4-BE49-F238E27FC236}">
                <a16:creationId xmlns:a16="http://schemas.microsoft.com/office/drawing/2014/main" id="{988DCB5F-E0B7-03AD-029A-33299D2E0718}"/>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9050693" y="59666"/>
            <a:ext cx="3085323" cy="771331"/>
          </a:xfrm>
          <a:prstGeom prst="rect">
            <a:avLst/>
          </a:prstGeom>
        </p:spPr>
      </p:pic>
      <p:sp>
        <p:nvSpPr>
          <p:cNvPr id="7" name="TextBox 6">
            <a:extLst>
              <a:ext uri="{FF2B5EF4-FFF2-40B4-BE49-F238E27FC236}">
                <a16:creationId xmlns:a16="http://schemas.microsoft.com/office/drawing/2014/main" id="{72D8A426-4282-B1E8-4045-B0EF4C0DFAAD}"/>
              </a:ext>
            </a:extLst>
          </p:cNvPr>
          <p:cNvSpPr txBox="1"/>
          <p:nvPr/>
        </p:nvSpPr>
        <p:spPr>
          <a:xfrm>
            <a:off x="541581" y="3858339"/>
            <a:ext cx="4758612" cy="2308324"/>
          </a:xfrm>
          <a:prstGeom prst="rect">
            <a:avLst/>
          </a:prstGeom>
          <a:noFill/>
        </p:spPr>
        <p:txBody>
          <a:bodyPr wrap="square" rtlCol="0">
            <a:spAutoFit/>
          </a:bodyPr>
          <a:lstStyle/>
          <a:p>
            <a:r>
              <a:rPr lang="en-US" sz="1200" b="1">
                <a:solidFill>
                  <a:srgbClr val="00B050"/>
                </a:solidFill>
                <a:latin typeface="Menlo" panose="020B0609030804020204" pitchFamily="49" charset="0"/>
                <a:ea typeface="Menlo" panose="020B0609030804020204" pitchFamily="49" charset="0"/>
                <a:cs typeface="Menlo" panose="020B0609030804020204" pitchFamily="49" charset="0"/>
              </a:rPr>
              <a:t># pip install BitstampClient</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import bitstamp.client</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public_client = bitstamp.client.Public()</a:t>
            </a: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print(public_client.ticker()['volume'])</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trading_client = bitstamp.client.Trading(</a:t>
            </a: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    username='999999', key='xxx', secret='xxx')</a:t>
            </a:r>
          </a:p>
          <a:p>
            <a:endParaRPr lang="en-US" sz="12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print(trading_client.account_balance()['fee'])</a:t>
            </a:r>
          </a:p>
          <a:p>
            <a:r>
              <a:rPr lang="en-US" sz="1200">
                <a:solidFill>
                  <a:srgbClr val="00B0F0"/>
                </a:solidFill>
                <a:latin typeface="Menlo" panose="020B0609030804020204" pitchFamily="49" charset="0"/>
                <a:ea typeface="Menlo" panose="020B0609030804020204" pitchFamily="49" charset="0"/>
                <a:cs typeface="Menlo" panose="020B0609030804020204" pitchFamily="49" charset="0"/>
              </a:rPr>
              <a:t>print(trading_client.ticker()['volume'])</a:t>
            </a:r>
          </a:p>
        </p:txBody>
      </p:sp>
    </p:spTree>
    <p:extLst>
      <p:ext uri="{BB962C8B-B14F-4D97-AF65-F5344CB8AC3E}">
        <p14:creationId xmlns:p14="http://schemas.microsoft.com/office/powerpoint/2010/main" val="18167053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7110EDD-1316-6D4C-4930-BCFF121273CA}"/>
              </a:ext>
            </a:extLst>
          </p:cNvPr>
          <p:cNvSpPr txBox="1"/>
          <p:nvPr/>
        </p:nvSpPr>
        <p:spPr>
          <a:xfrm>
            <a:off x="-1" y="0"/>
            <a:ext cx="2072641" cy="523220"/>
          </a:xfrm>
          <a:prstGeom prst="rect">
            <a:avLst/>
          </a:prstGeom>
          <a:noFill/>
        </p:spPr>
        <p:txBody>
          <a:bodyPr wrap="square" rtlCol="0">
            <a:spAutoFit/>
          </a:bodyPr>
          <a:lstStyle/>
          <a:p>
            <a:r>
              <a:rPr lang="en-US" sz="2800" b="1"/>
              <a:t>Kraken</a:t>
            </a:r>
          </a:p>
        </p:txBody>
      </p:sp>
      <p:sp>
        <p:nvSpPr>
          <p:cNvPr id="4" name="TextBox 3">
            <a:extLst>
              <a:ext uri="{FF2B5EF4-FFF2-40B4-BE49-F238E27FC236}">
                <a16:creationId xmlns:a16="http://schemas.microsoft.com/office/drawing/2014/main" id="{D450E834-9C35-33AB-8443-28E59C3504FF}"/>
              </a:ext>
            </a:extLst>
          </p:cNvPr>
          <p:cNvSpPr txBox="1"/>
          <p:nvPr/>
        </p:nvSpPr>
        <p:spPr>
          <a:xfrm>
            <a:off x="0" y="509286"/>
            <a:ext cx="6690049" cy="954107"/>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https://www.kraken.com</a:t>
            </a:r>
            <a:r>
              <a:rPr lang="en-US" sz="1400"/>
              <a:t> </a:t>
            </a:r>
          </a:p>
          <a:p>
            <a:pPr marL="285750" indent="-285750">
              <a:buFont typeface="Arial" panose="020B0604020202020204" pitchFamily="34" charset="0"/>
              <a:buChar char="•"/>
            </a:pPr>
            <a:r>
              <a:rPr lang="en-US" sz="1400">
                <a:hlinkClick r:id="rId3"/>
              </a:rPr>
              <a:t>https://en.wikipedia.org/wiki/Kraken_(company)</a:t>
            </a:r>
            <a:r>
              <a:rPr lang="en-US" sz="1400"/>
              <a:t> </a:t>
            </a:r>
          </a:p>
          <a:p>
            <a:pPr marL="285750" indent="-285750">
              <a:buFont typeface="Arial" panose="020B0604020202020204" pitchFamily="34" charset="0"/>
              <a:buChar char="•"/>
            </a:pPr>
            <a:r>
              <a:rPr lang="en-US" sz="1400">
                <a:hlinkClick r:id="rId4"/>
              </a:rPr>
              <a:t>https://docs.kraken.com/rest/</a:t>
            </a:r>
            <a:endParaRPr lang="en-US" sz="1400"/>
          </a:p>
          <a:p>
            <a:pPr marL="285750" indent="-285750">
              <a:buFont typeface="Arial" panose="020B0604020202020204" pitchFamily="34" charset="0"/>
              <a:buChar char="•"/>
            </a:pPr>
            <a:r>
              <a:rPr lang="en-US" sz="1400">
                <a:hlinkClick r:id="rId5"/>
              </a:rPr>
              <a:t>https://support.kraken.com/hc/en-us/sections/360003946512-Example-API-Code</a:t>
            </a:r>
            <a:endParaRPr lang="en-US" sz="1400"/>
          </a:p>
        </p:txBody>
      </p:sp>
      <p:sp>
        <p:nvSpPr>
          <p:cNvPr id="5" name="TextBox 4">
            <a:extLst>
              <a:ext uri="{FF2B5EF4-FFF2-40B4-BE49-F238E27FC236}">
                <a16:creationId xmlns:a16="http://schemas.microsoft.com/office/drawing/2014/main" id="{98ACFF17-6F73-7014-B5A1-972FD9DD09A1}"/>
              </a:ext>
            </a:extLst>
          </p:cNvPr>
          <p:cNvSpPr txBox="1"/>
          <p:nvPr/>
        </p:nvSpPr>
        <p:spPr>
          <a:xfrm>
            <a:off x="0" y="1776684"/>
            <a:ext cx="6096000" cy="1815882"/>
          </a:xfrm>
          <a:prstGeom prst="rect">
            <a:avLst/>
          </a:prstGeom>
          <a:noFill/>
        </p:spPr>
        <p:txBody>
          <a:bodyPr wrap="square" rtlCol="0">
            <a:spAutoFit/>
          </a:bodyPr>
          <a:lstStyle/>
          <a:p>
            <a:pPr marL="285750" indent="-285750">
              <a:buFont typeface="Arial" panose="020B0604020202020204" pitchFamily="34" charset="0"/>
              <a:buChar char="•"/>
            </a:pPr>
            <a:r>
              <a:rPr lang="en-US" sz="1400" b="1">
                <a:solidFill>
                  <a:srgbClr val="00B050"/>
                </a:solidFill>
              </a:rPr>
              <a:t>Kraken</a:t>
            </a:r>
            <a:r>
              <a:rPr lang="en-US" sz="1400"/>
              <a:t> is a cryptocurrency exchange in San Francisco, CA since </a:t>
            </a:r>
          </a:p>
          <a:p>
            <a:pPr marL="285750" indent="-285750">
              <a:buFont typeface="Arial" panose="020B0604020202020204" pitchFamily="34" charset="0"/>
              <a:buChar char="•"/>
            </a:pPr>
            <a:r>
              <a:rPr lang="en-US" sz="1400"/>
              <a:t>Founded in 2011 by </a:t>
            </a:r>
            <a:r>
              <a:rPr lang="en-US" sz="1400" b="1">
                <a:solidFill>
                  <a:srgbClr val="00B050"/>
                </a:solidFill>
              </a:rPr>
              <a:t>Jesse Powell</a:t>
            </a:r>
          </a:p>
          <a:p>
            <a:pPr marL="285750" indent="-285750">
              <a:buFont typeface="Arial" panose="020B0604020202020204" pitchFamily="34" charset="0"/>
              <a:buChar char="•"/>
            </a:pPr>
            <a:r>
              <a:rPr lang="en-US" sz="1400"/>
              <a:t>14+ Mln users, 1000+ employees, </a:t>
            </a:r>
          </a:p>
          <a:p>
            <a:pPr marL="285750" indent="-285750">
              <a:buFont typeface="Arial" panose="020B0604020202020204" pitchFamily="34" charset="0"/>
              <a:buChar char="•"/>
            </a:pPr>
            <a:r>
              <a:rPr lang="en-US" sz="1400"/>
              <a:t>Support for 120+ different crypto currencies including Bitcoin, Ethereum (ether), Litecoin, Namecoin, Dogecoin, Ripple, Stellar, Cardano, Polkadot, Polygon, Solana, Sushi, Uniswap</a:t>
            </a:r>
          </a:p>
          <a:p>
            <a:pPr marL="285750" indent="-285750">
              <a:buFont typeface="Arial" panose="020B0604020202020204" pitchFamily="34" charset="0"/>
              <a:buChar char="•"/>
            </a:pPr>
            <a:r>
              <a:rPr lang="en-US" sz="1400"/>
              <a:t>Trading can be executed between digital assets, and between digital assets and national currencies like USD, EUR, GBP, CAD and JPY</a:t>
            </a:r>
          </a:p>
        </p:txBody>
      </p:sp>
      <p:pic>
        <p:nvPicPr>
          <p:cNvPr id="3" name="Picture 2">
            <a:extLst>
              <a:ext uri="{FF2B5EF4-FFF2-40B4-BE49-F238E27FC236}">
                <a16:creationId xmlns:a16="http://schemas.microsoft.com/office/drawing/2014/main" id="{03544CE4-260E-F661-89C0-88B4D5D39902}"/>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0046127" y="2440589"/>
            <a:ext cx="2058695" cy="3166618"/>
          </a:xfrm>
          <a:prstGeom prst="rect">
            <a:avLst/>
          </a:prstGeom>
        </p:spPr>
      </p:pic>
      <p:pic>
        <p:nvPicPr>
          <p:cNvPr id="6" name="Picture 5">
            <a:extLst>
              <a:ext uri="{FF2B5EF4-FFF2-40B4-BE49-F238E27FC236}">
                <a16:creationId xmlns:a16="http://schemas.microsoft.com/office/drawing/2014/main" id="{FC57052F-3339-C4A3-57E2-4C2DCCC75B0F}"/>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0544102" y="102637"/>
            <a:ext cx="1560720" cy="1591934"/>
          </a:xfrm>
          <a:prstGeom prst="rect">
            <a:avLst/>
          </a:prstGeom>
        </p:spPr>
      </p:pic>
      <p:sp>
        <p:nvSpPr>
          <p:cNvPr id="7" name="TextBox 6">
            <a:extLst>
              <a:ext uri="{FF2B5EF4-FFF2-40B4-BE49-F238E27FC236}">
                <a16:creationId xmlns:a16="http://schemas.microsoft.com/office/drawing/2014/main" id="{D39FF3C4-289F-8C82-5F1A-2597B69EF113}"/>
              </a:ext>
            </a:extLst>
          </p:cNvPr>
          <p:cNvSpPr txBox="1"/>
          <p:nvPr/>
        </p:nvSpPr>
        <p:spPr>
          <a:xfrm>
            <a:off x="10019080" y="5611872"/>
            <a:ext cx="2058695" cy="954107"/>
          </a:xfrm>
          <a:prstGeom prst="rect">
            <a:avLst/>
          </a:prstGeom>
          <a:noFill/>
        </p:spPr>
        <p:txBody>
          <a:bodyPr wrap="square" rtlCol="0">
            <a:spAutoFit/>
          </a:bodyPr>
          <a:lstStyle/>
          <a:p>
            <a:r>
              <a:rPr lang="en-US" sz="1400"/>
              <a:t>The kraken is a legendary sea monster of enormous size said to appear off the coasts of Norway.</a:t>
            </a:r>
          </a:p>
        </p:txBody>
      </p:sp>
      <p:pic>
        <p:nvPicPr>
          <p:cNvPr id="8" name="Picture 7">
            <a:extLst>
              <a:ext uri="{FF2B5EF4-FFF2-40B4-BE49-F238E27FC236}">
                <a16:creationId xmlns:a16="http://schemas.microsoft.com/office/drawing/2014/main" id="{90BB8598-50E9-6F94-D070-727FAD0D212D}"/>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7679852" y="102637"/>
            <a:ext cx="1690410" cy="2039517"/>
          </a:xfrm>
          <a:prstGeom prst="rect">
            <a:avLst/>
          </a:prstGeom>
        </p:spPr>
      </p:pic>
      <p:sp>
        <p:nvSpPr>
          <p:cNvPr id="9" name="TextBox 8">
            <a:extLst>
              <a:ext uri="{FF2B5EF4-FFF2-40B4-BE49-F238E27FC236}">
                <a16:creationId xmlns:a16="http://schemas.microsoft.com/office/drawing/2014/main" id="{D9EE38EE-1A99-433D-4D12-D2DCB3E26CD6}"/>
              </a:ext>
            </a:extLst>
          </p:cNvPr>
          <p:cNvSpPr txBox="1"/>
          <p:nvPr/>
        </p:nvSpPr>
        <p:spPr>
          <a:xfrm>
            <a:off x="7679852" y="2136706"/>
            <a:ext cx="1690410" cy="369332"/>
          </a:xfrm>
          <a:prstGeom prst="rect">
            <a:avLst/>
          </a:prstGeom>
          <a:noFill/>
        </p:spPr>
        <p:txBody>
          <a:bodyPr wrap="square" rtlCol="0">
            <a:spAutoFit/>
          </a:bodyPr>
          <a:lstStyle/>
          <a:p>
            <a:pPr algn="ctr"/>
            <a:r>
              <a:rPr lang="en-US"/>
              <a:t> Jesse Powell</a:t>
            </a:r>
          </a:p>
        </p:txBody>
      </p:sp>
      <p:pic>
        <p:nvPicPr>
          <p:cNvPr id="10" name="Picture 9">
            <a:extLst>
              <a:ext uri="{FF2B5EF4-FFF2-40B4-BE49-F238E27FC236}">
                <a16:creationId xmlns:a16="http://schemas.microsoft.com/office/drawing/2014/main" id="{BDCF295C-9364-9856-BF30-79F02D5E9901}"/>
              </a:ext>
            </a:extLst>
          </p:cNvPr>
          <p:cNvPicPr>
            <a:picLocks noChangeAspect="1"/>
          </p:cNvPicPr>
          <p:nvPr/>
        </p:nvPicPr>
        <p:blipFill>
          <a:blip r:embed="rId9" cstate="email">
            <a:extLst>
              <a:ext uri="{28A0092B-C50C-407E-A947-70E740481C1C}">
                <a14:useLocalDpi xmlns:a14="http://schemas.microsoft.com/office/drawing/2010/main"/>
              </a:ext>
            </a:extLst>
          </a:blip>
          <a:stretch>
            <a:fillRect/>
          </a:stretch>
        </p:blipFill>
        <p:spPr>
          <a:xfrm>
            <a:off x="5499650" y="3571612"/>
            <a:ext cx="4492383" cy="3183751"/>
          </a:xfrm>
          <a:prstGeom prst="rect">
            <a:avLst/>
          </a:prstGeom>
        </p:spPr>
      </p:pic>
      <p:sp>
        <p:nvSpPr>
          <p:cNvPr id="11" name="TextBox 10">
            <a:extLst>
              <a:ext uri="{FF2B5EF4-FFF2-40B4-BE49-F238E27FC236}">
                <a16:creationId xmlns:a16="http://schemas.microsoft.com/office/drawing/2014/main" id="{66D1B042-CBFA-C060-A90E-BCF559314667}"/>
              </a:ext>
            </a:extLst>
          </p:cNvPr>
          <p:cNvSpPr txBox="1"/>
          <p:nvPr/>
        </p:nvSpPr>
        <p:spPr>
          <a:xfrm>
            <a:off x="102637" y="4099022"/>
            <a:ext cx="5342919" cy="1785104"/>
          </a:xfrm>
          <a:prstGeom prst="rect">
            <a:avLst/>
          </a:prstGeom>
          <a:noFill/>
        </p:spPr>
        <p:txBody>
          <a:bodyPr wrap="square" rtlCol="0">
            <a:spAutoFit/>
          </a:bodyPr>
          <a:lstStyle/>
          <a:p>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import sys, time, json, urllib.request</a:t>
            </a:r>
          </a:p>
          <a:p>
            <a:endParaRPr lang="en-US" sz="10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api_domain = "</a:t>
            </a:r>
            <a:r>
              <a:rPr lang="en-US" sz="1000">
                <a:solidFill>
                  <a:srgbClr val="00B050"/>
                </a:solidFill>
                <a:latin typeface="Menlo" panose="020B0609030804020204" pitchFamily="49" charset="0"/>
                <a:ea typeface="Menlo" panose="020B0609030804020204" pitchFamily="49" charset="0"/>
                <a:cs typeface="Menlo" panose="020B0609030804020204" pitchFamily="49" charset="0"/>
              </a:rPr>
              <a:t>https://api.kraken.com</a:t>
            </a:r>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a:t>
            </a:r>
          </a:p>
          <a:p>
            <a:r>
              <a:rPr lang="en-US" sz="1000">
                <a:solidFill>
                  <a:srgbClr val="00B050"/>
                </a:solidFill>
                <a:latin typeface="Menlo" panose="020B0609030804020204" pitchFamily="49" charset="0"/>
                <a:ea typeface="Menlo" panose="020B0609030804020204" pitchFamily="49" charset="0"/>
                <a:cs typeface="Menlo" panose="020B0609030804020204" pitchFamily="49" charset="0"/>
              </a:rPr>
              <a:t># ...</a:t>
            </a:r>
          </a:p>
          <a:p>
            <a:endParaRPr lang="en-US" sz="1000">
              <a:solidFill>
                <a:srgbClr val="00B0F0"/>
              </a:solidFill>
              <a:latin typeface="Menlo" panose="020B0609030804020204" pitchFamily="49" charset="0"/>
              <a:ea typeface="Menlo" panose="020B0609030804020204" pitchFamily="49" charset="0"/>
              <a:cs typeface="Menlo" panose="020B0609030804020204" pitchFamily="49" charset="0"/>
            </a:endParaRPr>
          </a:p>
          <a:p>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api_data = "?pair=%(pair)s&amp;since=%(since)s" % {"pair":api_symbol, "since":api_start}</a:t>
            </a:r>
          </a:p>
          <a:p>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api_request = urllib.request.Request(api_domain + api_path + api_method + api_data)</a:t>
            </a:r>
          </a:p>
          <a:p>
            <a:r>
              <a:rPr lang="en-US" sz="1000">
                <a:solidFill>
                  <a:srgbClr val="00B0F0"/>
                </a:solidFill>
                <a:latin typeface="Menlo" panose="020B0609030804020204" pitchFamily="49" charset="0"/>
                <a:ea typeface="Menlo" panose="020B0609030804020204" pitchFamily="49" charset="0"/>
                <a:cs typeface="Menlo" panose="020B0609030804020204" pitchFamily="49" charset="0"/>
              </a:rPr>
              <a:t>api_data = urllib.request.urlopen(api_request).read()</a:t>
            </a:r>
          </a:p>
          <a:p>
            <a:r>
              <a:rPr lang="en-US" sz="1000">
                <a:solidFill>
                  <a:srgbClr val="00B050"/>
                </a:solidFill>
                <a:latin typeface="Menlo" panose="020B0609030804020204" pitchFamily="49" charset="0"/>
                <a:ea typeface="Menlo" panose="020B0609030804020204" pitchFamily="49" charset="0"/>
                <a:cs typeface="Menlo" panose="020B0609030804020204" pitchFamily="49" charset="0"/>
              </a:rPr>
              <a:t># ...</a:t>
            </a:r>
          </a:p>
        </p:txBody>
      </p:sp>
    </p:spTree>
    <p:extLst>
      <p:ext uri="{BB962C8B-B14F-4D97-AF65-F5344CB8AC3E}">
        <p14:creationId xmlns:p14="http://schemas.microsoft.com/office/powerpoint/2010/main" val="18236285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0D5B8D-BE4D-BB41-ABFF-EFE774092AF5}"/>
              </a:ext>
            </a:extLst>
          </p:cNvPr>
          <p:cNvSpPr txBox="1"/>
          <p:nvPr/>
        </p:nvSpPr>
        <p:spPr>
          <a:xfrm>
            <a:off x="6754809" y="161226"/>
            <a:ext cx="5440919" cy="3108543"/>
          </a:xfrm>
          <a:prstGeom prst="rect">
            <a:avLst/>
          </a:prstGeom>
          <a:noFill/>
        </p:spPr>
        <p:txBody>
          <a:bodyPr wrap="square" rtlCol="0">
            <a:spAutoFit/>
          </a:bodyPr>
          <a:lstStyle/>
          <a:p>
            <a:pPr marL="380990" indent="-380990">
              <a:buFont typeface="Arial" panose="020B0604020202020204" pitchFamily="34" charset="0"/>
              <a:buChar char="•"/>
            </a:pPr>
            <a:r>
              <a:rPr lang="en-US" sz="1400">
                <a:hlinkClick r:id="rId2"/>
              </a:rPr>
              <a:t>https://metamask.io/</a:t>
            </a:r>
            <a:endParaRPr lang="en-US" sz="1400"/>
          </a:p>
          <a:p>
            <a:pPr marL="380990" indent="-380990">
              <a:buFont typeface="Arial" panose="020B0604020202020204" pitchFamily="34" charset="0"/>
              <a:buChar char="•"/>
            </a:pPr>
            <a:r>
              <a:rPr lang="en-US" sz="1400">
                <a:hlinkClick r:id="rId3"/>
              </a:rPr>
              <a:t>https://en.wikipedia.org/wiki/MetaMask</a:t>
            </a:r>
            <a:endParaRPr lang="en-US" sz="1400"/>
          </a:p>
          <a:p>
            <a:pPr marL="380990" indent="-380990">
              <a:buFont typeface="Arial" panose="020B0604020202020204" pitchFamily="34" charset="0"/>
              <a:buChar char="•"/>
            </a:pPr>
            <a:r>
              <a:rPr lang="en-US" sz="1400" b="1">
                <a:solidFill>
                  <a:srgbClr val="00B050"/>
                </a:solidFill>
              </a:rPr>
              <a:t>A software cryptocurrency wallet for Etherium blockchain</a:t>
            </a:r>
          </a:p>
          <a:p>
            <a:pPr marL="380990" indent="-380990">
              <a:buFont typeface="Arial" panose="020B0604020202020204" pitchFamily="34" charset="0"/>
              <a:buChar char="•"/>
            </a:pPr>
            <a:r>
              <a:rPr lang="en-US" sz="1400"/>
              <a:t>A secure browser extension or mobile app </a:t>
            </a:r>
            <a:br>
              <a:rPr lang="en-US" sz="1400"/>
            </a:br>
            <a:r>
              <a:rPr lang="en-US" sz="1400"/>
              <a:t>(iOS, Android)</a:t>
            </a:r>
          </a:p>
          <a:p>
            <a:pPr marL="380990" indent="-380990">
              <a:buFont typeface="Arial" panose="020B0604020202020204" pitchFamily="34" charset="0"/>
              <a:buChar char="•"/>
            </a:pPr>
            <a:r>
              <a:rPr lang="en-US" sz="1400"/>
              <a:t>Allows to interact with decentralized applications</a:t>
            </a:r>
          </a:p>
          <a:p>
            <a:pPr marL="380990" indent="-380990">
              <a:buFont typeface="Arial" panose="020B0604020202020204" pitchFamily="34" charset="0"/>
              <a:buChar char="•"/>
            </a:pPr>
            <a:r>
              <a:rPr lang="en-US" sz="1400"/>
              <a:t>Since 2016 </a:t>
            </a:r>
          </a:p>
          <a:p>
            <a:pPr marL="380990" indent="-380990">
              <a:buFont typeface="Arial" panose="020B0604020202020204" pitchFamily="34" charset="0"/>
              <a:buChar char="•"/>
            </a:pPr>
            <a:r>
              <a:rPr lang="en-US" sz="1400"/>
              <a:t>More than 20 Mln users</a:t>
            </a:r>
          </a:p>
          <a:p>
            <a:pPr marL="380990" indent="-380990">
              <a:buFont typeface="Arial" panose="020B0604020202020204" pitchFamily="34" charset="0"/>
              <a:buChar char="•"/>
            </a:pPr>
            <a:r>
              <a:rPr lang="en-US" sz="1400"/>
              <a:t>Developed by ConsenSys - a blockchain software technology company founded by </a:t>
            </a:r>
            <a:r>
              <a:rPr lang="en-US" sz="1400" b="1">
                <a:solidFill>
                  <a:srgbClr val="0070C0"/>
                </a:solidFill>
              </a:rPr>
              <a:t>Joseph Lubin</a:t>
            </a:r>
            <a:r>
              <a:rPr lang="en-US" sz="1400"/>
              <a:t> with headquarters in Brooklyn, New York</a:t>
            </a:r>
          </a:p>
          <a:p>
            <a:pPr marL="380990" indent="-380990">
              <a:buFont typeface="Arial" panose="020B0604020202020204" pitchFamily="34" charset="0"/>
              <a:buChar char="•"/>
            </a:pPr>
            <a:r>
              <a:rPr lang="en-US" sz="1400"/>
              <a:t>Bitcoin cannot be stored on MetaMask, but you can store a "Wrapped Bitcoin" (WBTC) – which is an ERC-20 token that represents Bitcoin on the Ethereum blockchain</a:t>
            </a:r>
          </a:p>
        </p:txBody>
      </p:sp>
      <p:sp>
        <p:nvSpPr>
          <p:cNvPr id="3" name="TextBox 2">
            <a:extLst>
              <a:ext uri="{FF2B5EF4-FFF2-40B4-BE49-F238E27FC236}">
                <a16:creationId xmlns:a16="http://schemas.microsoft.com/office/drawing/2014/main" id="{E6BD177C-95D2-6D49-ABE7-6DD29457A006}"/>
              </a:ext>
            </a:extLst>
          </p:cNvPr>
          <p:cNvSpPr txBox="1"/>
          <p:nvPr/>
        </p:nvSpPr>
        <p:spPr>
          <a:xfrm>
            <a:off x="-23443" y="1"/>
            <a:ext cx="2157622" cy="523220"/>
          </a:xfrm>
          <a:prstGeom prst="rect">
            <a:avLst/>
          </a:prstGeom>
          <a:noFill/>
        </p:spPr>
        <p:txBody>
          <a:bodyPr wrap="square" rtlCol="0">
            <a:spAutoFit/>
          </a:bodyPr>
          <a:lstStyle/>
          <a:p>
            <a:r>
              <a:rPr lang="en-US" sz="2800" b="1"/>
              <a:t>MetaMask</a:t>
            </a:r>
          </a:p>
        </p:txBody>
      </p:sp>
      <p:pic>
        <p:nvPicPr>
          <p:cNvPr id="4" name="Picture 3">
            <a:extLst>
              <a:ext uri="{FF2B5EF4-FFF2-40B4-BE49-F238E27FC236}">
                <a16:creationId xmlns:a16="http://schemas.microsoft.com/office/drawing/2014/main" id="{5D282DCE-4D06-3D4E-A1E4-19542DA67CA6}"/>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541308" y="161226"/>
            <a:ext cx="1443357" cy="1355348"/>
          </a:xfrm>
          <a:prstGeom prst="rect">
            <a:avLst/>
          </a:prstGeom>
        </p:spPr>
      </p:pic>
      <p:pic>
        <p:nvPicPr>
          <p:cNvPr id="5" name="Picture 4">
            <a:extLst>
              <a:ext uri="{FF2B5EF4-FFF2-40B4-BE49-F238E27FC236}">
                <a16:creationId xmlns:a16="http://schemas.microsoft.com/office/drawing/2014/main" id="{43A3DE9F-6EE5-A747-B064-3CB275CD999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4152691" y="161226"/>
            <a:ext cx="1811892" cy="2353377"/>
          </a:xfrm>
          <a:prstGeom prst="rect">
            <a:avLst/>
          </a:prstGeom>
        </p:spPr>
      </p:pic>
      <p:sp>
        <p:nvSpPr>
          <p:cNvPr id="9" name="TextBox 8">
            <a:extLst>
              <a:ext uri="{FF2B5EF4-FFF2-40B4-BE49-F238E27FC236}">
                <a16:creationId xmlns:a16="http://schemas.microsoft.com/office/drawing/2014/main" id="{BE060BD8-457B-0F41-9E84-E2B164D8C94E}"/>
              </a:ext>
            </a:extLst>
          </p:cNvPr>
          <p:cNvSpPr txBox="1"/>
          <p:nvPr/>
        </p:nvSpPr>
        <p:spPr>
          <a:xfrm>
            <a:off x="3865113" y="2514603"/>
            <a:ext cx="2310064" cy="738664"/>
          </a:xfrm>
          <a:prstGeom prst="rect">
            <a:avLst/>
          </a:prstGeom>
          <a:noFill/>
        </p:spPr>
        <p:txBody>
          <a:bodyPr wrap="square" rtlCol="0">
            <a:spAutoFit/>
          </a:bodyPr>
          <a:lstStyle/>
          <a:p>
            <a:pPr algn="ctr"/>
            <a:r>
              <a:rPr lang="en-US" sz="1400"/>
              <a:t> </a:t>
            </a:r>
            <a:r>
              <a:rPr lang="en-US" sz="1400" b="1">
                <a:solidFill>
                  <a:srgbClr val="0070C0"/>
                </a:solidFill>
              </a:rPr>
              <a:t>Joseph Lubin</a:t>
            </a:r>
            <a:endParaRPr lang="en-US" sz="1400"/>
          </a:p>
          <a:p>
            <a:pPr algn="ctr"/>
            <a:r>
              <a:rPr lang="en-US" sz="1400"/>
              <a:t>ConsenSys</a:t>
            </a:r>
          </a:p>
          <a:p>
            <a:pPr algn="ctr"/>
            <a:r>
              <a:rPr lang="en-US" sz="1400"/>
              <a:t>Brooklyn, New York</a:t>
            </a:r>
          </a:p>
        </p:txBody>
      </p:sp>
      <p:pic>
        <p:nvPicPr>
          <p:cNvPr id="1032" name="Picture 8" descr="MetaMask – Get this Extension for 🦊 Firefox (en-US)">
            <a:extLst>
              <a:ext uri="{FF2B5EF4-FFF2-40B4-BE49-F238E27FC236}">
                <a16:creationId xmlns:a16="http://schemas.microsoft.com/office/drawing/2014/main" id="{2D8924E9-3506-C949-A240-5CF490D28C07}"/>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8297" y="1758016"/>
            <a:ext cx="3766817" cy="235337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DA629FB8-3D9E-CA44-9067-60F4B592AA53}"/>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134536" y="4481654"/>
            <a:ext cx="3645952" cy="2106441"/>
          </a:xfrm>
          <a:prstGeom prst="rect">
            <a:avLst/>
          </a:prstGeom>
        </p:spPr>
      </p:pic>
      <p:sp>
        <p:nvSpPr>
          <p:cNvPr id="7" name="TextBox 6">
            <a:extLst>
              <a:ext uri="{FF2B5EF4-FFF2-40B4-BE49-F238E27FC236}">
                <a16:creationId xmlns:a16="http://schemas.microsoft.com/office/drawing/2014/main" id="{EF72CAD9-D640-5044-99D2-CF1C8DF2F0A2}"/>
              </a:ext>
            </a:extLst>
          </p:cNvPr>
          <p:cNvSpPr txBox="1"/>
          <p:nvPr/>
        </p:nvSpPr>
        <p:spPr>
          <a:xfrm>
            <a:off x="10738" y="588610"/>
            <a:ext cx="2462023" cy="523220"/>
          </a:xfrm>
          <a:prstGeom prst="rect">
            <a:avLst/>
          </a:prstGeom>
          <a:noFill/>
        </p:spPr>
        <p:txBody>
          <a:bodyPr wrap="square" rtlCol="0">
            <a:spAutoFit/>
          </a:bodyPr>
          <a:lstStyle/>
          <a:p>
            <a:r>
              <a:rPr lang="en-US" sz="1400" b="1">
                <a:solidFill>
                  <a:srgbClr val="00B050"/>
                </a:solidFill>
              </a:rPr>
              <a:t>A software cryptocurrency wallet for Etherium blockchain</a:t>
            </a:r>
          </a:p>
        </p:txBody>
      </p:sp>
    </p:spTree>
    <p:extLst>
      <p:ext uri="{BB962C8B-B14F-4D97-AF65-F5344CB8AC3E}">
        <p14:creationId xmlns:p14="http://schemas.microsoft.com/office/powerpoint/2010/main" val="36574710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91D3C3A-6600-6447-9C42-BB332A743826}"/>
              </a:ext>
            </a:extLst>
          </p:cNvPr>
          <p:cNvSpPr txBox="1"/>
          <p:nvPr/>
        </p:nvSpPr>
        <p:spPr>
          <a:xfrm>
            <a:off x="1" y="120415"/>
            <a:ext cx="3769360" cy="523220"/>
          </a:xfrm>
          <a:prstGeom prst="rect">
            <a:avLst/>
          </a:prstGeom>
          <a:noFill/>
        </p:spPr>
        <p:txBody>
          <a:bodyPr wrap="square" rtlCol="0">
            <a:spAutoFit/>
          </a:bodyPr>
          <a:lstStyle/>
          <a:p>
            <a:r>
              <a:rPr lang="en-US" sz="2800" b="1"/>
              <a:t>Best Hardware Wallet</a:t>
            </a:r>
          </a:p>
        </p:txBody>
      </p:sp>
      <p:sp>
        <p:nvSpPr>
          <p:cNvPr id="3" name="TextBox 2">
            <a:extLst>
              <a:ext uri="{FF2B5EF4-FFF2-40B4-BE49-F238E27FC236}">
                <a16:creationId xmlns:a16="http://schemas.microsoft.com/office/drawing/2014/main" id="{E0AB3421-15B2-F64D-B4D9-A2655D111DC8}"/>
              </a:ext>
            </a:extLst>
          </p:cNvPr>
          <p:cNvSpPr txBox="1"/>
          <p:nvPr/>
        </p:nvSpPr>
        <p:spPr>
          <a:xfrm>
            <a:off x="3971716" y="1717899"/>
            <a:ext cx="4248567" cy="2893100"/>
          </a:xfrm>
          <a:prstGeom prst="rect">
            <a:avLst/>
          </a:prstGeom>
          <a:noFill/>
        </p:spPr>
        <p:txBody>
          <a:bodyPr wrap="square" rtlCol="0">
            <a:spAutoFit/>
          </a:bodyPr>
          <a:lstStyle/>
          <a:p>
            <a:pPr marL="380990" indent="-380990">
              <a:buFont typeface="Arial" panose="020B0604020202020204" pitchFamily="34" charset="0"/>
              <a:buChar char="•"/>
            </a:pPr>
            <a:r>
              <a:rPr lang="en-US" sz="1400"/>
              <a:t>Ledger Noan X - </a:t>
            </a:r>
            <a:r>
              <a:rPr lang="en-US" sz="1400">
                <a:hlinkClick r:id="rId2"/>
              </a:rPr>
              <a:t>https://www.ledger.com</a:t>
            </a:r>
            <a:r>
              <a:rPr lang="en-US" sz="1400"/>
              <a:t> –</a:t>
            </a:r>
            <a:br>
              <a:rPr lang="en-US" sz="1400"/>
            </a:br>
            <a:br>
              <a:rPr lang="en-US" sz="1400"/>
            </a:br>
            <a:r>
              <a:rPr lang="en-US" sz="1400"/>
              <a:t> </a:t>
            </a:r>
          </a:p>
          <a:p>
            <a:endParaRPr lang="en-US" sz="1400"/>
          </a:p>
          <a:p>
            <a:pPr marL="380990" indent="-380990">
              <a:buFont typeface="Arial" panose="020B0604020202020204" pitchFamily="34" charset="0"/>
              <a:buChar char="•"/>
            </a:pPr>
            <a:r>
              <a:rPr lang="en-US" sz="1400"/>
              <a:t>Trezor - </a:t>
            </a:r>
            <a:r>
              <a:rPr lang="en-US" sz="1400">
                <a:hlinkClick r:id="rId3"/>
              </a:rPr>
              <a:t>https://trezor.io</a:t>
            </a:r>
            <a:r>
              <a:rPr lang="en-US" sz="1400"/>
              <a:t> – </a:t>
            </a:r>
          </a:p>
          <a:p>
            <a:endParaRPr lang="en-US" sz="1400"/>
          </a:p>
          <a:p>
            <a:endParaRPr lang="en-US" sz="1400"/>
          </a:p>
          <a:p>
            <a:endParaRPr lang="en-US" sz="1400"/>
          </a:p>
          <a:p>
            <a:pPr marL="380990" indent="-380990">
              <a:buFont typeface="Arial" panose="020B0604020202020204" pitchFamily="34" charset="0"/>
              <a:buChar char="•"/>
            </a:pPr>
            <a:r>
              <a:rPr lang="en-US" sz="1400"/>
              <a:t>Arculus - </a:t>
            </a:r>
            <a:r>
              <a:rPr lang="en-US" sz="1400">
                <a:hlinkClick r:id="rId4"/>
              </a:rPr>
              <a:t>https://www.getarculus.com</a:t>
            </a:r>
            <a:r>
              <a:rPr lang="en-US" sz="1400"/>
              <a:t> – </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endParaRPr lang="en-US" sz="1400"/>
          </a:p>
          <a:p>
            <a:endParaRPr lang="en-US" sz="1400"/>
          </a:p>
          <a:p>
            <a:pPr marL="380990" indent="-380990">
              <a:buFont typeface="Arial" panose="020B0604020202020204" pitchFamily="34" charset="0"/>
              <a:buChar char="•"/>
            </a:pPr>
            <a:r>
              <a:rPr lang="en-US" sz="1400"/>
              <a:t>SafePal - </a:t>
            </a:r>
            <a:r>
              <a:rPr lang="en-US" sz="1400">
                <a:hlinkClick r:id="rId5"/>
              </a:rPr>
              <a:t>https://safepal.io</a:t>
            </a:r>
            <a:r>
              <a:rPr lang="en-US" sz="1400"/>
              <a:t> - </a:t>
            </a:r>
          </a:p>
        </p:txBody>
      </p:sp>
      <p:pic>
        <p:nvPicPr>
          <p:cNvPr id="4" name="Picture 3">
            <a:extLst>
              <a:ext uri="{FF2B5EF4-FFF2-40B4-BE49-F238E27FC236}">
                <a16:creationId xmlns:a16="http://schemas.microsoft.com/office/drawing/2014/main" id="{442092FA-C9EC-9A42-8AF8-4A2E15786CF4}"/>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rot="5400000">
            <a:off x="9128242" y="562388"/>
            <a:ext cx="1258880" cy="2574722"/>
          </a:xfrm>
          <a:prstGeom prst="rect">
            <a:avLst/>
          </a:prstGeom>
        </p:spPr>
      </p:pic>
      <p:pic>
        <p:nvPicPr>
          <p:cNvPr id="5" name="Picture 4">
            <a:extLst>
              <a:ext uri="{FF2B5EF4-FFF2-40B4-BE49-F238E27FC236}">
                <a16:creationId xmlns:a16="http://schemas.microsoft.com/office/drawing/2014/main" id="{AC926C88-FAFB-8944-BB3B-C61F2995F0F2}"/>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2563438" y="2058425"/>
            <a:ext cx="1041095" cy="1676568"/>
          </a:xfrm>
          <a:prstGeom prst="rect">
            <a:avLst/>
          </a:prstGeom>
        </p:spPr>
      </p:pic>
      <p:pic>
        <p:nvPicPr>
          <p:cNvPr id="1026" name="Picture 2" descr="Cold Storage Wallet to Secure Your Crypto | Meet Arculus">
            <a:extLst>
              <a:ext uri="{FF2B5EF4-FFF2-40B4-BE49-F238E27FC236}">
                <a16:creationId xmlns:a16="http://schemas.microsoft.com/office/drawing/2014/main" id="{77FFEF9A-863D-624D-9498-4BB97AC6CAF3}"/>
              </a:ext>
            </a:extLst>
          </p:cNvPr>
          <p:cNvPicPr>
            <a:picLocks noChangeAspect="1" noChangeArrowheads="1"/>
          </p:cNvPicPr>
          <p:nvPr/>
        </p:nvPicPr>
        <p:blipFill rotWithShape="1">
          <a:blip r:embed="rId8" cstate="email">
            <a:extLst>
              <a:ext uri="{28A0092B-C50C-407E-A947-70E740481C1C}">
                <a14:useLocalDpi xmlns:a14="http://schemas.microsoft.com/office/drawing/2010/main"/>
              </a:ext>
            </a:extLst>
          </a:blip>
          <a:srcRect/>
          <a:stretch/>
        </p:blipFill>
        <p:spPr bwMode="auto">
          <a:xfrm>
            <a:off x="8114721" y="2896709"/>
            <a:ext cx="1741765" cy="145024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afePal Crypto Hardware Wallet(Official) | The best wallet to protect your  assets">
            <a:extLst>
              <a:ext uri="{FF2B5EF4-FFF2-40B4-BE49-F238E27FC236}">
                <a16:creationId xmlns:a16="http://schemas.microsoft.com/office/drawing/2014/main" id="{26AC31D8-2196-A043-BAFF-554D7C635991}"/>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2142224" y="4056480"/>
            <a:ext cx="1883521" cy="14502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28519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75C187-42F0-97C5-A7D3-9794D52E83B8}"/>
              </a:ext>
            </a:extLst>
          </p:cNvPr>
          <p:cNvSpPr txBox="1"/>
          <p:nvPr/>
        </p:nvSpPr>
        <p:spPr>
          <a:xfrm>
            <a:off x="101600" y="822960"/>
            <a:ext cx="4348480" cy="954107"/>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3"/>
              </a:rPr>
              <a:t>https://github.com/bitcoin</a:t>
            </a:r>
            <a:r>
              <a:rPr lang="en-US" sz="1400"/>
              <a:t> – bitcoin source code</a:t>
            </a:r>
          </a:p>
          <a:p>
            <a:pPr marL="285750" indent="-285750">
              <a:buFont typeface="Arial" panose="020B0604020202020204" pitchFamily="34" charset="0"/>
              <a:buChar char="•"/>
            </a:pPr>
            <a:r>
              <a:rPr lang="en-US" sz="1400">
                <a:hlinkClick r:id="rId4"/>
              </a:rPr>
              <a:t>https://bitcoincore.org/</a:t>
            </a:r>
            <a:r>
              <a:rPr lang="en-US" sz="1400"/>
              <a:t> - downloadable binaries</a:t>
            </a:r>
          </a:p>
          <a:p>
            <a:pPr marL="285750" indent="-285750">
              <a:buFont typeface="Arial" panose="020B0604020202020204" pitchFamily="34" charset="0"/>
              <a:buChar char="•"/>
            </a:pPr>
            <a:r>
              <a:rPr lang="en-US" sz="1400">
                <a:hlinkClick r:id="rId5"/>
              </a:rPr>
              <a:t>https://bitcoin.org</a:t>
            </a:r>
            <a:r>
              <a:rPr lang="en-US" sz="1400"/>
              <a:t> </a:t>
            </a:r>
          </a:p>
          <a:p>
            <a:pPr marL="285750" indent="-285750">
              <a:buFont typeface="Arial" panose="020B0604020202020204" pitchFamily="34" charset="0"/>
              <a:buChar char="•"/>
            </a:pPr>
            <a:r>
              <a:rPr lang="en-US" sz="1400">
                <a:hlinkClick r:id="rId6"/>
              </a:rPr>
              <a:t>https://bitcoin.org/en/choose-your-wallet</a:t>
            </a:r>
            <a:r>
              <a:rPr lang="en-US" sz="1400"/>
              <a:t> - </a:t>
            </a:r>
          </a:p>
        </p:txBody>
      </p:sp>
      <p:sp>
        <p:nvSpPr>
          <p:cNvPr id="3" name="TextBox 2">
            <a:extLst>
              <a:ext uri="{FF2B5EF4-FFF2-40B4-BE49-F238E27FC236}">
                <a16:creationId xmlns:a16="http://schemas.microsoft.com/office/drawing/2014/main" id="{8C47D106-328D-1E16-FF20-B27EE1128845}"/>
              </a:ext>
            </a:extLst>
          </p:cNvPr>
          <p:cNvSpPr txBox="1"/>
          <p:nvPr/>
        </p:nvSpPr>
        <p:spPr>
          <a:xfrm>
            <a:off x="0" y="0"/>
            <a:ext cx="2672080" cy="523220"/>
          </a:xfrm>
          <a:prstGeom prst="rect">
            <a:avLst/>
          </a:prstGeom>
          <a:noFill/>
        </p:spPr>
        <p:txBody>
          <a:bodyPr wrap="square" rtlCol="0">
            <a:spAutoFit/>
          </a:bodyPr>
          <a:lstStyle/>
          <a:p>
            <a:r>
              <a:rPr lang="en-US" sz="2800" b="1"/>
              <a:t>Bitcoin Wallets</a:t>
            </a:r>
          </a:p>
        </p:txBody>
      </p:sp>
      <p:sp>
        <p:nvSpPr>
          <p:cNvPr id="4" name="TextBox 3">
            <a:extLst>
              <a:ext uri="{FF2B5EF4-FFF2-40B4-BE49-F238E27FC236}">
                <a16:creationId xmlns:a16="http://schemas.microsoft.com/office/drawing/2014/main" id="{56565DC5-E2D9-F61B-A567-16E87971217E}"/>
              </a:ext>
            </a:extLst>
          </p:cNvPr>
          <p:cNvSpPr txBox="1"/>
          <p:nvPr/>
        </p:nvSpPr>
        <p:spPr>
          <a:xfrm>
            <a:off x="101600" y="2076807"/>
            <a:ext cx="3891280" cy="3754874"/>
          </a:xfrm>
          <a:prstGeom prst="rect">
            <a:avLst/>
          </a:prstGeom>
          <a:noFill/>
        </p:spPr>
        <p:txBody>
          <a:bodyPr wrap="square" rtlCol="0">
            <a:spAutoFit/>
          </a:bodyPr>
          <a:lstStyle/>
          <a:p>
            <a:r>
              <a:rPr lang="en-US" sz="1400"/>
              <a:t>For most users, Bitcoin is nothing more than an app that provides a personal Bitcoin wallet and allows a user to send and receive bitcoins.</a:t>
            </a:r>
          </a:p>
          <a:p>
            <a:endParaRPr lang="en-US" sz="1400"/>
          </a:p>
          <a:p>
            <a:r>
              <a:rPr lang="en-US" sz="1400"/>
              <a:t>Behind the scenes, the Bitcoin network is sharing a public ledger called the "block chain". This ledger contains every transaction ever processed, allowing a user's computer to verify the validity of each transaction. The authenticity of each transaction is protected by digital signatures corresponding to the sending addresses, allowing all users to have full control over sending bitcoins from their own Bitcoin addresses. In addition, anyone can process transactions using the computing power of specialized hardware and earn a reward in bitcoins for this service. This is called "mining".</a:t>
            </a:r>
          </a:p>
        </p:txBody>
      </p:sp>
      <p:pic>
        <p:nvPicPr>
          <p:cNvPr id="5" name="Picture 4">
            <a:extLst>
              <a:ext uri="{FF2B5EF4-FFF2-40B4-BE49-F238E27FC236}">
                <a16:creationId xmlns:a16="http://schemas.microsoft.com/office/drawing/2014/main" id="{A0C92002-0C3B-CB92-51EB-BAFE3187F797}"/>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997114" y="1777067"/>
            <a:ext cx="5093286" cy="4978400"/>
          </a:xfrm>
          <a:prstGeom prst="rect">
            <a:avLst/>
          </a:prstGeom>
        </p:spPr>
      </p:pic>
      <p:sp>
        <p:nvSpPr>
          <p:cNvPr id="6" name="TextBox 5">
            <a:extLst>
              <a:ext uri="{FF2B5EF4-FFF2-40B4-BE49-F238E27FC236}">
                <a16:creationId xmlns:a16="http://schemas.microsoft.com/office/drawing/2014/main" id="{1ADF14D1-8EF1-5FDB-784C-F5239D51A04F}"/>
              </a:ext>
            </a:extLst>
          </p:cNvPr>
          <p:cNvSpPr txBox="1"/>
          <p:nvPr/>
        </p:nvSpPr>
        <p:spPr>
          <a:xfrm>
            <a:off x="5405120" y="153888"/>
            <a:ext cx="6685280" cy="954107"/>
          </a:xfrm>
          <a:prstGeom prst="rect">
            <a:avLst/>
          </a:prstGeom>
          <a:noFill/>
        </p:spPr>
        <p:txBody>
          <a:bodyPr wrap="square" rtlCol="0">
            <a:spAutoFit/>
          </a:bodyPr>
          <a:lstStyle/>
          <a:p>
            <a:pPr marL="285750" indent="-285750">
              <a:buFont typeface="Arial" panose="020B0604020202020204" pitchFamily="34" charset="0"/>
              <a:buChar char="•"/>
            </a:pPr>
            <a:r>
              <a:rPr lang="en-US" sz="1400" b="1">
                <a:solidFill>
                  <a:srgbClr val="FF0000"/>
                </a:solidFill>
              </a:rPr>
              <a:t>Bitcoin Core</a:t>
            </a:r>
            <a:r>
              <a:rPr lang="en-US" sz="1400"/>
              <a:t> is a </a:t>
            </a:r>
            <a:r>
              <a:rPr lang="en-US" sz="1400" b="1">
                <a:solidFill>
                  <a:srgbClr val="00B050"/>
                </a:solidFill>
              </a:rPr>
              <a:t>full Bitcoin client</a:t>
            </a:r>
            <a:r>
              <a:rPr lang="en-US" sz="1400"/>
              <a:t> and builds the backbone of the network. </a:t>
            </a:r>
          </a:p>
          <a:p>
            <a:pPr marL="285750" indent="-285750">
              <a:buFont typeface="Arial" panose="020B0604020202020204" pitchFamily="34" charset="0"/>
              <a:buChar char="•"/>
            </a:pPr>
            <a:r>
              <a:rPr lang="en-US" sz="1400" b="1">
                <a:solidFill>
                  <a:srgbClr val="FF0000"/>
                </a:solidFill>
              </a:rPr>
              <a:t>Bitcoin Core</a:t>
            </a:r>
            <a:r>
              <a:rPr lang="en-US" sz="1400"/>
              <a:t> offers high levels of security, privacy, and stability. </a:t>
            </a:r>
            <a:br>
              <a:rPr lang="en-US" sz="1400"/>
            </a:br>
            <a:r>
              <a:rPr lang="en-US" sz="1400"/>
              <a:t>However, it has fewer features and it takes a lot of space and memory.</a:t>
            </a:r>
          </a:p>
          <a:p>
            <a:pPr marL="285750" indent="-285750">
              <a:buFont typeface="Arial" panose="020B0604020202020204" pitchFamily="34" charset="0"/>
              <a:buChar char="•"/>
            </a:pPr>
            <a:r>
              <a:rPr lang="en-US" sz="1400" b="1">
                <a:solidFill>
                  <a:srgbClr val="FF0000"/>
                </a:solidFill>
              </a:rPr>
              <a:t>Bitcoin Core</a:t>
            </a:r>
            <a:r>
              <a:rPr lang="en-US" sz="1400"/>
              <a:t> offers can be downloaded here: </a:t>
            </a:r>
            <a:r>
              <a:rPr lang="en-US" sz="1000">
                <a:hlinkClick r:id="rId8"/>
              </a:rPr>
              <a:t>https://bitcoincore.org/en/download/</a:t>
            </a:r>
            <a:endParaRPr lang="en-US" sz="1000"/>
          </a:p>
        </p:txBody>
      </p:sp>
      <p:sp>
        <p:nvSpPr>
          <p:cNvPr id="7" name="TextBox 6">
            <a:extLst>
              <a:ext uri="{FF2B5EF4-FFF2-40B4-BE49-F238E27FC236}">
                <a16:creationId xmlns:a16="http://schemas.microsoft.com/office/drawing/2014/main" id="{152A9575-F217-4A40-7E1E-C40A76B5548A}"/>
              </a:ext>
            </a:extLst>
          </p:cNvPr>
          <p:cNvSpPr txBox="1"/>
          <p:nvPr/>
        </p:nvSpPr>
        <p:spPr>
          <a:xfrm>
            <a:off x="7628597" y="1315402"/>
            <a:ext cx="3830320" cy="461665"/>
          </a:xfrm>
          <a:prstGeom prst="rect">
            <a:avLst/>
          </a:prstGeom>
          <a:noFill/>
        </p:spPr>
        <p:txBody>
          <a:bodyPr wrap="square" rtlCol="0">
            <a:spAutoFit/>
          </a:bodyPr>
          <a:lstStyle/>
          <a:p>
            <a:r>
              <a:rPr lang="en-US" sz="1400" b="1">
                <a:solidFill>
                  <a:srgbClr val="00B050"/>
                </a:solidFill>
              </a:rPr>
              <a:t>Choose your wallet – on bitcoin.org:</a:t>
            </a:r>
          </a:p>
          <a:p>
            <a:r>
              <a:rPr lang="en-US" sz="1000">
                <a:hlinkClick r:id="rId9"/>
              </a:rPr>
              <a:t>https://bitcoin.org/en/choose-your-wallet?step=5&amp;platform=mac</a:t>
            </a:r>
            <a:endParaRPr lang="en-US" sz="1000"/>
          </a:p>
        </p:txBody>
      </p:sp>
    </p:spTree>
    <p:extLst>
      <p:ext uri="{BB962C8B-B14F-4D97-AF65-F5344CB8AC3E}">
        <p14:creationId xmlns:p14="http://schemas.microsoft.com/office/powerpoint/2010/main" val="3518343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9D228F9-69E9-C9FC-C60F-078C9232D240}"/>
              </a:ext>
            </a:extLst>
          </p:cNvPr>
          <p:cNvSpPr txBox="1"/>
          <p:nvPr/>
        </p:nvSpPr>
        <p:spPr>
          <a:xfrm>
            <a:off x="81280" y="91440"/>
            <a:ext cx="5740400" cy="523220"/>
          </a:xfrm>
          <a:prstGeom prst="rect">
            <a:avLst/>
          </a:prstGeom>
          <a:noFill/>
        </p:spPr>
        <p:txBody>
          <a:bodyPr wrap="square" rtlCol="0">
            <a:spAutoFit/>
          </a:bodyPr>
          <a:lstStyle/>
          <a:p>
            <a:r>
              <a:rPr lang="en-US" sz="2800" b="1"/>
              <a:t>Cryptocurrency exchange / swap</a:t>
            </a:r>
          </a:p>
        </p:txBody>
      </p:sp>
      <p:sp>
        <p:nvSpPr>
          <p:cNvPr id="3" name="TextBox 2">
            <a:extLst>
              <a:ext uri="{FF2B5EF4-FFF2-40B4-BE49-F238E27FC236}">
                <a16:creationId xmlns:a16="http://schemas.microsoft.com/office/drawing/2014/main" id="{71663493-9CCC-0B63-8C42-C44D7D0401CC}"/>
              </a:ext>
            </a:extLst>
          </p:cNvPr>
          <p:cNvSpPr txBox="1"/>
          <p:nvPr/>
        </p:nvSpPr>
        <p:spPr>
          <a:xfrm>
            <a:off x="81280" y="914797"/>
            <a:ext cx="8402320" cy="3539430"/>
          </a:xfrm>
          <a:prstGeom prst="rect">
            <a:avLst/>
          </a:prstGeom>
          <a:noFill/>
        </p:spPr>
        <p:txBody>
          <a:bodyPr wrap="square" rtlCol="0">
            <a:spAutoFit/>
          </a:bodyPr>
          <a:lstStyle/>
          <a:p>
            <a:r>
              <a:rPr lang="en-US" sz="1400"/>
              <a:t>You can buy Ethereum with Bitcoin on nearly any cryptocurrency exchange. </a:t>
            </a:r>
          </a:p>
          <a:p>
            <a:r>
              <a:rPr lang="en-US" sz="1400"/>
              <a:t>This is because </a:t>
            </a:r>
            <a:r>
              <a:rPr lang="en-US" sz="1400" b="1">
                <a:solidFill>
                  <a:srgbClr val="00B050"/>
                </a:solidFill>
              </a:rPr>
              <a:t>most of the global Ethereum trading volume</a:t>
            </a:r>
            <a:r>
              <a:rPr lang="en-US" sz="1400"/>
              <a:t> is actually </a:t>
            </a:r>
          </a:p>
          <a:p>
            <a:r>
              <a:rPr lang="en-US" sz="1400" b="1">
                <a:solidFill>
                  <a:srgbClr val="00B050"/>
                </a:solidFill>
              </a:rPr>
              <a:t>done in the ETH/BTC pair</a:t>
            </a:r>
            <a:r>
              <a:rPr lang="en-US" sz="1400"/>
              <a:t>, and not the ETH/USD pair.</a:t>
            </a:r>
          </a:p>
          <a:p>
            <a:endParaRPr lang="en-US" sz="1400"/>
          </a:p>
          <a:p>
            <a:pPr marL="285750" indent="-285750">
              <a:buFont typeface="Arial" panose="020B0604020202020204" pitchFamily="34" charset="0"/>
              <a:buChar char="•"/>
            </a:pPr>
            <a:r>
              <a:rPr lang="en-US" sz="1400"/>
              <a:t>Coinbase – convert - </a:t>
            </a:r>
            <a:r>
              <a:rPr lang="en-US" sz="1400">
                <a:hlinkClick r:id="rId2"/>
              </a:rPr>
              <a:t>https://www.youtube.com/watch?v=bzLd7V2ZLp8</a:t>
            </a:r>
            <a:r>
              <a:rPr lang="en-US" sz="1400"/>
              <a:t> </a:t>
            </a:r>
          </a:p>
          <a:p>
            <a:pPr marL="285750" indent="-285750">
              <a:buFont typeface="Arial" panose="020B0604020202020204" pitchFamily="34" charset="0"/>
              <a:buChar char="•"/>
            </a:pPr>
            <a:r>
              <a:rPr lang="en-US" sz="1400"/>
              <a:t>BitPay does not directly buy or sell cryptocurrency, therefore, if you want to sell your cryptocurrency (cash your funds out), you need to do it with a third party (an exchange). </a:t>
            </a:r>
            <a:br>
              <a:rPr lang="en-US" sz="1400"/>
            </a:br>
            <a:r>
              <a:rPr lang="en-US" sz="1400"/>
              <a:t>BitPay can convert Crypto to regular currency - </a:t>
            </a:r>
            <a:r>
              <a:rPr lang="en-US" sz="1400">
                <a:hlinkClick r:id="rId3"/>
              </a:rPr>
              <a:t>https://bitpay.com/exchange-rates/</a:t>
            </a:r>
            <a:r>
              <a:rPr lang="en-US" sz="1400"/>
              <a:t> </a:t>
            </a:r>
          </a:p>
          <a:p>
            <a:pPr marL="285750" indent="-285750">
              <a:buFont typeface="Arial" panose="020B0604020202020204" pitchFamily="34" charset="0"/>
              <a:buChar char="•"/>
            </a:pPr>
            <a:r>
              <a:rPr lang="en-US" sz="1400">
                <a:hlinkClick r:id="rId4"/>
              </a:rPr>
              <a:t>https://medium.com/@mark.lasia/how-to-exchange-bitcoin-and-tokens-into-eth-ether-with-shapeshift-io-6a326b339c12</a:t>
            </a:r>
            <a:endParaRPr lang="en-US" sz="1400"/>
          </a:p>
          <a:p>
            <a:pPr marL="285750" indent="-285750">
              <a:buFont typeface="Arial" panose="020B0604020202020204" pitchFamily="34" charset="0"/>
              <a:buChar char="•"/>
            </a:pPr>
            <a:r>
              <a:rPr lang="en-US" sz="1400">
                <a:hlinkClick r:id="rId5"/>
              </a:rPr>
              <a:t>https://www.buybitcoinworldwide.com/ethereum/buy/</a:t>
            </a:r>
            <a:endParaRPr lang="en-US" sz="1400"/>
          </a:p>
          <a:p>
            <a:pPr marL="285750" indent="-285750">
              <a:buFont typeface="Arial" panose="020B0604020202020204" pitchFamily="34" charset="0"/>
              <a:buChar char="•"/>
            </a:pPr>
            <a:r>
              <a:rPr lang="en-US" sz="1400">
                <a:hlinkClick r:id="rId6"/>
              </a:rPr>
              <a:t>https://letsexchange.io/exchange/btc-to-eth</a:t>
            </a:r>
            <a:endParaRPr lang="en-US" sz="1400"/>
          </a:p>
          <a:p>
            <a:pPr marL="285750" indent="-285750">
              <a:buFont typeface="Arial" panose="020B0604020202020204" pitchFamily="34" charset="0"/>
              <a:buChar char="•"/>
            </a:pPr>
            <a:r>
              <a:rPr lang="en-US" sz="1400">
                <a:hlinkClick r:id="rId7"/>
              </a:rPr>
              <a:t>https://simpleswap.io/crypto-to-crypto/btc-eth</a:t>
            </a:r>
            <a:endParaRPr lang="en-US" sz="1400"/>
          </a:p>
          <a:p>
            <a:pPr marL="285750" indent="-285750">
              <a:buFont typeface="Arial" panose="020B0604020202020204" pitchFamily="34" charset="0"/>
              <a:buChar char="•"/>
            </a:pPr>
            <a:r>
              <a:rPr lang="en-US" sz="1400">
                <a:hlinkClick r:id="rId8"/>
              </a:rPr>
              <a:t>https://liquality.io/blog/atomic-swaps-explained/</a:t>
            </a:r>
            <a:r>
              <a:rPr lang="en-US" sz="1400"/>
              <a:t> </a:t>
            </a:r>
          </a:p>
          <a:p>
            <a:pPr marL="285750" indent="-285750">
              <a:buFont typeface="Arial" panose="020B0604020202020204" pitchFamily="34" charset="0"/>
              <a:buChar char="•"/>
            </a:pPr>
            <a:r>
              <a:rPr lang="en-US" sz="1400">
                <a:hlinkClick r:id="rId9"/>
              </a:rPr>
              <a:t>https://liquality.io/blog/hash-time-locked-contracts-htlcs-explained/</a:t>
            </a:r>
            <a:endParaRPr lang="en-US" sz="1400"/>
          </a:p>
          <a:p>
            <a:pPr marL="285750" indent="-285750">
              <a:buFont typeface="Arial" panose="020B0604020202020204" pitchFamily="34" charset="0"/>
              <a:buChar char="•"/>
            </a:pPr>
            <a:r>
              <a:rPr lang="en-US" sz="1400"/>
              <a:t>etc. etc.</a:t>
            </a:r>
          </a:p>
        </p:txBody>
      </p:sp>
      <p:pic>
        <p:nvPicPr>
          <p:cNvPr id="4" name="Picture 3">
            <a:extLst>
              <a:ext uri="{FF2B5EF4-FFF2-40B4-BE49-F238E27FC236}">
                <a16:creationId xmlns:a16="http://schemas.microsoft.com/office/drawing/2014/main" id="{15F5A62C-0D73-F9D5-0625-C916AA89DB2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6482080" y="3933984"/>
            <a:ext cx="5302250" cy="1783298"/>
          </a:xfrm>
          <a:prstGeom prst="rect">
            <a:avLst/>
          </a:prstGeom>
        </p:spPr>
      </p:pic>
      <p:sp>
        <p:nvSpPr>
          <p:cNvPr id="5" name="TextBox 4">
            <a:extLst>
              <a:ext uri="{FF2B5EF4-FFF2-40B4-BE49-F238E27FC236}">
                <a16:creationId xmlns:a16="http://schemas.microsoft.com/office/drawing/2014/main" id="{35A0BC28-F265-10D1-C05B-CB42689C0F6B}"/>
              </a:ext>
            </a:extLst>
          </p:cNvPr>
          <p:cNvSpPr txBox="1"/>
          <p:nvPr/>
        </p:nvSpPr>
        <p:spPr>
          <a:xfrm>
            <a:off x="7304405" y="5811272"/>
            <a:ext cx="3657600" cy="954107"/>
          </a:xfrm>
          <a:prstGeom prst="rect">
            <a:avLst/>
          </a:prstGeom>
          <a:noFill/>
        </p:spPr>
        <p:txBody>
          <a:bodyPr wrap="square" rtlCol="0">
            <a:spAutoFit/>
          </a:bodyPr>
          <a:lstStyle/>
          <a:p>
            <a:pPr algn="ctr"/>
            <a:r>
              <a:rPr lang="en-US" sz="1400" b="1">
                <a:solidFill>
                  <a:srgbClr val="FF0000"/>
                </a:solidFill>
              </a:rPr>
              <a:t>Atomic Swaps</a:t>
            </a:r>
            <a:r>
              <a:rPr lang="en-US" sz="1400"/>
              <a:t> - Swapping Cryptocurrencies Without Trusted Third Party Mediation</a:t>
            </a:r>
          </a:p>
          <a:p>
            <a:pPr algn="ctr"/>
            <a:r>
              <a:rPr lang="en-US" sz="1400"/>
              <a:t>using programmable Escrows</a:t>
            </a:r>
          </a:p>
          <a:p>
            <a:pPr algn="ctr"/>
            <a:r>
              <a:rPr lang="en-US" sz="1400"/>
              <a:t>(</a:t>
            </a:r>
            <a:r>
              <a:rPr lang="en-US" sz="1400" b="1">
                <a:solidFill>
                  <a:srgbClr val="FF0000"/>
                </a:solidFill>
              </a:rPr>
              <a:t>HTLCs</a:t>
            </a:r>
            <a:r>
              <a:rPr lang="en-US" sz="1400"/>
              <a:t> = Hash Time Locked Contracts)</a:t>
            </a:r>
          </a:p>
        </p:txBody>
      </p:sp>
    </p:spTree>
    <p:extLst>
      <p:ext uri="{BB962C8B-B14F-4D97-AF65-F5344CB8AC3E}">
        <p14:creationId xmlns:p14="http://schemas.microsoft.com/office/powerpoint/2010/main" val="3838443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BFA91D7-B506-539E-10C5-FA01AC7A649F}"/>
              </a:ext>
            </a:extLst>
          </p:cNvPr>
          <p:cNvSpPr txBox="1"/>
          <p:nvPr/>
        </p:nvSpPr>
        <p:spPr>
          <a:xfrm>
            <a:off x="0" y="0"/>
            <a:ext cx="2659224" cy="523220"/>
          </a:xfrm>
          <a:prstGeom prst="rect">
            <a:avLst/>
          </a:prstGeom>
          <a:noFill/>
        </p:spPr>
        <p:txBody>
          <a:bodyPr wrap="square" rtlCol="0">
            <a:spAutoFit/>
          </a:bodyPr>
          <a:lstStyle/>
          <a:p>
            <a:r>
              <a:rPr lang="en-US" sz="2800" b="1"/>
              <a:t>Crypto ATM</a:t>
            </a:r>
          </a:p>
        </p:txBody>
      </p:sp>
      <p:sp>
        <p:nvSpPr>
          <p:cNvPr id="3" name="TextBox 2">
            <a:extLst>
              <a:ext uri="{FF2B5EF4-FFF2-40B4-BE49-F238E27FC236}">
                <a16:creationId xmlns:a16="http://schemas.microsoft.com/office/drawing/2014/main" id="{E6C2485C-F55A-A5C5-C9EA-19A8FFA5C14A}"/>
              </a:ext>
            </a:extLst>
          </p:cNvPr>
          <p:cNvSpPr txBox="1"/>
          <p:nvPr/>
        </p:nvSpPr>
        <p:spPr>
          <a:xfrm>
            <a:off x="0" y="534364"/>
            <a:ext cx="4348065" cy="2677656"/>
          </a:xfrm>
          <a:prstGeom prst="rect">
            <a:avLst/>
          </a:prstGeom>
          <a:noFill/>
        </p:spPr>
        <p:txBody>
          <a:bodyPr wrap="square" rtlCol="0">
            <a:spAutoFit/>
          </a:bodyPr>
          <a:lstStyle/>
          <a:p>
            <a:pPr marL="285750" indent="-285750">
              <a:buFont typeface="Arial" panose="020B0604020202020204" pitchFamily="34" charset="0"/>
              <a:buChar char="•"/>
            </a:pPr>
            <a:r>
              <a:rPr lang="en-US" sz="1400"/>
              <a:t>A crypto ATM is an Internet-connected kiosk that allows customers to purchase bitcoins and/or other cryptocurrencies with deposited cash and make blockchain-based transactions that send cryptocurrencies to the user's digital wallet, often via the use of a QR code.</a:t>
            </a:r>
          </a:p>
          <a:p>
            <a:pPr marL="285750" indent="-285750">
              <a:buFont typeface="Arial" panose="020B0604020202020204" pitchFamily="34" charset="0"/>
              <a:buChar char="•"/>
            </a:pPr>
            <a:r>
              <a:rPr lang="en-US" sz="1400"/>
              <a:t>There are currently (Summer 2021) more than 14,000 bitcoin ATMs in operation around the world.</a:t>
            </a:r>
          </a:p>
          <a:p>
            <a:pPr marL="285750" indent="-285750">
              <a:buFont typeface="Arial" panose="020B0604020202020204" pitchFamily="34" charset="0"/>
              <a:buChar char="•"/>
            </a:pPr>
            <a:r>
              <a:rPr lang="en-US" sz="1400"/>
              <a:t>A bitcoin ATM is not the same as an automated teller machine (ATM) that allows bank customers to physically withdraw, deposit, or transfer funds in one's bank account.</a:t>
            </a:r>
          </a:p>
        </p:txBody>
      </p:sp>
      <p:pic>
        <p:nvPicPr>
          <p:cNvPr id="5" name="Picture 4">
            <a:extLst>
              <a:ext uri="{FF2B5EF4-FFF2-40B4-BE49-F238E27FC236}">
                <a16:creationId xmlns:a16="http://schemas.microsoft.com/office/drawing/2014/main" id="{D5FAF214-85CA-D21E-7320-0CBC459EE6A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8114905" y="123112"/>
            <a:ext cx="3094000" cy="3954364"/>
          </a:xfrm>
          <a:prstGeom prst="rect">
            <a:avLst/>
          </a:prstGeom>
        </p:spPr>
      </p:pic>
      <p:pic>
        <p:nvPicPr>
          <p:cNvPr id="6" name="Picture 5">
            <a:extLst>
              <a:ext uri="{FF2B5EF4-FFF2-40B4-BE49-F238E27FC236}">
                <a16:creationId xmlns:a16="http://schemas.microsoft.com/office/drawing/2014/main" id="{B83CB1FB-66A2-0280-42C8-A1E020EAF0A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516122" y="123112"/>
            <a:ext cx="2327815" cy="3954364"/>
          </a:xfrm>
          <a:prstGeom prst="rect">
            <a:avLst/>
          </a:prstGeom>
        </p:spPr>
      </p:pic>
      <p:pic>
        <p:nvPicPr>
          <p:cNvPr id="7" name="Picture 6">
            <a:extLst>
              <a:ext uri="{FF2B5EF4-FFF2-40B4-BE49-F238E27FC236}">
                <a16:creationId xmlns:a16="http://schemas.microsoft.com/office/drawing/2014/main" id="{B209FA30-F941-A056-3CBD-2D9804B89DB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6942" y="3369853"/>
            <a:ext cx="4978911" cy="3402097"/>
          </a:xfrm>
          <a:prstGeom prst="rect">
            <a:avLst/>
          </a:prstGeom>
        </p:spPr>
      </p:pic>
      <p:pic>
        <p:nvPicPr>
          <p:cNvPr id="8" name="Picture 7">
            <a:extLst>
              <a:ext uri="{FF2B5EF4-FFF2-40B4-BE49-F238E27FC236}">
                <a16:creationId xmlns:a16="http://schemas.microsoft.com/office/drawing/2014/main" id="{536BDA42-012E-19F1-6188-0698AE2AC3C2}"/>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516122" y="4373901"/>
            <a:ext cx="2327814" cy="2398049"/>
          </a:xfrm>
          <a:prstGeom prst="rect">
            <a:avLst/>
          </a:prstGeom>
        </p:spPr>
      </p:pic>
    </p:spTree>
    <p:extLst>
      <p:ext uri="{BB962C8B-B14F-4D97-AF65-F5344CB8AC3E}">
        <p14:creationId xmlns:p14="http://schemas.microsoft.com/office/powerpoint/2010/main" val="8295353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4A1FCE-DD4B-A042-906F-76F39117A3B3}"/>
              </a:ext>
            </a:extLst>
          </p:cNvPr>
          <p:cNvSpPr txBox="1"/>
          <p:nvPr/>
        </p:nvSpPr>
        <p:spPr>
          <a:xfrm>
            <a:off x="49210" y="69807"/>
            <a:ext cx="4111973" cy="954107"/>
          </a:xfrm>
          <a:prstGeom prst="rect">
            <a:avLst/>
          </a:prstGeom>
          <a:noFill/>
        </p:spPr>
        <p:txBody>
          <a:bodyPr wrap="square" rtlCol="0">
            <a:spAutoFit/>
          </a:bodyPr>
          <a:lstStyle/>
          <a:p>
            <a:r>
              <a:rPr lang="en-US" sz="2800" b="1"/>
              <a:t>Blockchain networks, platforms, companies</a:t>
            </a:r>
          </a:p>
        </p:txBody>
      </p:sp>
      <p:pic>
        <p:nvPicPr>
          <p:cNvPr id="1028" name="Picture 4">
            <a:extLst>
              <a:ext uri="{FF2B5EF4-FFF2-40B4-BE49-F238E27FC236}">
                <a16:creationId xmlns:a16="http://schemas.microsoft.com/office/drawing/2014/main" id="{D399CB41-6EBC-9D4C-A7D9-FC93916B339A}"/>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811618" y="2471530"/>
            <a:ext cx="5344601" cy="43334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3ADF98E-3192-CF44-807F-8E4F220DCA9B}"/>
              </a:ext>
            </a:extLst>
          </p:cNvPr>
          <p:cNvSpPr txBox="1"/>
          <p:nvPr/>
        </p:nvSpPr>
        <p:spPr>
          <a:xfrm>
            <a:off x="238301" y="3429001"/>
            <a:ext cx="2981979" cy="1600438"/>
          </a:xfrm>
          <a:prstGeom prst="rect">
            <a:avLst/>
          </a:prstGeom>
          <a:noFill/>
        </p:spPr>
        <p:txBody>
          <a:bodyPr wrap="square" rtlCol="0">
            <a:spAutoFit/>
          </a:bodyPr>
          <a:lstStyle/>
          <a:p>
            <a:r>
              <a:rPr lang="en-US" sz="1400"/>
              <a:t>Some Blockchain Platforms:</a:t>
            </a:r>
          </a:p>
          <a:p>
            <a:pPr marL="380990" indent="-380990">
              <a:buFont typeface="Arial" panose="020B0604020202020204" pitchFamily="34" charset="0"/>
              <a:buChar char="•"/>
            </a:pPr>
            <a:r>
              <a:rPr lang="en-US" sz="1400"/>
              <a:t>IBM Blockchain</a:t>
            </a:r>
          </a:p>
          <a:p>
            <a:pPr marL="380990" indent="-380990">
              <a:buFont typeface="Arial" panose="020B0604020202020204" pitchFamily="34" charset="0"/>
              <a:buChar char="•"/>
            </a:pPr>
            <a:r>
              <a:rPr lang="en-US" sz="1400"/>
              <a:t>Corda</a:t>
            </a:r>
          </a:p>
          <a:p>
            <a:pPr marL="380990" indent="-380990">
              <a:buFont typeface="Arial" panose="020B0604020202020204" pitchFamily="34" charset="0"/>
              <a:buChar char="•"/>
            </a:pPr>
            <a:r>
              <a:rPr lang="en-US" sz="1400"/>
              <a:t>Ethereum</a:t>
            </a:r>
          </a:p>
          <a:p>
            <a:pPr marL="380990" indent="-380990">
              <a:buFont typeface="Arial" panose="020B0604020202020204" pitchFamily="34" charset="0"/>
              <a:buChar char="•"/>
            </a:pPr>
            <a:r>
              <a:rPr lang="en-US" sz="1400"/>
              <a:t>MultiChain</a:t>
            </a:r>
          </a:p>
          <a:p>
            <a:pPr marL="380990" indent="-380990">
              <a:buFont typeface="Arial" panose="020B0604020202020204" pitchFamily="34" charset="0"/>
              <a:buChar char="•"/>
            </a:pPr>
            <a:r>
              <a:rPr lang="en-US" sz="1400"/>
              <a:t>Tron</a:t>
            </a:r>
          </a:p>
          <a:p>
            <a:pPr marL="380990" indent="-380990">
              <a:buFont typeface="Arial" panose="020B0604020202020204" pitchFamily="34" charset="0"/>
              <a:buChar char="•"/>
            </a:pPr>
            <a:r>
              <a:rPr lang="en-US" sz="1400"/>
              <a:t>Stellar</a:t>
            </a:r>
          </a:p>
        </p:txBody>
      </p:sp>
      <p:sp>
        <p:nvSpPr>
          <p:cNvPr id="4" name="TextBox 3">
            <a:extLst>
              <a:ext uri="{FF2B5EF4-FFF2-40B4-BE49-F238E27FC236}">
                <a16:creationId xmlns:a16="http://schemas.microsoft.com/office/drawing/2014/main" id="{62EB3B17-1FBD-884B-9538-0ECB4A0FCCA3}"/>
              </a:ext>
            </a:extLst>
          </p:cNvPr>
          <p:cNvSpPr txBox="1"/>
          <p:nvPr/>
        </p:nvSpPr>
        <p:spPr>
          <a:xfrm>
            <a:off x="3963463" y="1610726"/>
            <a:ext cx="2690676" cy="4401205"/>
          </a:xfrm>
          <a:prstGeom prst="rect">
            <a:avLst/>
          </a:prstGeom>
          <a:noFill/>
        </p:spPr>
        <p:txBody>
          <a:bodyPr wrap="square" rtlCol="0">
            <a:spAutoFit/>
          </a:bodyPr>
          <a:lstStyle/>
          <a:p>
            <a:r>
              <a:rPr lang="en-US" sz="1400"/>
              <a:t>Some Blockchain companies</a:t>
            </a:r>
          </a:p>
          <a:p>
            <a:pPr marL="380990" indent="-380990">
              <a:buFont typeface="Arial" panose="020B0604020202020204" pitchFamily="34" charset="0"/>
              <a:buChar char="•"/>
            </a:pPr>
            <a:r>
              <a:rPr lang="en-US" sz="1400"/>
              <a:t>BRD</a:t>
            </a:r>
          </a:p>
          <a:p>
            <a:pPr marL="380990" indent="-380990">
              <a:buFont typeface="Arial" panose="020B0604020202020204" pitchFamily="34" charset="0"/>
              <a:buChar char="•"/>
            </a:pPr>
            <a:r>
              <a:rPr lang="en-US" sz="1400"/>
              <a:t>BitMEX</a:t>
            </a:r>
          </a:p>
          <a:p>
            <a:pPr marL="380990" indent="-380990">
              <a:buFont typeface="Arial" panose="020B0604020202020204" pitchFamily="34" charset="0"/>
              <a:buChar char="•"/>
            </a:pPr>
            <a:r>
              <a:rPr lang="en-US" sz="1400"/>
              <a:t>Chainalysis</a:t>
            </a:r>
          </a:p>
          <a:p>
            <a:pPr marL="380990" indent="-380990">
              <a:buFont typeface="Arial" panose="020B0604020202020204" pitchFamily="34" charset="0"/>
              <a:buChar char="•"/>
            </a:pPr>
            <a:r>
              <a:rPr lang="en-US" sz="1400"/>
              <a:t>Coinme</a:t>
            </a:r>
          </a:p>
          <a:p>
            <a:pPr marL="380990" indent="-380990">
              <a:buFont typeface="Arial" panose="020B0604020202020204" pitchFamily="34" charset="0"/>
              <a:buChar char="•"/>
            </a:pPr>
            <a:r>
              <a:rPr lang="en-US" sz="1400"/>
              <a:t>Netki</a:t>
            </a:r>
          </a:p>
          <a:p>
            <a:pPr marL="380990" indent="-380990">
              <a:buFont typeface="Arial" panose="020B0604020202020204" pitchFamily="34" charset="0"/>
              <a:buChar char="•"/>
            </a:pPr>
            <a:r>
              <a:rPr lang="en-US" sz="1400"/>
              <a:t>Paxful</a:t>
            </a:r>
          </a:p>
          <a:p>
            <a:pPr marL="380990" indent="-380990">
              <a:buFont typeface="Arial" panose="020B0604020202020204" pitchFamily="34" charset="0"/>
              <a:buChar char="•"/>
            </a:pPr>
            <a:r>
              <a:rPr lang="en-US" sz="1400"/>
              <a:t>Republic</a:t>
            </a:r>
          </a:p>
          <a:p>
            <a:pPr marL="380990" indent="-380990">
              <a:buFont typeface="Arial" panose="020B0604020202020204" pitchFamily="34" charset="0"/>
              <a:buChar char="•"/>
            </a:pPr>
            <a:r>
              <a:rPr lang="en-US" sz="1400"/>
              <a:t>Spring Labs</a:t>
            </a:r>
          </a:p>
          <a:p>
            <a:pPr marL="380990" indent="-380990">
              <a:buFont typeface="Arial" panose="020B0604020202020204" pitchFamily="34" charset="0"/>
              <a:buChar char="•"/>
            </a:pPr>
            <a:r>
              <a:rPr lang="en-US" sz="1400"/>
              <a:t>SALT Lending</a:t>
            </a:r>
          </a:p>
          <a:p>
            <a:pPr marL="380990" indent="-380990">
              <a:buFont typeface="Arial" panose="020B0604020202020204" pitchFamily="34" charset="0"/>
              <a:buChar char="•"/>
            </a:pPr>
            <a:r>
              <a:rPr lang="en-US" sz="1400"/>
              <a:t>TQ Tezos</a:t>
            </a:r>
          </a:p>
          <a:p>
            <a:pPr marL="380990" indent="-380990">
              <a:buFont typeface="Arial" panose="020B0604020202020204" pitchFamily="34" charset="0"/>
              <a:buChar char="•"/>
            </a:pPr>
            <a:r>
              <a:rPr lang="en-US" sz="1400"/>
              <a:t>Mythical Games</a:t>
            </a:r>
          </a:p>
          <a:p>
            <a:pPr marL="380990" indent="-380990">
              <a:buFont typeface="Arial" panose="020B0604020202020204" pitchFamily="34" charset="0"/>
              <a:buChar char="•"/>
            </a:pPr>
            <a:r>
              <a:rPr lang="en-US" sz="1400"/>
              <a:t>Gemini</a:t>
            </a:r>
          </a:p>
          <a:p>
            <a:pPr marL="380990" indent="-380990">
              <a:buFont typeface="Arial" panose="020B0604020202020204" pitchFamily="34" charset="0"/>
              <a:buChar char="•"/>
            </a:pPr>
            <a:r>
              <a:rPr lang="en-US" sz="1400"/>
              <a:t>Circle</a:t>
            </a:r>
          </a:p>
          <a:p>
            <a:pPr marL="380990" indent="-380990">
              <a:buFont typeface="Arial" panose="020B0604020202020204" pitchFamily="34" charset="0"/>
              <a:buChar char="•"/>
            </a:pPr>
            <a:r>
              <a:rPr lang="en-US" sz="1400"/>
              <a:t>Coinbase</a:t>
            </a:r>
          </a:p>
          <a:p>
            <a:pPr marL="380990" indent="-380990">
              <a:buFont typeface="Arial" panose="020B0604020202020204" pitchFamily="34" charset="0"/>
              <a:buChar char="•"/>
            </a:pPr>
            <a:r>
              <a:rPr lang="en-US" sz="1400"/>
              <a:t>Chronicled</a:t>
            </a:r>
          </a:p>
          <a:p>
            <a:pPr marL="380990" indent="-380990">
              <a:buFont typeface="Arial" panose="020B0604020202020204" pitchFamily="34" charset="0"/>
              <a:buChar char="•"/>
            </a:pPr>
            <a:r>
              <a:rPr lang="en-US" sz="1400"/>
              <a:t>IBM</a:t>
            </a:r>
          </a:p>
          <a:p>
            <a:pPr marL="380990" indent="-380990">
              <a:buFont typeface="Arial" panose="020B0604020202020204" pitchFamily="34" charset="0"/>
              <a:buChar char="•"/>
            </a:pPr>
            <a:r>
              <a:rPr lang="en-US" sz="1400"/>
              <a:t>Voatz</a:t>
            </a:r>
          </a:p>
          <a:p>
            <a:pPr marL="380990" indent="-380990">
              <a:buFont typeface="Arial" panose="020B0604020202020204" pitchFamily="34" charset="0"/>
              <a:buChar char="•"/>
            </a:pPr>
            <a:r>
              <a:rPr lang="en-US" sz="1400"/>
              <a:t>Steem</a:t>
            </a:r>
          </a:p>
          <a:p>
            <a:pPr marL="380990" indent="-380990">
              <a:buFont typeface="Arial" panose="020B0604020202020204" pitchFamily="34" charset="0"/>
              <a:buChar char="•"/>
            </a:pPr>
            <a:r>
              <a:rPr lang="en-US" sz="1400"/>
              <a:t>Shipchain</a:t>
            </a:r>
          </a:p>
        </p:txBody>
      </p:sp>
      <p:sp>
        <p:nvSpPr>
          <p:cNvPr id="6" name="TextBox 5">
            <a:extLst>
              <a:ext uri="{FF2B5EF4-FFF2-40B4-BE49-F238E27FC236}">
                <a16:creationId xmlns:a16="http://schemas.microsoft.com/office/drawing/2014/main" id="{243C2FD8-EDB1-AD4B-B6D9-6E12B73FCA8D}"/>
              </a:ext>
            </a:extLst>
          </p:cNvPr>
          <p:cNvSpPr txBox="1"/>
          <p:nvPr/>
        </p:nvSpPr>
        <p:spPr>
          <a:xfrm>
            <a:off x="132281" y="1610726"/>
            <a:ext cx="3485320" cy="738664"/>
          </a:xfrm>
          <a:prstGeom prst="rect">
            <a:avLst/>
          </a:prstGeom>
          <a:noFill/>
        </p:spPr>
        <p:txBody>
          <a:bodyPr wrap="square" rtlCol="0">
            <a:spAutoFit/>
          </a:bodyPr>
          <a:lstStyle/>
          <a:p>
            <a:r>
              <a:rPr lang="en-US" sz="1400"/>
              <a:t>Number of nodes (2022):</a:t>
            </a:r>
          </a:p>
          <a:p>
            <a:r>
              <a:rPr lang="en-US" sz="1400"/>
              <a:t>Bitcoin: ~50K (15K+ full nodes)</a:t>
            </a:r>
          </a:p>
          <a:p>
            <a:r>
              <a:rPr lang="en-US" sz="1400"/>
              <a:t>Ethereum: 300,000 validators</a:t>
            </a:r>
          </a:p>
        </p:txBody>
      </p:sp>
      <p:sp>
        <p:nvSpPr>
          <p:cNvPr id="7" name="TextBox 6">
            <a:extLst>
              <a:ext uri="{FF2B5EF4-FFF2-40B4-BE49-F238E27FC236}">
                <a16:creationId xmlns:a16="http://schemas.microsoft.com/office/drawing/2014/main" id="{B693BDF1-1CEC-894B-AB05-D966FABE58C8}"/>
              </a:ext>
            </a:extLst>
          </p:cNvPr>
          <p:cNvSpPr txBox="1"/>
          <p:nvPr/>
        </p:nvSpPr>
        <p:spPr>
          <a:xfrm>
            <a:off x="7399037" y="237736"/>
            <a:ext cx="3653695" cy="307777"/>
          </a:xfrm>
          <a:prstGeom prst="rect">
            <a:avLst/>
          </a:prstGeom>
          <a:noFill/>
        </p:spPr>
        <p:txBody>
          <a:bodyPr wrap="square" rtlCol="0">
            <a:spAutoFit/>
          </a:bodyPr>
          <a:lstStyle/>
          <a:p>
            <a:r>
              <a:rPr lang="en-US" sz="1400">
                <a:solidFill>
                  <a:srgbClr val="FF0000"/>
                </a:solidFill>
              </a:rPr>
              <a:t>Page Under Construction</a:t>
            </a:r>
          </a:p>
        </p:txBody>
      </p:sp>
    </p:spTree>
    <p:extLst>
      <p:ext uri="{BB962C8B-B14F-4D97-AF65-F5344CB8AC3E}">
        <p14:creationId xmlns:p14="http://schemas.microsoft.com/office/powerpoint/2010/main" val="3184503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A39176-FA2B-9246-8D00-D1A0EA6E401F}"/>
              </a:ext>
            </a:extLst>
          </p:cNvPr>
          <p:cNvSpPr txBox="1"/>
          <p:nvPr/>
        </p:nvSpPr>
        <p:spPr>
          <a:xfrm>
            <a:off x="150182" y="875113"/>
            <a:ext cx="5840311" cy="3539430"/>
          </a:xfrm>
          <a:prstGeom prst="rect">
            <a:avLst/>
          </a:prstGeom>
          <a:noFill/>
        </p:spPr>
        <p:txBody>
          <a:bodyPr wrap="square" rtlCol="0">
            <a:spAutoFit/>
          </a:bodyPr>
          <a:lstStyle/>
          <a:p>
            <a:r>
              <a:rPr lang="en-US" sz="1400"/>
              <a:t>public blockchains </a:t>
            </a:r>
          </a:p>
          <a:p>
            <a:r>
              <a:rPr lang="en-US" sz="1400"/>
              <a:t> - </a:t>
            </a:r>
            <a:r>
              <a:rPr lang="en-US" sz="1400">
                <a:hlinkClick r:id="rId2"/>
              </a:rPr>
              <a:t>https://www.gartner.com/reviews/market/blockchain-platforms</a:t>
            </a:r>
            <a:br>
              <a:rPr lang="en-US" sz="1400"/>
            </a:br>
            <a:r>
              <a:rPr lang="en-US" sz="1400"/>
              <a:t> </a:t>
            </a:r>
          </a:p>
          <a:p>
            <a:pPr marL="380990" indent="-380990">
              <a:buFont typeface="Arial" panose="020B0604020202020204" pitchFamily="34" charset="0"/>
              <a:buChar char="•"/>
            </a:pPr>
            <a:r>
              <a:rPr lang="en-US" sz="1400"/>
              <a:t>BitCoin</a:t>
            </a:r>
          </a:p>
          <a:p>
            <a:pPr marL="380990" indent="-380990">
              <a:buFont typeface="Arial" panose="020B0604020202020204" pitchFamily="34" charset="0"/>
              <a:buChar char="•"/>
            </a:pPr>
            <a:r>
              <a:rPr lang="en-US" sz="1400"/>
              <a:t>Etherium</a:t>
            </a:r>
          </a:p>
          <a:p>
            <a:pPr marL="380990" indent="-380990">
              <a:buFont typeface="Arial" panose="020B0604020202020204" pitchFamily="34" charset="0"/>
              <a:buChar char="•"/>
            </a:pPr>
            <a:r>
              <a:rPr lang="en-US" sz="1400"/>
              <a:t>Solana</a:t>
            </a:r>
          </a:p>
          <a:p>
            <a:pPr marL="380990" indent="-380990">
              <a:buFont typeface="Arial" panose="020B0604020202020204" pitchFamily="34" charset="0"/>
              <a:buChar char="•"/>
            </a:pPr>
            <a:r>
              <a:rPr lang="en-US" sz="1400"/>
              <a:t>IBM Blockchain</a:t>
            </a:r>
          </a:p>
          <a:p>
            <a:pPr marL="380990" indent="-380990">
              <a:buFont typeface="Arial" panose="020B0604020202020204" pitchFamily="34" charset="0"/>
              <a:buChar char="•"/>
            </a:pPr>
            <a:r>
              <a:rPr lang="en-US" sz="1400"/>
              <a:t>Hyperledger Fabric</a:t>
            </a:r>
          </a:p>
          <a:p>
            <a:pPr marL="380990" indent="-380990">
              <a:buFont typeface="Arial" panose="020B0604020202020204" pitchFamily="34" charset="0"/>
              <a:buChar char="•"/>
            </a:pPr>
            <a:r>
              <a:rPr lang="en-US" sz="1400"/>
              <a:t>Binance Smart Chain</a:t>
            </a:r>
          </a:p>
          <a:p>
            <a:pPr marL="380990" indent="-380990">
              <a:buFont typeface="Arial" panose="020B0604020202020204" pitchFamily="34" charset="0"/>
              <a:buChar char="•"/>
            </a:pPr>
            <a:r>
              <a:rPr lang="en-US" sz="1400"/>
              <a:t>NEO (Antshares)</a:t>
            </a:r>
          </a:p>
          <a:p>
            <a:pPr marL="380990" indent="-380990">
              <a:buFont typeface="Arial" panose="020B0604020202020204" pitchFamily="34" charset="0"/>
              <a:buChar char="•"/>
            </a:pPr>
            <a:r>
              <a:rPr lang="en-US" sz="1400"/>
              <a:t>WAVES</a:t>
            </a:r>
          </a:p>
          <a:p>
            <a:pPr marL="380990" indent="-380990">
              <a:buFont typeface="Arial" panose="020B0604020202020204" pitchFamily="34" charset="0"/>
              <a:buChar char="•"/>
            </a:pPr>
            <a:r>
              <a:rPr lang="en-US" sz="1400"/>
              <a:t>EOS</a:t>
            </a:r>
          </a:p>
          <a:p>
            <a:pPr marL="380990" indent="-380990">
              <a:buFont typeface="Arial" panose="020B0604020202020204" pitchFamily="34" charset="0"/>
              <a:buChar char="•"/>
            </a:pPr>
            <a:r>
              <a:rPr lang="en-US" sz="1400"/>
              <a:t>Stellar</a:t>
            </a:r>
          </a:p>
          <a:p>
            <a:pPr marL="380990" indent="-380990">
              <a:buFont typeface="Arial" panose="020B0604020202020204" pitchFamily="34" charset="0"/>
              <a:buChar char="•"/>
            </a:pPr>
            <a:r>
              <a:rPr lang="en-US" sz="1400"/>
              <a:t>Monero (XMR)</a:t>
            </a:r>
          </a:p>
          <a:p>
            <a:pPr marL="380990" indent="-380990">
              <a:buFont typeface="Arial" panose="020B0604020202020204" pitchFamily="34" charset="0"/>
              <a:buChar char="•"/>
            </a:pPr>
            <a:r>
              <a:rPr lang="en-US" sz="1400"/>
              <a:t>Bitcoin Cash (BCH)</a:t>
            </a:r>
          </a:p>
          <a:p>
            <a:pPr marL="380990" indent="-380990">
              <a:buFont typeface="Arial" panose="020B0604020202020204" pitchFamily="34" charset="0"/>
              <a:buChar char="•"/>
            </a:pPr>
            <a:r>
              <a:rPr lang="en-US" sz="1400"/>
              <a:t>Ripple ?</a:t>
            </a:r>
          </a:p>
        </p:txBody>
      </p:sp>
      <p:sp>
        <p:nvSpPr>
          <p:cNvPr id="3" name="TextBox 2">
            <a:extLst>
              <a:ext uri="{FF2B5EF4-FFF2-40B4-BE49-F238E27FC236}">
                <a16:creationId xmlns:a16="http://schemas.microsoft.com/office/drawing/2014/main" id="{4A974376-AD05-2F45-9420-4C26424E1C57}"/>
              </a:ext>
            </a:extLst>
          </p:cNvPr>
          <p:cNvSpPr txBox="1"/>
          <p:nvPr/>
        </p:nvSpPr>
        <p:spPr>
          <a:xfrm>
            <a:off x="0" y="1"/>
            <a:ext cx="2255520" cy="523220"/>
          </a:xfrm>
          <a:prstGeom prst="rect">
            <a:avLst/>
          </a:prstGeom>
          <a:noFill/>
        </p:spPr>
        <p:txBody>
          <a:bodyPr wrap="square" rtlCol="0">
            <a:spAutoFit/>
          </a:bodyPr>
          <a:lstStyle/>
          <a:p>
            <a:r>
              <a:rPr lang="en-US" sz="2800" b="1"/>
              <a:t>Blockchains</a:t>
            </a:r>
          </a:p>
        </p:txBody>
      </p:sp>
      <p:sp>
        <p:nvSpPr>
          <p:cNvPr id="4" name="TextBox 3">
            <a:extLst>
              <a:ext uri="{FF2B5EF4-FFF2-40B4-BE49-F238E27FC236}">
                <a16:creationId xmlns:a16="http://schemas.microsoft.com/office/drawing/2014/main" id="{7CABCEAE-1020-494D-89D9-4A6C377FDC36}"/>
              </a:ext>
            </a:extLst>
          </p:cNvPr>
          <p:cNvSpPr txBox="1"/>
          <p:nvPr/>
        </p:nvSpPr>
        <p:spPr>
          <a:xfrm>
            <a:off x="6940062" y="181232"/>
            <a:ext cx="3751385" cy="307777"/>
          </a:xfrm>
          <a:prstGeom prst="rect">
            <a:avLst/>
          </a:prstGeom>
          <a:noFill/>
        </p:spPr>
        <p:txBody>
          <a:bodyPr wrap="square" rtlCol="0">
            <a:spAutoFit/>
          </a:bodyPr>
          <a:lstStyle/>
          <a:p>
            <a:r>
              <a:rPr lang="en-US" sz="1400" b="1">
                <a:solidFill>
                  <a:srgbClr val="FF0000"/>
                </a:solidFill>
              </a:rPr>
              <a:t>Page Under Construction</a:t>
            </a:r>
          </a:p>
        </p:txBody>
      </p:sp>
      <p:sp>
        <p:nvSpPr>
          <p:cNvPr id="5" name="TextBox 4">
            <a:extLst>
              <a:ext uri="{FF2B5EF4-FFF2-40B4-BE49-F238E27FC236}">
                <a16:creationId xmlns:a16="http://schemas.microsoft.com/office/drawing/2014/main" id="{D326E3C8-B514-A64C-9D4A-B87145CB2209}"/>
              </a:ext>
            </a:extLst>
          </p:cNvPr>
          <p:cNvSpPr txBox="1"/>
          <p:nvPr/>
        </p:nvSpPr>
        <p:spPr>
          <a:xfrm>
            <a:off x="8280187" y="2638639"/>
            <a:ext cx="3335164" cy="738664"/>
          </a:xfrm>
          <a:prstGeom prst="rect">
            <a:avLst/>
          </a:prstGeom>
          <a:noFill/>
        </p:spPr>
        <p:txBody>
          <a:bodyPr wrap="square" rtlCol="0">
            <a:spAutoFit/>
          </a:bodyPr>
          <a:lstStyle/>
          <a:p>
            <a:pPr marL="380990" indent="-380990">
              <a:buFont typeface="Arial" panose="020B0604020202020204" pitchFamily="34" charset="0"/>
              <a:buChar char="•"/>
            </a:pPr>
            <a:r>
              <a:rPr lang="en-US" sz="1400"/>
              <a:t>private blockchains</a:t>
            </a:r>
          </a:p>
          <a:p>
            <a:pPr marL="380990" indent="-380990">
              <a:buFont typeface="Arial" panose="020B0604020202020204" pitchFamily="34" charset="0"/>
              <a:buChar char="•"/>
            </a:pPr>
            <a:r>
              <a:rPr lang="en-US" sz="1400"/>
              <a:t>consortium blockchains</a:t>
            </a:r>
          </a:p>
          <a:p>
            <a:pPr marL="380990" indent="-380990">
              <a:buFont typeface="Arial" panose="020B0604020202020204" pitchFamily="34" charset="0"/>
              <a:buChar char="•"/>
            </a:pPr>
            <a:r>
              <a:rPr lang="en-US" sz="1400"/>
              <a:t>hybrid blockchains</a:t>
            </a:r>
          </a:p>
        </p:txBody>
      </p:sp>
    </p:spTree>
    <p:extLst>
      <p:ext uri="{BB962C8B-B14F-4D97-AF65-F5344CB8AC3E}">
        <p14:creationId xmlns:p14="http://schemas.microsoft.com/office/powerpoint/2010/main" val="29803021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62B39B7-663E-0642-977D-B9B9782FACDC}"/>
              </a:ext>
            </a:extLst>
          </p:cNvPr>
          <p:cNvSpPr txBox="1"/>
          <p:nvPr/>
        </p:nvSpPr>
        <p:spPr>
          <a:xfrm>
            <a:off x="0" y="0"/>
            <a:ext cx="4367135" cy="523220"/>
          </a:xfrm>
          <a:prstGeom prst="rect">
            <a:avLst/>
          </a:prstGeom>
          <a:noFill/>
        </p:spPr>
        <p:txBody>
          <a:bodyPr wrap="square" rtlCol="0">
            <a:spAutoFit/>
          </a:bodyPr>
          <a:lstStyle/>
          <a:p>
            <a:r>
              <a:rPr lang="en-US" sz="2800" b="1"/>
              <a:t>Pay for Goods using Crypto</a:t>
            </a:r>
          </a:p>
        </p:txBody>
      </p:sp>
      <p:sp>
        <p:nvSpPr>
          <p:cNvPr id="3" name="TextBox 2">
            <a:extLst>
              <a:ext uri="{FF2B5EF4-FFF2-40B4-BE49-F238E27FC236}">
                <a16:creationId xmlns:a16="http://schemas.microsoft.com/office/drawing/2014/main" id="{3FE070B8-0295-424C-830B-078672165267}"/>
              </a:ext>
            </a:extLst>
          </p:cNvPr>
          <p:cNvSpPr txBox="1"/>
          <p:nvPr/>
        </p:nvSpPr>
        <p:spPr>
          <a:xfrm>
            <a:off x="0" y="1095295"/>
            <a:ext cx="3139440" cy="4832092"/>
          </a:xfrm>
          <a:prstGeom prst="rect">
            <a:avLst/>
          </a:prstGeom>
          <a:noFill/>
        </p:spPr>
        <p:txBody>
          <a:bodyPr wrap="square" rtlCol="0">
            <a:spAutoFit/>
          </a:bodyPr>
          <a:lstStyle/>
          <a:p>
            <a:r>
              <a:rPr lang="en-US" sz="1400"/>
              <a:t>Some companies already accept crypto, </a:t>
            </a:r>
          </a:p>
          <a:p>
            <a:r>
              <a:rPr lang="en-US" sz="1400"/>
              <a:t>for example:</a:t>
            </a:r>
          </a:p>
          <a:p>
            <a:endParaRPr lang="en-US" sz="1400"/>
          </a:p>
          <a:p>
            <a:pPr marL="228594" indent="-228594">
              <a:buFont typeface="Arial" panose="020B0604020202020204" pitchFamily="34" charset="0"/>
              <a:buChar char="•"/>
            </a:pPr>
            <a:r>
              <a:rPr lang="en-US" sz="1400">
                <a:solidFill>
                  <a:srgbClr val="0070C0"/>
                </a:solidFill>
              </a:rPr>
              <a:t>AT&amp;T</a:t>
            </a:r>
          </a:p>
          <a:p>
            <a:pPr marL="228594" indent="-228594">
              <a:buFont typeface="Arial" panose="020B0604020202020204" pitchFamily="34" charset="0"/>
              <a:buChar char="•"/>
            </a:pPr>
            <a:r>
              <a:rPr lang="en-US" sz="1400">
                <a:solidFill>
                  <a:srgbClr val="0070C0"/>
                </a:solidFill>
              </a:rPr>
              <a:t>CheapAir.com</a:t>
            </a:r>
          </a:p>
          <a:p>
            <a:pPr marL="228594" indent="-228594">
              <a:buFont typeface="Arial" panose="020B0604020202020204" pitchFamily="34" charset="0"/>
              <a:buChar char="•"/>
            </a:pPr>
            <a:r>
              <a:rPr lang="en-US" sz="1400">
                <a:solidFill>
                  <a:srgbClr val="0070C0"/>
                </a:solidFill>
              </a:rPr>
              <a:t>Dallas Mavericks</a:t>
            </a:r>
          </a:p>
          <a:p>
            <a:pPr marL="228594" indent="-228594">
              <a:buFont typeface="Arial" panose="020B0604020202020204" pitchFamily="34" charset="0"/>
              <a:buChar char="•"/>
            </a:pPr>
            <a:r>
              <a:rPr lang="en-US" sz="1400">
                <a:solidFill>
                  <a:srgbClr val="0070C0"/>
                </a:solidFill>
              </a:rPr>
              <a:t>Etsy</a:t>
            </a:r>
          </a:p>
          <a:p>
            <a:pPr marL="228594" indent="-228594">
              <a:buFont typeface="Arial" panose="020B0604020202020204" pitchFamily="34" charset="0"/>
              <a:buChar char="•"/>
            </a:pPr>
            <a:r>
              <a:rPr lang="en-US" sz="1400">
                <a:solidFill>
                  <a:srgbClr val="0070C0"/>
                </a:solidFill>
              </a:rPr>
              <a:t>Home Depot (using Flexa)</a:t>
            </a:r>
          </a:p>
          <a:p>
            <a:pPr marL="228594" indent="-228594">
              <a:buFont typeface="Arial" panose="020B0604020202020204" pitchFamily="34" charset="0"/>
              <a:buChar char="•"/>
            </a:pPr>
            <a:r>
              <a:rPr lang="en-US" sz="1400">
                <a:solidFill>
                  <a:srgbClr val="0070C0"/>
                </a:solidFill>
              </a:rPr>
              <a:t>Lush</a:t>
            </a:r>
          </a:p>
          <a:p>
            <a:pPr marL="228594" indent="-228594">
              <a:buFont typeface="Arial" panose="020B0604020202020204" pitchFamily="34" charset="0"/>
              <a:buChar char="•"/>
            </a:pPr>
            <a:r>
              <a:rPr lang="en-US" sz="1400">
                <a:solidFill>
                  <a:srgbClr val="0070C0"/>
                </a:solidFill>
              </a:rPr>
              <a:t>Microsoft</a:t>
            </a:r>
          </a:p>
          <a:p>
            <a:pPr marL="228594" indent="-228594">
              <a:buFont typeface="Arial" panose="020B0604020202020204" pitchFamily="34" charset="0"/>
              <a:buChar char="•"/>
            </a:pPr>
            <a:r>
              <a:rPr lang="en-US" sz="1400">
                <a:solidFill>
                  <a:srgbClr val="0070C0"/>
                </a:solidFill>
              </a:rPr>
              <a:t>Namecheap</a:t>
            </a:r>
          </a:p>
          <a:p>
            <a:pPr marL="228594" indent="-228594">
              <a:buFont typeface="Arial" panose="020B0604020202020204" pitchFamily="34" charset="0"/>
              <a:buChar char="•"/>
            </a:pPr>
            <a:r>
              <a:rPr lang="en-US" sz="1400">
                <a:solidFill>
                  <a:srgbClr val="0070C0"/>
                </a:solidFill>
              </a:rPr>
              <a:t>Newegg</a:t>
            </a:r>
          </a:p>
          <a:p>
            <a:pPr marL="228594" indent="-228594">
              <a:buFont typeface="Arial" panose="020B0604020202020204" pitchFamily="34" charset="0"/>
              <a:buChar char="•"/>
            </a:pPr>
            <a:r>
              <a:rPr lang="en-US" sz="1400">
                <a:solidFill>
                  <a:srgbClr val="0070C0"/>
                </a:solidFill>
              </a:rPr>
              <a:t>Overstock</a:t>
            </a:r>
          </a:p>
          <a:p>
            <a:pPr marL="228594" indent="-228594">
              <a:buFont typeface="Arial" panose="020B0604020202020204" pitchFamily="34" charset="0"/>
              <a:buChar char="•"/>
            </a:pPr>
            <a:r>
              <a:rPr lang="en-US" sz="1400">
                <a:solidFill>
                  <a:srgbClr val="0070C0"/>
                </a:solidFill>
              </a:rPr>
              <a:t>Pacsun</a:t>
            </a:r>
          </a:p>
          <a:p>
            <a:pPr marL="228594" indent="-228594">
              <a:buFont typeface="Arial" panose="020B0604020202020204" pitchFamily="34" charset="0"/>
              <a:buChar char="•"/>
            </a:pPr>
            <a:r>
              <a:rPr lang="en-US" sz="1400">
                <a:solidFill>
                  <a:srgbClr val="0070C0"/>
                </a:solidFill>
              </a:rPr>
              <a:t>PayPal</a:t>
            </a:r>
          </a:p>
          <a:p>
            <a:pPr marL="228594" indent="-228594">
              <a:buFont typeface="Arial" panose="020B0604020202020204" pitchFamily="34" charset="0"/>
              <a:buChar char="•"/>
            </a:pPr>
            <a:r>
              <a:rPr lang="en-US" sz="1400">
                <a:solidFill>
                  <a:srgbClr val="0070C0"/>
                </a:solidFill>
              </a:rPr>
              <a:t>Rakuten</a:t>
            </a:r>
          </a:p>
          <a:p>
            <a:pPr marL="228594" indent="-228594">
              <a:buFont typeface="Arial" panose="020B0604020202020204" pitchFamily="34" charset="0"/>
              <a:buChar char="•"/>
            </a:pPr>
            <a:r>
              <a:rPr lang="en-US" sz="1400">
                <a:solidFill>
                  <a:srgbClr val="0070C0"/>
                </a:solidFill>
              </a:rPr>
              <a:t>Starbucks</a:t>
            </a:r>
          </a:p>
          <a:p>
            <a:pPr marL="228594" indent="-228594">
              <a:buFont typeface="Arial" panose="020B0604020202020204" pitchFamily="34" charset="0"/>
              <a:buChar char="•"/>
            </a:pPr>
            <a:r>
              <a:rPr lang="en-US" sz="1400">
                <a:solidFill>
                  <a:srgbClr val="0070C0"/>
                </a:solidFill>
              </a:rPr>
              <a:t>Tesla</a:t>
            </a:r>
          </a:p>
          <a:p>
            <a:pPr marL="228594" indent="-228594">
              <a:buFont typeface="Arial" panose="020B0604020202020204" pitchFamily="34" charset="0"/>
              <a:buChar char="•"/>
            </a:pPr>
            <a:r>
              <a:rPr lang="en-US" sz="1400">
                <a:solidFill>
                  <a:srgbClr val="0070C0"/>
                </a:solidFill>
              </a:rPr>
              <a:t>Travala.com</a:t>
            </a:r>
          </a:p>
          <a:p>
            <a:pPr marL="228594" indent="-228594">
              <a:buFont typeface="Arial" panose="020B0604020202020204" pitchFamily="34" charset="0"/>
              <a:buChar char="•"/>
            </a:pPr>
            <a:r>
              <a:rPr lang="en-US" sz="1400">
                <a:solidFill>
                  <a:srgbClr val="0070C0"/>
                </a:solidFill>
              </a:rPr>
              <a:t>Twitch</a:t>
            </a:r>
          </a:p>
          <a:p>
            <a:pPr marL="228594" indent="-228594">
              <a:buFont typeface="Arial" panose="020B0604020202020204" pitchFamily="34" charset="0"/>
              <a:buChar char="•"/>
            </a:pPr>
            <a:r>
              <a:rPr lang="en-US" sz="1400">
                <a:solidFill>
                  <a:srgbClr val="0070C0"/>
                </a:solidFill>
              </a:rPr>
              <a:t>Whole Foods (using Flexa)</a:t>
            </a:r>
          </a:p>
          <a:p>
            <a:pPr marL="228594" indent="-228594">
              <a:buFont typeface="Arial" panose="020B0604020202020204" pitchFamily="34" charset="0"/>
              <a:buChar char="•"/>
            </a:pPr>
            <a:r>
              <a:rPr lang="en-US" sz="1400">
                <a:solidFill>
                  <a:srgbClr val="0070C0"/>
                </a:solidFill>
              </a:rPr>
              <a:t>Wikipedia</a:t>
            </a:r>
          </a:p>
        </p:txBody>
      </p:sp>
      <p:sp>
        <p:nvSpPr>
          <p:cNvPr id="4" name="TextBox 3">
            <a:extLst>
              <a:ext uri="{FF2B5EF4-FFF2-40B4-BE49-F238E27FC236}">
                <a16:creationId xmlns:a16="http://schemas.microsoft.com/office/drawing/2014/main" id="{03951173-DC20-2945-A7BF-CD3438517792}"/>
              </a:ext>
            </a:extLst>
          </p:cNvPr>
          <p:cNvSpPr txBox="1"/>
          <p:nvPr/>
        </p:nvSpPr>
        <p:spPr>
          <a:xfrm>
            <a:off x="6555699" y="109171"/>
            <a:ext cx="5636301" cy="1815882"/>
          </a:xfrm>
          <a:prstGeom prst="rect">
            <a:avLst/>
          </a:prstGeom>
          <a:noFill/>
        </p:spPr>
        <p:txBody>
          <a:bodyPr wrap="square" rtlCol="0">
            <a:spAutoFit/>
          </a:bodyPr>
          <a:lstStyle/>
          <a:p>
            <a:r>
              <a:rPr lang="en-US" sz="1400"/>
              <a:t>Amazon doesn't accept crypto yet (beginning of 2022),</a:t>
            </a:r>
          </a:p>
          <a:p>
            <a:r>
              <a:rPr lang="en-US" sz="1400"/>
              <a:t>but you can use a debit or gift card. </a:t>
            </a:r>
          </a:p>
          <a:p>
            <a:r>
              <a:rPr lang="en-US" sz="1400"/>
              <a:t>Load them on BitPay:</a:t>
            </a:r>
          </a:p>
          <a:p>
            <a:endParaRPr lang="en-US" sz="1400"/>
          </a:p>
          <a:p>
            <a:pPr marL="380990" indent="-380990">
              <a:buFont typeface="Arial" panose="020B0604020202020204" pitchFamily="34" charset="0"/>
              <a:buChar char="•"/>
            </a:pPr>
            <a:r>
              <a:rPr lang="en-US" sz="1400" b="1">
                <a:solidFill>
                  <a:srgbClr val="00B050"/>
                </a:solidFill>
              </a:rPr>
              <a:t>BitPay debit card</a:t>
            </a:r>
            <a:r>
              <a:rPr lang="en-US" sz="1400"/>
              <a:t> – can be loaded using Bitcoin, Dogecoin, Ethereum, Bitcoin Cash, etc.</a:t>
            </a:r>
          </a:p>
          <a:p>
            <a:pPr marL="380990" indent="-380990">
              <a:buFont typeface="Arial" panose="020B0604020202020204" pitchFamily="34" charset="0"/>
              <a:buChar char="•"/>
            </a:pPr>
            <a:r>
              <a:rPr lang="en-US" sz="1400" b="1">
                <a:solidFill>
                  <a:srgbClr val="00B050"/>
                </a:solidFill>
              </a:rPr>
              <a:t>Amazon gift card</a:t>
            </a:r>
            <a:r>
              <a:rPr lang="en-US" sz="1400"/>
              <a:t> – can be purchased directly in the BitPay Wallet app or Extension</a:t>
            </a:r>
          </a:p>
        </p:txBody>
      </p:sp>
      <p:sp>
        <p:nvSpPr>
          <p:cNvPr id="5" name="TextBox 4">
            <a:extLst>
              <a:ext uri="{FF2B5EF4-FFF2-40B4-BE49-F238E27FC236}">
                <a16:creationId xmlns:a16="http://schemas.microsoft.com/office/drawing/2014/main" id="{5AAC695F-28B7-BC46-A9C7-5E0793F41F0B}"/>
              </a:ext>
            </a:extLst>
          </p:cNvPr>
          <p:cNvSpPr txBox="1"/>
          <p:nvPr/>
        </p:nvSpPr>
        <p:spPr>
          <a:xfrm>
            <a:off x="3768435" y="4033521"/>
            <a:ext cx="3509820" cy="2246769"/>
          </a:xfrm>
          <a:prstGeom prst="rect">
            <a:avLst/>
          </a:prstGeom>
          <a:noFill/>
        </p:spPr>
        <p:txBody>
          <a:bodyPr wrap="square" rtlCol="0">
            <a:spAutoFit/>
          </a:bodyPr>
          <a:lstStyle/>
          <a:p>
            <a:r>
              <a:rPr lang="en-US" sz="1400" b="1">
                <a:solidFill>
                  <a:srgbClr val="00B050"/>
                </a:solidFill>
              </a:rPr>
              <a:t>BitPay accepts invoice payments in:</a:t>
            </a:r>
          </a:p>
          <a:p>
            <a:pPr marL="228594" indent="-228594">
              <a:buFont typeface="Arial" panose="020B0604020202020204" pitchFamily="34" charset="0"/>
              <a:buChar char="•"/>
            </a:pPr>
            <a:r>
              <a:rPr lang="en-US" sz="1400"/>
              <a:t>Bitcoin (BTC),</a:t>
            </a:r>
          </a:p>
          <a:p>
            <a:pPr marL="228594" indent="-228594">
              <a:buFont typeface="Arial" panose="020B0604020202020204" pitchFamily="34" charset="0"/>
              <a:buChar char="•"/>
            </a:pPr>
            <a:r>
              <a:rPr lang="en-US" sz="1400"/>
              <a:t>Bitcoin Cash (BCH),</a:t>
            </a:r>
          </a:p>
          <a:p>
            <a:pPr marL="228594" indent="-228594">
              <a:buFont typeface="Arial" panose="020B0604020202020204" pitchFamily="34" charset="0"/>
              <a:buChar char="•"/>
            </a:pPr>
            <a:r>
              <a:rPr lang="en-US" sz="1400"/>
              <a:t>Ethereum (ETH),</a:t>
            </a:r>
          </a:p>
          <a:p>
            <a:pPr marL="228594" indent="-228594">
              <a:buFont typeface="Arial" panose="020B0604020202020204" pitchFamily="34" charset="0"/>
              <a:buChar char="•"/>
            </a:pPr>
            <a:r>
              <a:rPr lang="en-US" sz="1400"/>
              <a:t>Wrapped Bitcoin (</a:t>
            </a:r>
            <a:r>
              <a:rPr lang="en-US" sz="1400" i="1"/>
              <a:t>WBTC</a:t>
            </a:r>
            <a:r>
              <a:rPr lang="en-US" sz="1400"/>
              <a:t>),</a:t>
            </a:r>
          </a:p>
          <a:p>
            <a:pPr marL="228594" indent="-228594">
              <a:buFont typeface="Arial" panose="020B0604020202020204" pitchFamily="34" charset="0"/>
              <a:buChar char="•"/>
            </a:pPr>
            <a:r>
              <a:rPr lang="en-US" sz="1400"/>
              <a:t>Dogecoin (DOGE),</a:t>
            </a:r>
          </a:p>
          <a:p>
            <a:pPr marL="228594" indent="-228594">
              <a:buFont typeface="Arial" panose="020B0604020202020204" pitchFamily="34" charset="0"/>
              <a:buChar char="•"/>
            </a:pPr>
            <a:r>
              <a:rPr lang="en-US" sz="1400"/>
              <a:t>Litecoin (LTC),</a:t>
            </a:r>
          </a:p>
          <a:p>
            <a:pPr marL="228594" indent="-228594">
              <a:buFont typeface="Arial" panose="020B0604020202020204" pitchFamily="34" charset="0"/>
              <a:buChar char="•"/>
            </a:pPr>
            <a:r>
              <a:rPr lang="en-US" sz="1400"/>
              <a:t>Shiba Inu Coin (SHIB)</a:t>
            </a:r>
          </a:p>
          <a:p>
            <a:pPr marL="228594" indent="-228594">
              <a:buFont typeface="Arial" panose="020B0604020202020204" pitchFamily="34" charset="0"/>
              <a:buChar char="•"/>
            </a:pPr>
            <a:r>
              <a:rPr lang="en-US" sz="1400"/>
              <a:t>5 USD-pegged stablecoins (GUSD, USDC, USDP, DAI, BUSD)</a:t>
            </a:r>
          </a:p>
        </p:txBody>
      </p:sp>
      <p:sp>
        <p:nvSpPr>
          <p:cNvPr id="6" name="TextBox 5">
            <a:extLst>
              <a:ext uri="{FF2B5EF4-FFF2-40B4-BE49-F238E27FC236}">
                <a16:creationId xmlns:a16="http://schemas.microsoft.com/office/drawing/2014/main" id="{4B24B220-9855-0F40-8A2F-2BDA40F76211}"/>
              </a:ext>
            </a:extLst>
          </p:cNvPr>
          <p:cNvSpPr txBox="1"/>
          <p:nvPr/>
        </p:nvSpPr>
        <p:spPr>
          <a:xfrm>
            <a:off x="8801329" y="3671065"/>
            <a:ext cx="2798619" cy="2677656"/>
          </a:xfrm>
          <a:prstGeom prst="rect">
            <a:avLst/>
          </a:prstGeom>
          <a:noFill/>
        </p:spPr>
        <p:txBody>
          <a:bodyPr wrap="square" rtlCol="0">
            <a:spAutoFit/>
          </a:bodyPr>
          <a:lstStyle/>
          <a:p>
            <a:r>
              <a:rPr lang="en-US" sz="1400" b="1">
                <a:solidFill>
                  <a:srgbClr val="00B050"/>
                </a:solidFill>
              </a:rPr>
              <a:t>BitPay count by wallet:</a:t>
            </a:r>
          </a:p>
          <a:p>
            <a:pPr marL="380990" indent="-380990">
              <a:buFont typeface="Arial" panose="020B0604020202020204" pitchFamily="34" charset="0"/>
              <a:buChar char="•"/>
            </a:pPr>
            <a:r>
              <a:rPr lang="en-US" sz="1400"/>
              <a:t>BitPay</a:t>
            </a:r>
          </a:p>
          <a:p>
            <a:pPr marL="380990" indent="-380990">
              <a:buFont typeface="Arial" panose="020B0604020202020204" pitchFamily="34" charset="0"/>
              <a:buChar char="•"/>
            </a:pPr>
            <a:r>
              <a:rPr lang="en-US" sz="1400"/>
              <a:t>Trust Wallet</a:t>
            </a:r>
          </a:p>
          <a:p>
            <a:pPr marL="380990" indent="-380990">
              <a:buFont typeface="Arial" panose="020B0604020202020204" pitchFamily="34" charset="0"/>
              <a:buChar char="•"/>
            </a:pPr>
            <a:r>
              <a:rPr lang="en-US" sz="1400"/>
              <a:t>Exodus Wallet</a:t>
            </a:r>
          </a:p>
          <a:p>
            <a:pPr marL="380990" indent="-380990">
              <a:buFont typeface="Arial" panose="020B0604020202020204" pitchFamily="34" charset="0"/>
              <a:buChar char="•"/>
            </a:pPr>
            <a:r>
              <a:rPr lang="en-US" sz="1400"/>
              <a:t>Coinbase</a:t>
            </a:r>
          </a:p>
          <a:p>
            <a:pPr marL="380990" indent="-380990">
              <a:buFont typeface="Arial" panose="020B0604020202020204" pitchFamily="34" charset="0"/>
              <a:buChar char="•"/>
            </a:pPr>
            <a:r>
              <a:rPr lang="en-US" sz="1400"/>
              <a:t>Electrum Wallet</a:t>
            </a:r>
          </a:p>
          <a:p>
            <a:pPr marL="380990" indent="-380990">
              <a:buFont typeface="Arial" panose="020B0604020202020204" pitchFamily="34" charset="0"/>
              <a:buChar char="•"/>
            </a:pPr>
            <a:r>
              <a:rPr lang="en-US" sz="1400"/>
              <a:t>Metamask</a:t>
            </a:r>
          </a:p>
          <a:p>
            <a:pPr marL="380990" indent="-380990">
              <a:buFont typeface="Arial" panose="020B0604020202020204" pitchFamily="34" charset="0"/>
              <a:buChar char="•"/>
            </a:pPr>
            <a:r>
              <a:rPr lang="en-US" sz="1400"/>
              <a:t>Blockchain Wallet</a:t>
            </a:r>
          </a:p>
          <a:p>
            <a:pPr marL="380990" indent="-380990">
              <a:buFont typeface="Arial" panose="020B0604020202020204" pitchFamily="34" charset="0"/>
              <a:buChar char="•"/>
            </a:pPr>
            <a:r>
              <a:rPr lang="en-US" sz="1400"/>
              <a:t>Ledger Wallet</a:t>
            </a:r>
          </a:p>
          <a:p>
            <a:pPr marL="380990" indent="-380990">
              <a:buFont typeface="Arial" panose="020B0604020202020204" pitchFamily="34" charset="0"/>
              <a:buChar char="•"/>
            </a:pPr>
            <a:r>
              <a:rPr lang="en-US" sz="1400"/>
              <a:t>Coinbase Wallet</a:t>
            </a:r>
          </a:p>
          <a:p>
            <a:pPr marL="380990" indent="-380990">
              <a:buFont typeface="Arial" panose="020B0604020202020204" pitchFamily="34" charset="0"/>
              <a:buChar char="•"/>
            </a:pPr>
            <a:r>
              <a:rPr lang="en-US" sz="1400"/>
              <a:t>BitcoinCore</a:t>
            </a:r>
          </a:p>
          <a:p>
            <a:pPr marL="380990" indent="-380990">
              <a:buFont typeface="Arial" panose="020B0604020202020204" pitchFamily="34" charset="0"/>
              <a:buChar char="•"/>
            </a:pPr>
            <a:r>
              <a:rPr lang="en-US" sz="1400"/>
              <a:t>Other</a:t>
            </a:r>
          </a:p>
        </p:txBody>
      </p:sp>
    </p:spTree>
    <p:extLst>
      <p:ext uri="{BB962C8B-B14F-4D97-AF65-F5344CB8AC3E}">
        <p14:creationId xmlns:p14="http://schemas.microsoft.com/office/powerpoint/2010/main" val="57596114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5B644D5-D539-834F-9C14-7D8C99ADDADD}"/>
              </a:ext>
            </a:extLst>
          </p:cNvPr>
          <p:cNvSpPr txBox="1"/>
          <p:nvPr/>
        </p:nvSpPr>
        <p:spPr>
          <a:xfrm>
            <a:off x="1" y="74435"/>
            <a:ext cx="2997200" cy="523220"/>
          </a:xfrm>
          <a:prstGeom prst="rect">
            <a:avLst/>
          </a:prstGeom>
          <a:noFill/>
        </p:spPr>
        <p:txBody>
          <a:bodyPr wrap="square" rtlCol="0">
            <a:spAutoFit/>
          </a:bodyPr>
          <a:lstStyle/>
          <a:p>
            <a:r>
              <a:rPr lang="en-US" sz="2800" b="1"/>
              <a:t>The Giving Block</a:t>
            </a:r>
          </a:p>
        </p:txBody>
      </p:sp>
      <p:sp>
        <p:nvSpPr>
          <p:cNvPr id="3" name="TextBox 2">
            <a:extLst>
              <a:ext uri="{FF2B5EF4-FFF2-40B4-BE49-F238E27FC236}">
                <a16:creationId xmlns:a16="http://schemas.microsoft.com/office/drawing/2014/main" id="{0C7BC63F-67BA-1E45-BBA2-8A6F591284ED}"/>
              </a:ext>
            </a:extLst>
          </p:cNvPr>
          <p:cNvSpPr txBox="1"/>
          <p:nvPr/>
        </p:nvSpPr>
        <p:spPr>
          <a:xfrm>
            <a:off x="84083" y="1205406"/>
            <a:ext cx="8954813" cy="2462213"/>
          </a:xfrm>
          <a:prstGeom prst="rect">
            <a:avLst/>
          </a:prstGeom>
          <a:noFill/>
        </p:spPr>
        <p:txBody>
          <a:bodyPr wrap="square" rtlCol="0">
            <a:spAutoFit/>
          </a:bodyPr>
          <a:lstStyle/>
          <a:p>
            <a:pPr marL="380990" indent="-380990">
              <a:buFont typeface="Arial" panose="020B0604020202020204" pitchFamily="34" charset="0"/>
              <a:buChar char="•"/>
            </a:pPr>
            <a:r>
              <a:rPr lang="en-US" sz="1400"/>
              <a:t>Helps to accept donations in Bitcoin, Ethereum, etc.</a:t>
            </a:r>
          </a:p>
          <a:p>
            <a:pPr marL="380990" indent="-380990">
              <a:buFont typeface="Arial" panose="020B0604020202020204" pitchFamily="34" charset="0"/>
              <a:buChar char="•"/>
            </a:pPr>
            <a:r>
              <a:rPr lang="en-US" sz="1400"/>
              <a:t>Automatic conversion to US Dollars</a:t>
            </a:r>
          </a:p>
          <a:p>
            <a:pPr marL="380990" indent="-380990">
              <a:buFont typeface="Arial" panose="020B0604020202020204" pitchFamily="34" charset="0"/>
              <a:buChar char="•"/>
            </a:pPr>
            <a:r>
              <a:rPr lang="en-US" sz="1400"/>
              <a:t>Marketing support</a:t>
            </a:r>
          </a:p>
          <a:p>
            <a:pPr marL="380990" indent="-380990">
              <a:buFont typeface="Arial" panose="020B0604020202020204" pitchFamily="34" charset="0"/>
              <a:buChar char="•"/>
            </a:pPr>
            <a:r>
              <a:rPr lang="en-US" sz="1400"/>
              <a:t>Founded in 2018, Washington DC</a:t>
            </a:r>
          </a:p>
          <a:p>
            <a:pPr marL="380990" indent="-380990">
              <a:buFont typeface="Arial" panose="020B0604020202020204" pitchFamily="34" charset="0"/>
              <a:buChar char="•"/>
            </a:pPr>
            <a:r>
              <a:rPr lang="en-US" sz="1400"/>
              <a:t>1000+ nonprofits use it</a:t>
            </a:r>
            <a:br>
              <a:rPr lang="en-US" sz="1400"/>
            </a:br>
            <a:r>
              <a:rPr lang="en-US" sz="1400"/>
              <a:t>- </a:t>
            </a:r>
            <a:r>
              <a:rPr lang="en-US" sz="1400">
                <a:hlinkClick r:id="rId2"/>
              </a:rPr>
              <a:t>https://thegivingblock.com/resources/nonprofits-accepting-crypto-donations/</a:t>
            </a:r>
            <a:endParaRPr lang="en-US" sz="1400"/>
          </a:p>
          <a:p>
            <a:pPr marL="380990" indent="-380990">
              <a:buFont typeface="Arial" panose="020B0604020202020204" pitchFamily="34" charset="0"/>
              <a:buChar char="•"/>
            </a:pPr>
            <a:r>
              <a:rPr lang="en-US" sz="1400"/>
              <a:t>Donors get big tax incentive when donating cryptocurrencies directly to nonprofits.</a:t>
            </a:r>
            <a:br>
              <a:rPr lang="en-US" sz="1400"/>
            </a:br>
            <a:r>
              <a:rPr lang="en-US" sz="1400"/>
              <a:t>The IRS classifies cryptocurrencies as property, so cryptocurrency donations to 501c3 charities receive the same tax treatment as stocks</a:t>
            </a:r>
          </a:p>
          <a:p>
            <a:pPr marL="380990" indent="-380990">
              <a:buFont typeface="Arial" panose="020B0604020202020204" pitchFamily="34" charset="0"/>
              <a:buChar char="•"/>
            </a:pPr>
            <a:r>
              <a:rPr lang="en-US" sz="1400"/>
              <a:t>Community to raise awareness of crypto’s potential to fuel social good causes</a:t>
            </a:r>
          </a:p>
          <a:p>
            <a:pPr marL="380990" indent="-380990">
              <a:buFont typeface="Arial" panose="020B0604020202020204" pitchFamily="34" charset="0"/>
              <a:buChar char="•"/>
            </a:pPr>
            <a:r>
              <a:rPr lang="en-US" sz="1400"/>
              <a:t>Viral campaigns that empower nonprofits to connect with this new pool of donors</a:t>
            </a:r>
          </a:p>
        </p:txBody>
      </p:sp>
      <p:sp>
        <p:nvSpPr>
          <p:cNvPr id="4" name="TextBox 3">
            <a:extLst>
              <a:ext uri="{FF2B5EF4-FFF2-40B4-BE49-F238E27FC236}">
                <a16:creationId xmlns:a16="http://schemas.microsoft.com/office/drawing/2014/main" id="{80CA16BC-E03E-7F4E-AA47-045CE41887E6}"/>
              </a:ext>
            </a:extLst>
          </p:cNvPr>
          <p:cNvSpPr txBox="1"/>
          <p:nvPr/>
        </p:nvSpPr>
        <p:spPr>
          <a:xfrm>
            <a:off x="84083" y="697646"/>
            <a:ext cx="3363311" cy="307777"/>
          </a:xfrm>
          <a:prstGeom prst="rect">
            <a:avLst/>
          </a:prstGeom>
          <a:noFill/>
        </p:spPr>
        <p:txBody>
          <a:bodyPr wrap="square" rtlCol="0">
            <a:spAutoFit/>
          </a:bodyPr>
          <a:lstStyle/>
          <a:p>
            <a:r>
              <a:rPr lang="en-US" sz="1400"/>
              <a:t> - </a:t>
            </a:r>
            <a:r>
              <a:rPr lang="en-US" sz="1400">
                <a:hlinkClick r:id="rId3"/>
              </a:rPr>
              <a:t>https://thegivingblock.com</a:t>
            </a:r>
            <a:endParaRPr lang="en-US" sz="1400"/>
          </a:p>
        </p:txBody>
      </p:sp>
      <p:pic>
        <p:nvPicPr>
          <p:cNvPr id="5" name="Picture 4">
            <a:extLst>
              <a:ext uri="{FF2B5EF4-FFF2-40B4-BE49-F238E27FC236}">
                <a16:creationId xmlns:a16="http://schemas.microsoft.com/office/drawing/2014/main" id="{57D117C1-F096-094B-9743-2554AAEF93B2}"/>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071944" y="17769"/>
            <a:ext cx="3942256" cy="1058324"/>
          </a:xfrm>
          <a:prstGeom prst="rect">
            <a:avLst/>
          </a:prstGeom>
        </p:spPr>
      </p:pic>
      <p:sp>
        <p:nvSpPr>
          <p:cNvPr id="6" name="TextBox 5">
            <a:extLst>
              <a:ext uri="{FF2B5EF4-FFF2-40B4-BE49-F238E27FC236}">
                <a16:creationId xmlns:a16="http://schemas.microsoft.com/office/drawing/2014/main" id="{B21149F3-0D2C-2D4E-927C-8821AB37DA34}"/>
              </a:ext>
            </a:extLst>
          </p:cNvPr>
          <p:cNvSpPr txBox="1"/>
          <p:nvPr/>
        </p:nvSpPr>
        <p:spPr>
          <a:xfrm>
            <a:off x="409905" y="4666593"/>
            <a:ext cx="6453351" cy="1384995"/>
          </a:xfrm>
          <a:prstGeom prst="rect">
            <a:avLst/>
          </a:prstGeom>
          <a:noFill/>
        </p:spPr>
        <p:txBody>
          <a:bodyPr wrap="square" rtlCol="0">
            <a:spAutoFit/>
          </a:bodyPr>
          <a:lstStyle/>
          <a:p>
            <a:r>
              <a:rPr lang="en-US" sz="1400"/>
              <a:t>Example:</a:t>
            </a:r>
          </a:p>
          <a:p>
            <a:r>
              <a:rPr lang="en-US" sz="1400"/>
              <a:t>Action Against Hunger USA</a:t>
            </a:r>
          </a:p>
          <a:p>
            <a:r>
              <a:rPr lang="en-US" sz="1400"/>
              <a:t>Accepts regular payments on their website: </a:t>
            </a:r>
          </a:p>
          <a:p>
            <a:r>
              <a:rPr lang="en-US" sz="1400"/>
              <a:t>   </a:t>
            </a:r>
            <a:r>
              <a:rPr lang="en-US" sz="1400">
                <a:hlinkClick r:id="rId5"/>
              </a:rPr>
              <a:t>https://www.actionagainsthunger.org/</a:t>
            </a:r>
            <a:endParaRPr lang="en-US" sz="1400"/>
          </a:p>
          <a:p>
            <a:r>
              <a:rPr lang="en-US" sz="1400"/>
              <a:t>   </a:t>
            </a:r>
            <a:r>
              <a:rPr lang="en-US" sz="1400">
                <a:hlinkClick r:id="rId6"/>
              </a:rPr>
              <a:t>https://www.actionagainsthunger.org/story/donate-crypto</a:t>
            </a:r>
            <a:endParaRPr lang="en-US" sz="1400"/>
          </a:p>
          <a:p>
            <a:r>
              <a:rPr lang="en-US" sz="1400"/>
              <a:t>   </a:t>
            </a:r>
            <a:r>
              <a:rPr lang="en-US" sz="1400">
                <a:hlinkClick r:id="rId7"/>
              </a:rPr>
              <a:t>https://thegivingblock.com/donate/action-against-hunger/</a:t>
            </a:r>
            <a:endParaRPr lang="en-US" sz="1400"/>
          </a:p>
        </p:txBody>
      </p:sp>
    </p:spTree>
    <p:extLst>
      <p:ext uri="{BB962C8B-B14F-4D97-AF65-F5344CB8AC3E}">
        <p14:creationId xmlns:p14="http://schemas.microsoft.com/office/powerpoint/2010/main" val="109019535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7AC37B-D0A2-5941-96C7-EA0BABBA3D90}"/>
              </a:ext>
            </a:extLst>
          </p:cNvPr>
          <p:cNvSpPr txBox="1"/>
          <p:nvPr/>
        </p:nvSpPr>
        <p:spPr>
          <a:xfrm>
            <a:off x="0" y="0"/>
            <a:ext cx="5394960" cy="523220"/>
          </a:xfrm>
          <a:prstGeom prst="rect">
            <a:avLst/>
          </a:prstGeom>
          <a:noFill/>
        </p:spPr>
        <p:txBody>
          <a:bodyPr wrap="square" rtlCol="0">
            <a:spAutoFit/>
          </a:bodyPr>
          <a:lstStyle/>
          <a:p>
            <a:r>
              <a:rPr lang="en-US" sz="2800" b="1"/>
              <a:t>How to Accept Donations</a:t>
            </a:r>
          </a:p>
        </p:txBody>
      </p:sp>
      <p:sp>
        <p:nvSpPr>
          <p:cNvPr id="3" name="TextBox 2">
            <a:extLst>
              <a:ext uri="{FF2B5EF4-FFF2-40B4-BE49-F238E27FC236}">
                <a16:creationId xmlns:a16="http://schemas.microsoft.com/office/drawing/2014/main" id="{25A1532A-2686-DE49-816A-E5660674E37B}"/>
              </a:ext>
            </a:extLst>
          </p:cNvPr>
          <p:cNvSpPr txBox="1"/>
          <p:nvPr/>
        </p:nvSpPr>
        <p:spPr>
          <a:xfrm>
            <a:off x="0" y="1051394"/>
            <a:ext cx="6228080" cy="2246769"/>
          </a:xfrm>
          <a:prstGeom prst="rect">
            <a:avLst/>
          </a:prstGeom>
          <a:noFill/>
        </p:spPr>
        <p:txBody>
          <a:bodyPr wrap="square" rtlCol="0">
            <a:spAutoFit/>
          </a:bodyPr>
          <a:lstStyle/>
          <a:p>
            <a:r>
              <a:rPr lang="en-US" sz="1400"/>
              <a:t>Most donations are in Bitcoin (~90%)</a:t>
            </a:r>
          </a:p>
          <a:p>
            <a:r>
              <a:rPr lang="en-US" sz="1400"/>
              <a:t>Big websites have wizards to create donation pages:</a:t>
            </a:r>
          </a:p>
          <a:p>
            <a:endParaRPr lang="en-US" sz="1400"/>
          </a:p>
          <a:p>
            <a:pPr marL="380990" indent="-380990">
              <a:buFont typeface="Arial" panose="020B0604020202020204" pitchFamily="34" charset="0"/>
              <a:buChar char="•"/>
            </a:pPr>
            <a:r>
              <a:rPr lang="en-US" sz="1400"/>
              <a:t>Coinbase Commerce</a:t>
            </a:r>
          </a:p>
          <a:p>
            <a:pPr marL="380990" indent="-380990">
              <a:buFont typeface="Arial" panose="020B0604020202020204" pitchFamily="34" charset="0"/>
              <a:buChar char="•"/>
            </a:pPr>
            <a:r>
              <a:rPr lang="en-US" sz="1400"/>
              <a:t> - https://www.coinbase.com/learn/crypto-basics/how-to-donate-crypto</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BitPay</a:t>
            </a:r>
          </a:p>
          <a:p>
            <a:pPr marL="380990" indent="-380990">
              <a:buFont typeface="Arial" panose="020B0604020202020204" pitchFamily="34" charset="0"/>
              <a:buChar char="•"/>
            </a:pPr>
            <a:r>
              <a:rPr lang="en-US" sz="1400"/>
              <a:t>https://bitpay.com/docs/donations</a:t>
            </a:r>
          </a:p>
          <a:p>
            <a:pPr marL="380990" indent="-380990">
              <a:buFont typeface="Arial" panose="020B0604020202020204" pitchFamily="34" charset="0"/>
              <a:buChar char="•"/>
            </a:pPr>
            <a:endParaRPr lang="en-US" sz="1400"/>
          </a:p>
          <a:p>
            <a:pPr marL="380990" indent="-380990">
              <a:buFont typeface="Arial" panose="020B0604020202020204" pitchFamily="34" charset="0"/>
              <a:buChar char="•"/>
            </a:pPr>
            <a:r>
              <a:rPr lang="en-US" sz="1400"/>
              <a:t>etc.</a:t>
            </a:r>
          </a:p>
        </p:txBody>
      </p:sp>
      <p:sp>
        <p:nvSpPr>
          <p:cNvPr id="4" name="TextBox 3">
            <a:extLst>
              <a:ext uri="{FF2B5EF4-FFF2-40B4-BE49-F238E27FC236}">
                <a16:creationId xmlns:a16="http://schemas.microsoft.com/office/drawing/2014/main" id="{1F6488BC-4A06-044C-A7AB-ECD4411ADAEF}"/>
              </a:ext>
            </a:extLst>
          </p:cNvPr>
          <p:cNvSpPr txBox="1"/>
          <p:nvPr/>
        </p:nvSpPr>
        <p:spPr>
          <a:xfrm>
            <a:off x="7409792" y="358897"/>
            <a:ext cx="4677104" cy="1384995"/>
          </a:xfrm>
          <a:prstGeom prst="rect">
            <a:avLst/>
          </a:prstGeom>
          <a:noFill/>
        </p:spPr>
        <p:txBody>
          <a:bodyPr wrap="square" rtlCol="0">
            <a:spAutoFit/>
          </a:bodyPr>
          <a:lstStyle/>
          <a:p>
            <a:pPr marL="380990" indent="-380990">
              <a:buFont typeface="Arial" panose="020B0604020202020204" pitchFamily="34" charset="0"/>
              <a:buChar char="•"/>
            </a:pPr>
            <a:r>
              <a:rPr lang="en-US" sz="1400"/>
              <a:t>Crypto is private</a:t>
            </a:r>
          </a:p>
          <a:p>
            <a:pPr marL="380990" indent="-380990">
              <a:buFont typeface="Arial" panose="020B0604020202020204" pitchFamily="34" charset="0"/>
              <a:buChar char="•"/>
            </a:pPr>
            <a:r>
              <a:rPr lang="en-US" sz="1400"/>
              <a:t>Crypto can have tax advantages</a:t>
            </a:r>
          </a:p>
          <a:p>
            <a:pPr marL="380990" indent="-380990">
              <a:buFont typeface="Arial" panose="020B0604020202020204" pitchFamily="34" charset="0"/>
              <a:buChar char="•"/>
            </a:pPr>
            <a:r>
              <a:rPr lang="en-US" sz="1400"/>
              <a:t>Crypto donations can be cheaper for organizations to process</a:t>
            </a:r>
          </a:p>
          <a:p>
            <a:pPr marL="380990" indent="-380990">
              <a:buFont typeface="Arial" panose="020B0604020202020204" pitchFamily="34" charset="0"/>
              <a:buChar char="•"/>
            </a:pPr>
            <a:r>
              <a:rPr lang="en-US" sz="1400"/>
              <a:t>Stablecoins can make crypto giving less volatile</a:t>
            </a:r>
          </a:p>
          <a:p>
            <a:pPr marL="380990" indent="-380990">
              <a:buFont typeface="Arial" panose="020B0604020202020204" pitchFamily="34" charset="0"/>
              <a:buChar char="•"/>
            </a:pPr>
            <a:r>
              <a:rPr lang="en-US" sz="1400"/>
              <a:t>Which nonprofits accept crypto</a:t>
            </a:r>
          </a:p>
        </p:txBody>
      </p:sp>
    </p:spTree>
    <p:extLst>
      <p:ext uri="{BB962C8B-B14F-4D97-AF65-F5344CB8AC3E}">
        <p14:creationId xmlns:p14="http://schemas.microsoft.com/office/powerpoint/2010/main" val="3903701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FD3481-71DD-A043-81E0-6786FB048030}"/>
              </a:ext>
            </a:extLst>
          </p:cNvPr>
          <p:cNvSpPr txBox="1"/>
          <p:nvPr/>
        </p:nvSpPr>
        <p:spPr>
          <a:xfrm>
            <a:off x="1" y="1"/>
            <a:ext cx="2062479" cy="523220"/>
          </a:xfrm>
          <a:prstGeom prst="rect">
            <a:avLst/>
          </a:prstGeom>
          <a:noFill/>
        </p:spPr>
        <p:txBody>
          <a:bodyPr wrap="square" rtlCol="0">
            <a:spAutoFit/>
          </a:bodyPr>
          <a:lstStyle/>
          <a:p>
            <a:r>
              <a:rPr lang="en-US" sz="2800" b="1"/>
              <a:t>BitPay API</a:t>
            </a:r>
          </a:p>
        </p:txBody>
      </p:sp>
      <p:sp>
        <p:nvSpPr>
          <p:cNvPr id="3" name="TextBox 2">
            <a:extLst>
              <a:ext uri="{FF2B5EF4-FFF2-40B4-BE49-F238E27FC236}">
                <a16:creationId xmlns:a16="http://schemas.microsoft.com/office/drawing/2014/main" id="{69C26620-AAB0-664C-90D6-DE3EA0793581}"/>
              </a:ext>
            </a:extLst>
          </p:cNvPr>
          <p:cNvSpPr txBox="1"/>
          <p:nvPr/>
        </p:nvSpPr>
        <p:spPr>
          <a:xfrm>
            <a:off x="8962516" y="149856"/>
            <a:ext cx="2835706" cy="523220"/>
          </a:xfrm>
          <a:prstGeom prst="rect">
            <a:avLst/>
          </a:prstGeom>
          <a:noFill/>
        </p:spPr>
        <p:txBody>
          <a:bodyPr wrap="square" rtlCol="0">
            <a:spAutoFit/>
          </a:bodyPr>
          <a:lstStyle/>
          <a:p>
            <a:r>
              <a:rPr lang="en-US" sz="1400"/>
              <a:t>You can use REST API:</a:t>
            </a:r>
            <a:endParaRPr lang="en-US" sz="1400">
              <a:hlinkClick r:id="rId2"/>
            </a:endParaRPr>
          </a:p>
          <a:p>
            <a:r>
              <a:rPr lang="en-US" sz="1400">
                <a:hlinkClick r:id="rId2"/>
              </a:rPr>
              <a:t>https://bitpay.com/api/#rest-api</a:t>
            </a:r>
            <a:r>
              <a:rPr lang="en-US" sz="1400"/>
              <a:t> </a:t>
            </a:r>
          </a:p>
        </p:txBody>
      </p:sp>
      <p:sp>
        <p:nvSpPr>
          <p:cNvPr id="4" name="TextBox 3">
            <a:extLst>
              <a:ext uri="{FF2B5EF4-FFF2-40B4-BE49-F238E27FC236}">
                <a16:creationId xmlns:a16="http://schemas.microsoft.com/office/drawing/2014/main" id="{B73A2C03-C52B-B04E-9EF2-624F315CCB47}"/>
              </a:ext>
            </a:extLst>
          </p:cNvPr>
          <p:cNvSpPr txBox="1"/>
          <p:nvPr/>
        </p:nvSpPr>
        <p:spPr>
          <a:xfrm>
            <a:off x="8962516" y="3726491"/>
            <a:ext cx="3047818" cy="1015663"/>
          </a:xfrm>
          <a:prstGeom prst="rect">
            <a:avLst/>
          </a:prstGeom>
          <a:solidFill>
            <a:schemeClr val="accent4">
              <a:lumMod val="20000"/>
              <a:lumOff val="80000"/>
            </a:schemeClr>
          </a:solidFill>
        </p:spPr>
        <p:txBody>
          <a:bodyPr wrap="square" rtlCol="0">
            <a:spAutoFit/>
          </a:bodyPr>
          <a:lstStyle/>
          <a:p>
            <a:r>
              <a:rPr lang="en-US" sz="1000" b="1">
                <a:solidFill>
                  <a:srgbClr val="0070C0"/>
                </a:solidFill>
                <a:latin typeface="Menlo" panose="020B0609030804020204" pitchFamily="49" charset="0"/>
                <a:ea typeface="Menlo" panose="020B0609030804020204" pitchFamily="49" charset="0"/>
                <a:cs typeface="Menlo" panose="020B0609030804020204" pitchFamily="49" charset="0"/>
              </a:rPr>
              <a:t>from bitpay.client import Client </a:t>
            </a:r>
          </a:p>
          <a:p>
            <a:endParaRPr lang="en-US" sz="1000" b="1">
              <a:solidFill>
                <a:srgbClr val="0070C0"/>
              </a:solidFill>
              <a:latin typeface="Menlo" panose="020B0609030804020204" pitchFamily="49" charset="0"/>
              <a:ea typeface="Menlo" panose="020B0609030804020204" pitchFamily="49" charset="0"/>
              <a:cs typeface="Menlo" panose="020B0609030804020204" pitchFamily="49" charset="0"/>
            </a:endParaRPr>
          </a:p>
          <a:p>
            <a:r>
              <a:rPr lang="en-US" sz="1000" b="1">
                <a:solidFill>
                  <a:srgbClr val="00B050"/>
                </a:solidFill>
                <a:latin typeface="Menlo" panose="020B0609030804020204" pitchFamily="49" charset="0"/>
                <a:ea typeface="Menlo" panose="020B0609030804020204" pitchFamily="49" charset="0"/>
                <a:cs typeface="Menlo" panose="020B0609030804020204" pitchFamily="49" charset="0"/>
              </a:rPr>
              <a:t># myurl = "https://bitpay.com"</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myurl = </a:t>
            </a:r>
            <a:r>
              <a:rPr lang="en-US" sz="1000" b="1">
                <a:solidFill>
                  <a:srgbClr val="00B050"/>
                </a:solidFill>
                <a:latin typeface="Menlo" panose="020B0609030804020204" pitchFamily="49" charset="0"/>
                <a:ea typeface="Menlo" panose="020B0609030804020204" pitchFamily="49" charset="0"/>
                <a:cs typeface="Menlo" panose="020B0609030804020204" pitchFamily="49" charset="0"/>
              </a:rPr>
              <a:t>"https://test.bitpay.com"</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client = Client(api_uri=myurl)</a:t>
            </a:r>
            <a:endParaRPr lang="en-US" sz="1000" b="1">
              <a:solidFill>
                <a:srgbClr val="00B050"/>
              </a:solidFill>
              <a:latin typeface="Menlo" panose="020B0609030804020204" pitchFamily="49" charset="0"/>
              <a:ea typeface="Menlo" panose="020B0609030804020204" pitchFamily="49" charset="0"/>
              <a:cs typeface="Menlo" panose="020B0609030804020204" pitchFamily="49" charset="0"/>
            </a:endParaRP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client.pair_pos_client("abcdefg")</a:t>
            </a:r>
            <a:r>
              <a:rPr lang="en-US" sz="1000" b="1">
                <a:solidFill>
                  <a:srgbClr val="0070C0"/>
                </a:solidFill>
                <a:latin typeface="Menlo" panose="020B0609030804020204" pitchFamily="49" charset="0"/>
                <a:ea typeface="Menlo" panose="020B0609030804020204" pitchFamily="49" charset="0"/>
                <a:cs typeface="Menlo" panose="020B0609030804020204" pitchFamily="49" charset="0"/>
              </a:rPr>
              <a:t> </a:t>
            </a:r>
          </a:p>
        </p:txBody>
      </p:sp>
      <p:sp>
        <p:nvSpPr>
          <p:cNvPr id="5" name="TextBox 4">
            <a:extLst>
              <a:ext uri="{FF2B5EF4-FFF2-40B4-BE49-F238E27FC236}">
                <a16:creationId xmlns:a16="http://schemas.microsoft.com/office/drawing/2014/main" id="{3480956A-15D3-7C4E-B475-A8F2125421D0}"/>
              </a:ext>
            </a:extLst>
          </p:cNvPr>
          <p:cNvSpPr txBox="1"/>
          <p:nvPr/>
        </p:nvSpPr>
        <p:spPr>
          <a:xfrm>
            <a:off x="91439" y="585617"/>
            <a:ext cx="5892671" cy="2031325"/>
          </a:xfrm>
          <a:prstGeom prst="rect">
            <a:avLst/>
          </a:prstGeom>
          <a:noFill/>
        </p:spPr>
        <p:txBody>
          <a:bodyPr wrap="square" rtlCol="0">
            <a:spAutoFit/>
          </a:bodyPr>
          <a:lstStyle/>
          <a:p>
            <a:r>
              <a:rPr lang="en-US" sz="1400">
                <a:ea typeface="Menlo" panose="020B0609030804020204" pitchFamily="49" charset="0"/>
                <a:cs typeface="Menlo" panose="020B0609030804020204" pitchFamily="49" charset="0"/>
              </a:rPr>
              <a:t>To accept payments via BitPay you need to create a business BitPay account </a:t>
            </a:r>
          </a:p>
          <a:p>
            <a:r>
              <a:rPr lang="en-US" sz="1400">
                <a:ea typeface="Menlo" panose="020B0609030804020204" pitchFamily="49" charset="0"/>
                <a:cs typeface="Menlo" panose="020B0609030804020204" pitchFamily="49" charset="0"/>
              </a:rPr>
              <a:t>and link your business bank account to it.</a:t>
            </a:r>
          </a:p>
          <a:p>
            <a:r>
              <a:rPr lang="en-US" sz="1400">
                <a:ea typeface="Menlo" panose="020B0609030804020204" pitchFamily="49" charset="0"/>
                <a:cs typeface="Menlo" panose="020B0609030804020204" pitchFamily="49" charset="0"/>
              </a:rPr>
              <a:t>Then you get BitPay or test.bitpay merchant account. </a:t>
            </a:r>
          </a:p>
          <a:p>
            <a:r>
              <a:rPr lang="en-US" sz="1400">
                <a:ea typeface="Menlo" panose="020B0609030804020204" pitchFamily="49" charset="0"/>
                <a:cs typeface="Menlo" panose="020B0609030804020204" pitchFamily="49" charset="0"/>
              </a:rPr>
              <a:t>You can start here:</a:t>
            </a:r>
          </a:p>
          <a:p>
            <a:pPr marL="285750" indent="-285750">
              <a:buFont typeface="Arial" panose="020B0604020202020204" pitchFamily="34" charset="0"/>
              <a:buChar char="•"/>
            </a:pPr>
            <a:r>
              <a:rPr lang="en-US" sz="1400">
                <a:ea typeface="Menlo" panose="020B0609030804020204" pitchFamily="49" charset="0"/>
                <a:cs typeface="Menlo" panose="020B0609030804020204" pitchFamily="49" charset="0"/>
                <a:hlinkClick r:id="rId3"/>
              </a:rPr>
              <a:t>https://bitpay.com/dashboard/signup</a:t>
            </a:r>
            <a:r>
              <a:rPr lang="en-US" sz="1400">
                <a:ea typeface="Menlo" panose="020B0609030804020204" pitchFamily="49" charset="0"/>
                <a:cs typeface="Menlo" panose="020B0609030804020204" pitchFamily="49" charset="0"/>
              </a:rPr>
              <a:t>  </a:t>
            </a:r>
          </a:p>
          <a:p>
            <a:pPr marL="285750" indent="-285750">
              <a:buFont typeface="Arial" panose="020B0604020202020204" pitchFamily="34" charset="0"/>
              <a:buChar char="•"/>
            </a:pPr>
            <a:r>
              <a:rPr lang="en-US" sz="1400">
                <a:ea typeface="Menlo" panose="020B0609030804020204" pitchFamily="49" charset="0"/>
                <a:cs typeface="Menlo" panose="020B0609030804020204" pitchFamily="49" charset="0"/>
                <a:hlinkClick r:id="rId4"/>
              </a:rPr>
              <a:t>https://github.com/bitpay</a:t>
            </a:r>
            <a:r>
              <a:rPr lang="en-US" sz="1400">
                <a:ea typeface="Menlo" panose="020B0609030804020204" pitchFamily="49" charset="0"/>
                <a:cs typeface="Menlo" panose="020B0609030804020204" pitchFamily="49" charset="0"/>
              </a:rPr>
              <a:t>  - 200+ repositories </a:t>
            </a:r>
          </a:p>
          <a:p>
            <a:pPr marL="285750" indent="-285750">
              <a:buFont typeface="Arial" panose="020B0604020202020204" pitchFamily="34" charset="0"/>
              <a:buChar char="•"/>
            </a:pPr>
            <a:r>
              <a:rPr lang="en-US" sz="1400">
                <a:ea typeface="Menlo" panose="020B0609030804020204" pitchFamily="49" charset="0"/>
                <a:cs typeface="Menlo" panose="020B0609030804020204" pitchFamily="49" charset="0"/>
                <a:hlinkClick r:id="rId5"/>
              </a:rPr>
              <a:t>https://github.com/warpi/BitPay</a:t>
            </a:r>
            <a:r>
              <a:rPr lang="en-US" sz="1400">
                <a:ea typeface="Menlo" panose="020B0609030804020204" pitchFamily="49" charset="0"/>
                <a:cs typeface="Menlo" panose="020B0609030804020204" pitchFamily="49" charset="0"/>
              </a:rPr>
              <a:t> - android app</a:t>
            </a:r>
          </a:p>
          <a:p>
            <a:pPr marL="285750" indent="-285750">
              <a:buFont typeface="Arial" panose="020B0604020202020204" pitchFamily="34" charset="0"/>
              <a:buChar char="•"/>
            </a:pPr>
            <a:r>
              <a:rPr lang="en-US" sz="1400">
                <a:ea typeface="Menlo" panose="020B0609030804020204" pitchFamily="49" charset="0"/>
                <a:cs typeface="Menlo" panose="020B0609030804020204" pitchFamily="49" charset="0"/>
                <a:hlinkClick r:id="rId6"/>
              </a:rPr>
              <a:t>https://github.com/bitpay/python-bitpay-client</a:t>
            </a:r>
            <a:r>
              <a:rPr lang="en-US" sz="1400">
                <a:ea typeface="Menlo" panose="020B0609030804020204" pitchFamily="49" charset="0"/>
                <a:cs typeface="Menlo" panose="020B0609030804020204" pitchFamily="49" charset="0"/>
              </a:rPr>
              <a:t> – bitpay client</a:t>
            </a:r>
          </a:p>
          <a:p>
            <a:pPr marL="285750" indent="-285750">
              <a:buFont typeface="Arial" panose="020B0604020202020204" pitchFamily="34" charset="0"/>
              <a:buChar char="•"/>
            </a:pPr>
            <a:r>
              <a:rPr lang="en-US" sz="1400">
                <a:ea typeface="Menlo" panose="020B0609030804020204" pitchFamily="49" charset="0"/>
                <a:cs typeface="Menlo" panose="020B0609030804020204" pitchFamily="49" charset="0"/>
              </a:rPr>
              <a:t>... </a:t>
            </a:r>
          </a:p>
        </p:txBody>
      </p:sp>
      <p:sp>
        <p:nvSpPr>
          <p:cNvPr id="6" name="TextBox 5">
            <a:extLst>
              <a:ext uri="{FF2B5EF4-FFF2-40B4-BE49-F238E27FC236}">
                <a16:creationId xmlns:a16="http://schemas.microsoft.com/office/drawing/2014/main" id="{75D65544-4E36-654D-BB47-823ABA35412A}"/>
              </a:ext>
            </a:extLst>
          </p:cNvPr>
          <p:cNvSpPr txBox="1"/>
          <p:nvPr/>
        </p:nvSpPr>
        <p:spPr>
          <a:xfrm>
            <a:off x="56715" y="3029036"/>
            <a:ext cx="8111926" cy="3785652"/>
          </a:xfrm>
          <a:prstGeom prst="rect">
            <a:avLst/>
          </a:prstGeom>
          <a:noFill/>
        </p:spPr>
        <p:txBody>
          <a:bodyPr wrap="square" rtlCol="0">
            <a:spAutoFit/>
          </a:bodyPr>
          <a:lstStyle/>
          <a:p>
            <a:r>
              <a:rPr lang="en-US" sz="1000" b="1">
                <a:solidFill>
                  <a:srgbClr val="00B050"/>
                </a:solidFill>
                <a:latin typeface="Menlo" panose="020B0609030804020204" pitchFamily="49" charset="0"/>
                <a:ea typeface="Menlo" panose="020B0609030804020204" pitchFamily="49" charset="0"/>
                <a:cs typeface="Menlo" panose="020B0609030804020204" pitchFamily="49" charset="0"/>
              </a:rPr>
              <a:t># pip3 install bitpay</a:t>
            </a:r>
            <a:endParaRPr lang="en-US" sz="1000" b="1">
              <a:latin typeface="Menlo" panose="020B0609030804020204" pitchFamily="49" charset="0"/>
              <a:ea typeface="Menlo" panose="020B0609030804020204" pitchFamily="49" charset="0"/>
              <a:cs typeface="Menlo" panose="020B0609030804020204" pitchFamily="49" charset="0"/>
            </a:endParaRP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import bitpay </a:t>
            </a:r>
            <a:r>
              <a:rPr lang="en-US" sz="1000">
                <a:latin typeface="Menlo" panose="020B0609030804020204" pitchFamily="49" charset="0"/>
                <a:ea typeface="Menlo" panose="020B0609030804020204" pitchFamily="49" charset="0"/>
                <a:cs typeface="Menlo" panose="020B0609030804020204" pitchFamily="49" charset="0"/>
              </a:rPr>
              <a:t> </a:t>
            </a:r>
            <a:r>
              <a:rPr lang="en-US" sz="1000" b="1">
                <a:solidFill>
                  <a:srgbClr val="00B050"/>
                </a:solidFill>
                <a:latin typeface="Menlo" panose="020B0609030804020204" pitchFamily="49" charset="0"/>
                <a:ea typeface="Menlo" panose="020B0609030804020204" pitchFamily="49" charset="0"/>
                <a:cs typeface="Menlo" panose="020B0609030804020204" pitchFamily="49" charset="0"/>
              </a:rPr>
              <a:t># client config env exceptions models tokens utils</a:t>
            </a:r>
          </a:p>
          <a:p>
            <a:endParaRPr lang="en-US" sz="1000">
              <a:latin typeface="Menlo" panose="020B0609030804020204" pitchFamily="49" charset="0"/>
              <a:ea typeface="Menlo" panose="020B0609030804020204" pitchFamily="49" charset="0"/>
              <a:cs typeface="Menlo" panose="020B0609030804020204" pitchFamily="49" charset="0"/>
            </a:endParaRPr>
          </a:p>
          <a:p>
            <a:r>
              <a:rPr lang="en-US" sz="1000" b="1">
                <a:solidFill>
                  <a:srgbClr val="00B050"/>
                </a:solidFill>
                <a:latin typeface="Menlo" panose="020B0609030804020204" pitchFamily="49" charset="0"/>
                <a:ea typeface="Menlo" panose="020B0609030804020204" pitchFamily="49" charset="0"/>
                <a:cs typeface="Menlo" panose="020B0609030804020204" pitchFamily="49" charset="0"/>
              </a:rPr>
              <a:t># bitpay.client </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Bill                                 LedgerEntry                          Rate</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BillCreationException                LedgerQueryException                 RateQueryException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BillDeliveryException                os                                   Rates</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BillQueryException                   Payout                               Refund</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BillUpdateException                  PayoutBatch                          RefundCancellationException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BitPayException                      PayoutBatchCancellationException     RefundCreationException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Client                               PayoutBatchCreationException         RefundNotificationException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Config                               PayoutBatchNotificationException     RefundQueryException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Currency                             PayoutBatchQueryException            RefundUpdateException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CurrencyQueryException               PayoutCancellationException          RESTcli</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Facade                               PayoutCreationException              Settlement</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                              PayoutNotificationException          SettlementQueryException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InvoiceCancellationException         PayoutQueryException                 Subscription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InvoiceCreationException             PayoutRecipient                      SubscriptionCreationException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InvoiceNotificationException         PayoutRecipientCancellationException SubscriptionQueryException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InvoicePaymentException              PayoutRecipientCreationException     SubscriptionUpdateException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InvoiceQueryException                PayoutRecipientNotificationException Tokens</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InvoiceUpdateException               PayoutRecipientQueryException        Wallet</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json                                 PayoutRecipients                     WalletQueryException</a:t>
            </a:r>
          </a:p>
          <a:p>
            <a:r>
              <a:rPr lang="en-US" sz="1000" b="1">
                <a:solidFill>
                  <a:srgbClr val="00B0F0"/>
                </a:solidFill>
                <a:latin typeface="Menlo" panose="020B0609030804020204" pitchFamily="49" charset="0"/>
                <a:ea typeface="Menlo" panose="020B0609030804020204" pitchFamily="49" charset="0"/>
                <a:cs typeface="Menlo" panose="020B0609030804020204" pitchFamily="49" charset="0"/>
              </a:rPr>
              <a:t>Ledger                               PayoutRecipientUpdateException</a:t>
            </a:r>
          </a:p>
        </p:txBody>
      </p:sp>
      <p:sp>
        <p:nvSpPr>
          <p:cNvPr id="7" name="TextBox 6">
            <a:extLst>
              <a:ext uri="{FF2B5EF4-FFF2-40B4-BE49-F238E27FC236}">
                <a16:creationId xmlns:a16="http://schemas.microsoft.com/office/drawing/2014/main" id="{F1A18FC6-A66E-644B-BA8A-992616006403}"/>
              </a:ext>
            </a:extLst>
          </p:cNvPr>
          <p:cNvSpPr txBox="1"/>
          <p:nvPr/>
        </p:nvSpPr>
        <p:spPr>
          <a:xfrm>
            <a:off x="8947434" y="751834"/>
            <a:ext cx="3059961" cy="1785104"/>
          </a:xfrm>
          <a:prstGeom prst="rect">
            <a:avLst/>
          </a:prstGeom>
          <a:solidFill>
            <a:schemeClr val="accent6">
              <a:lumMod val="20000"/>
              <a:lumOff val="80000"/>
            </a:schemeClr>
          </a:solidFill>
        </p:spPr>
        <p:txBody>
          <a:bodyPr wrap="square" rtlCol="0">
            <a:spAutoFit/>
          </a:bodyPr>
          <a:lstStyle/>
          <a:p>
            <a:r>
              <a:rPr lang="en-US" sz="1000">
                <a:latin typeface="Menlo" panose="020B0609030804020204" pitchFamily="49" charset="0"/>
                <a:ea typeface="Menlo" panose="020B0609030804020204" pitchFamily="49" charset="0"/>
                <a:cs typeface="Menlo" panose="020B0609030804020204" pitchFamily="49" charset="0"/>
              </a:rPr>
              <a:t>curl -X POST \</a:t>
            </a:r>
          </a:p>
          <a:p>
            <a:r>
              <a:rPr lang="en-US" sz="1000">
                <a:latin typeface="Menlo" panose="020B0609030804020204" pitchFamily="49" charset="0"/>
                <a:ea typeface="Menlo" panose="020B0609030804020204" pitchFamily="49" charset="0"/>
                <a:cs typeface="Menlo" panose="020B0609030804020204" pitchFamily="49" charset="0"/>
              </a:rPr>
              <a:t>-H "X-Accept-Version: 2.0.0" \</a:t>
            </a:r>
          </a:p>
          <a:p>
            <a:r>
              <a:rPr lang="en-US" sz="1000">
                <a:latin typeface="Menlo" panose="020B0609030804020204" pitchFamily="49" charset="0"/>
                <a:ea typeface="Menlo" panose="020B0609030804020204" pitchFamily="49" charset="0"/>
                <a:cs typeface="Menlo" panose="020B0609030804020204" pitchFamily="49" charset="0"/>
              </a:rPr>
              <a:t>-H "Content-Type: application/json" \</a:t>
            </a:r>
          </a:p>
          <a:p>
            <a:r>
              <a:rPr lang="en-US" sz="1000">
                <a:latin typeface="Menlo" panose="020B0609030804020204" pitchFamily="49" charset="0"/>
                <a:ea typeface="Menlo" panose="020B0609030804020204" pitchFamily="49" charset="0"/>
                <a:cs typeface="Menlo" panose="020B0609030804020204" pitchFamily="49" charset="0"/>
              </a:rPr>
              <a:t>--url "https://bitpay.com/tokens" \</a:t>
            </a:r>
          </a:p>
          <a:p>
            <a:r>
              <a:rPr lang="en-US" sz="1000">
                <a:latin typeface="Menlo" panose="020B0609030804020204" pitchFamily="49" charset="0"/>
                <a:ea typeface="Menlo" panose="020B0609030804020204" pitchFamily="49" charset="0"/>
                <a:cs typeface="Menlo" panose="020B0609030804020204" pitchFamily="49" charset="0"/>
              </a:rPr>
              <a:t>-d @- &lt;&lt;'EOF'</a:t>
            </a:r>
          </a:p>
          <a:p>
            <a:r>
              <a:rPr lang="en-US" sz="1000">
                <a:latin typeface="Menlo" panose="020B0609030804020204" pitchFamily="49" charset="0"/>
                <a:ea typeface="Menlo" panose="020B0609030804020204" pitchFamily="49" charset="0"/>
                <a:cs typeface="Menlo" panose="020B0609030804020204" pitchFamily="49" charset="0"/>
              </a:rPr>
              <a:t>{</a:t>
            </a:r>
          </a:p>
          <a:p>
            <a:r>
              <a:rPr lang="en-US" sz="1000">
                <a:latin typeface="Menlo" panose="020B0609030804020204" pitchFamily="49" charset="0"/>
                <a:ea typeface="Menlo" panose="020B0609030804020204" pitchFamily="49" charset="0"/>
                <a:cs typeface="Menlo" panose="020B0609030804020204" pitchFamily="49" charset="0"/>
              </a:rPr>
              <a:t>  "id":"someID",</a:t>
            </a:r>
          </a:p>
          <a:p>
            <a:r>
              <a:rPr lang="en-US" sz="1000">
                <a:latin typeface="Menlo" panose="020B0609030804020204" pitchFamily="49" charset="0"/>
                <a:ea typeface="Menlo" panose="020B0609030804020204" pitchFamily="49" charset="0"/>
                <a:cs typeface="Menlo" panose="020B0609030804020204" pitchFamily="49" charset="0"/>
              </a:rPr>
              <a:t>  "label": "merchantwebsite.com",</a:t>
            </a:r>
          </a:p>
          <a:p>
            <a:r>
              <a:rPr lang="en-US" sz="1000">
                <a:latin typeface="Menlo" panose="020B0609030804020204" pitchFamily="49" charset="0"/>
                <a:ea typeface="Menlo" panose="020B0609030804020204" pitchFamily="49" charset="0"/>
                <a:cs typeface="Menlo" panose="020B0609030804020204" pitchFamily="49" charset="0"/>
              </a:rPr>
              <a:t>  "facade":"merchant"</a:t>
            </a:r>
          </a:p>
          <a:p>
            <a:r>
              <a:rPr lang="en-US" sz="1000">
                <a:latin typeface="Menlo" panose="020B0609030804020204" pitchFamily="49" charset="0"/>
                <a:ea typeface="Menlo" panose="020B0609030804020204" pitchFamily="49" charset="0"/>
                <a:cs typeface="Menlo" panose="020B0609030804020204" pitchFamily="49" charset="0"/>
              </a:rPr>
              <a:t>}</a:t>
            </a:r>
          </a:p>
          <a:p>
            <a:r>
              <a:rPr lang="en-US" sz="1000">
                <a:latin typeface="Menlo" panose="020B0609030804020204" pitchFamily="49" charset="0"/>
                <a:ea typeface="Menlo" panose="020B0609030804020204" pitchFamily="49" charset="0"/>
                <a:cs typeface="Menlo" panose="020B0609030804020204" pitchFamily="49" charset="0"/>
              </a:rPr>
              <a:t>EOF</a:t>
            </a:r>
          </a:p>
        </p:txBody>
      </p:sp>
      <p:sp>
        <p:nvSpPr>
          <p:cNvPr id="8" name="TextBox 7">
            <a:extLst>
              <a:ext uri="{FF2B5EF4-FFF2-40B4-BE49-F238E27FC236}">
                <a16:creationId xmlns:a16="http://schemas.microsoft.com/office/drawing/2014/main" id="{6D446333-8613-9240-A82A-B25B9B5F207D}"/>
              </a:ext>
            </a:extLst>
          </p:cNvPr>
          <p:cNvSpPr txBox="1"/>
          <p:nvPr/>
        </p:nvSpPr>
        <p:spPr>
          <a:xfrm>
            <a:off x="7609841" y="2580136"/>
            <a:ext cx="4582159" cy="1061829"/>
          </a:xfrm>
          <a:prstGeom prst="rect">
            <a:avLst/>
          </a:prstGeom>
          <a:noFill/>
        </p:spPr>
        <p:txBody>
          <a:bodyPr wrap="square" rtlCol="0">
            <a:spAutoFit/>
          </a:bodyPr>
          <a:lstStyle/>
          <a:p>
            <a:r>
              <a:rPr lang="en-US" sz="1400"/>
              <a:t>Alternatively you can use "</a:t>
            </a:r>
            <a:r>
              <a:rPr lang="en-US" sz="1400" b="1">
                <a:solidFill>
                  <a:srgbClr val="00B0F0"/>
                </a:solidFill>
              </a:rPr>
              <a:t>bitpay</a:t>
            </a:r>
            <a:r>
              <a:rPr lang="en-US" sz="1400"/>
              <a:t>" module which allows you </a:t>
            </a:r>
            <a:r>
              <a:rPr lang="en-US" sz="1400">
                <a:ea typeface="Menlo" panose="020B0609030804020204" pitchFamily="49" charset="0"/>
                <a:cs typeface="Menlo" panose="020B0609030804020204" pitchFamily="49" charset="0"/>
              </a:rPr>
              <a:t>to implement blockchain payments on your e-commerce website, authenticate with BitPay, create/retrieve invoices.</a:t>
            </a:r>
          </a:p>
          <a:p>
            <a:pPr marL="285750" indent="-285750">
              <a:buFont typeface="Arial" panose="020B0604020202020204" pitchFamily="34" charset="0"/>
              <a:buChar char="•"/>
            </a:pPr>
            <a:r>
              <a:rPr lang="en-US" sz="1050">
                <a:ea typeface="Menlo" panose="020B0609030804020204" pitchFamily="49" charset="0"/>
                <a:cs typeface="Menlo" panose="020B0609030804020204" pitchFamily="49" charset="0"/>
                <a:hlinkClick r:id="rId7"/>
              </a:rPr>
              <a:t>https://bitpay.com/integrations/python</a:t>
            </a:r>
            <a:r>
              <a:rPr lang="en-US" sz="1050">
                <a:ea typeface="Menlo" panose="020B0609030804020204" pitchFamily="49" charset="0"/>
                <a:cs typeface="Menlo" panose="020B0609030804020204" pitchFamily="49" charset="0"/>
              </a:rPr>
              <a:t> </a:t>
            </a:r>
          </a:p>
          <a:p>
            <a:pPr marL="285750" indent="-285750">
              <a:buFont typeface="Arial" panose="020B0604020202020204" pitchFamily="34" charset="0"/>
              <a:buChar char="•"/>
            </a:pPr>
            <a:r>
              <a:rPr lang="en-US" sz="1050">
                <a:ea typeface="Menlo" panose="020B0609030804020204" pitchFamily="49" charset="0"/>
                <a:cs typeface="Menlo" panose="020B0609030804020204" pitchFamily="49" charset="0"/>
                <a:hlinkClick r:id="rId8"/>
              </a:rPr>
              <a:t>https://github.com/bitpay/python-bitpay-client/blob/master/GUIDE.md</a:t>
            </a:r>
            <a:endParaRPr lang="en-US" sz="1050">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975243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4569D52-F4E3-944A-B594-5C7070C92B26}"/>
              </a:ext>
            </a:extLst>
          </p:cNvPr>
          <p:cNvSpPr txBox="1"/>
          <p:nvPr/>
        </p:nvSpPr>
        <p:spPr>
          <a:xfrm>
            <a:off x="233680" y="1107440"/>
            <a:ext cx="5963920" cy="523220"/>
          </a:xfrm>
          <a:prstGeom prst="rect">
            <a:avLst/>
          </a:prstGeom>
          <a:noFill/>
        </p:spPr>
        <p:txBody>
          <a:bodyPr wrap="square" rtlCol="0">
            <a:spAutoFit/>
          </a:bodyPr>
          <a:lstStyle/>
          <a:p>
            <a:r>
              <a:rPr lang="en-US" sz="1400"/>
              <a:t>blockonomics.co - Bitcoin payment gateway &amp; merchant processor. Accept bitcoin payments from your e-commerce shop directly to your wallet.</a:t>
            </a:r>
          </a:p>
        </p:txBody>
      </p:sp>
    </p:spTree>
    <p:extLst>
      <p:ext uri="{BB962C8B-B14F-4D97-AF65-F5344CB8AC3E}">
        <p14:creationId xmlns:p14="http://schemas.microsoft.com/office/powerpoint/2010/main" val="1237961325"/>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2515</TotalTime>
  <Words>4216</Words>
  <Application>Microsoft Macintosh PowerPoint</Application>
  <PresentationFormat>Widescreen</PresentationFormat>
  <Paragraphs>464</Paragraphs>
  <Slides>24</Slides>
  <Notes>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230</cp:revision>
  <dcterms:modified xsi:type="dcterms:W3CDTF">2022-04-20T16:54:18Z</dcterms:modified>
</cp:coreProperties>
</file>