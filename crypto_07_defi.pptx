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3"/>
  </p:notesMasterIdLst>
  <p:sldIdLst>
    <p:sldId id="32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76"/>
    <p:restoredTop sz="92374"/>
  </p:normalViewPr>
  <p:slideViewPr>
    <p:cSldViewPr snapToGrid="0" snapToObjects="1">
      <p:cViewPr varScale="1">
        <p:scale>
          <a:sx n="66" d="100"/>
          <a:sy n="66" d="100"/>
        </p:scale>
        <p:origin x="208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92342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838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4269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475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6515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25274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175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1413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741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42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432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5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4BED06-02E4-18DE-E9B4-6D76B33E3204}"/>
              </a:ext>
            </a:extLst>
          </p:cNvPr>
          <p:cNvSpPr txBox="1"/>
          <p:nvPr/>
        </p:nvSpPr>
        <p:spPr>
          <a:xfrm>
            <a:off x="71942" y="3040025"/>
            <a:ext cx="983034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LP</a:t>
            </a:r>
            <a:r>
              <a:rPr lang="en-US" sz="1400"/>
              <a:t> – Liquidity Providers; </a:t>
            </a:r>
            <a:r>
              <a:rPr lang="en-US" sz="1400" b="1">
                <a:solidFill>
                  <a:srgbClr val="FF0000"/>
                </a:solidFill>
              </a:rPr>
              <a:t>AMM</a:t>
            </a:r>
            <a:r>
              <a:rPr lang="en-US" sz="1400"/>
              <a:t> (Automatic Market maker); </a:t>
            </a:r>
            <a:r>
              <a:rPr lang="en-US" sz="1400" b="1">
                <a:solidFill>
                  <a:srgbClr val="FF0000"/>
                </a:solidFill>
              </a:rPr>
              <a:t>TVL</a:t>
            </a:r>
            <a:r>
              <a:rPr lang="en-US" sz="1400"/>
              <a:t> – Total Value Locked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IOTA</a:t>
            </a:r>
            <a:r>
              <a:rPr lang="en-US" sz="1400"/>
              <a:t> - open-source distributed ledger and cryptocurrency designed for the Internet of things (IoT)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MoonPay</a:t>
            </a:r>
            <a:r>
              <a:rPr lang="en-US" sz="1400"/>
              <a:t> - https://www.moonpay.com - fast and simple way to buy and sell crypto</a:t>
            </a:r>
            <a:endParaRPr lang="en-US" sz="1400" b="1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Yeti finance</a:t>
            </a:r>
            <a:r>
              <a:rPr lang="en-US" sz="1400"/>
              <a:t> - https://yetifinance.co - Borrow against your entire Avalanche portfolio interest-free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stargate</a:t>
            </a:r>
            <a:r>
              <a:rPr lang="en-US" sz="1400"/>
              <a:t> - https://stargate.finance/ - A fully composable native asset bridge with unified liquidity and instant guaranteed finality built on top of LayerZero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Convex Finance</a:t>
            </a:r>
            <a:r>
              <a:rPr lang="en-US" sz="1400"/>
              <a:t> - https://www.convexfinance.com – deposit liquidity, earn boosted CRV and rewards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Curve Finance (CRV token)</a:t>
            </a:r>
            <a:r>
              <a:rPr lang="en-US" sz="1400"/>
              <a:t> - https://resources.curve.fi – crypto swapping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Uniswap</a:t>
            </a:r>
            <a:r>
              <a:rPr lang="en-US" sz="1400"/>
              <a:t> - - https://uniswap.org - cryptocurrency exchange which uses a decentralized network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Balancer</a:t>
            </a:r>
            <a:r>
              <a:rPr lang="en-US" sz="1400"/>
              <a:t> - https://balancer.fi - Automated portfolio manager and trading platform</a:t>
            </a:r>
            <a:endParaRPr lang="en-US" sz="1400" b="1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Fantom (wFTM)</a:t>
            </a:r>
            <a:r>
              <a:rPr lang="en-US" sz="1400"/>
              <a:t> - https://fantom.foundation - fast, high-throughput open-source smart contract platform for digital assets and dApps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Vector</a:t>
            </a:r>
            <a:r>
              <a:rPr lang="en-US" sz="1400"/>
              <a:t> - https://vectorfinance.io/ - Deposit on Vector, the best yield booster on Avalanche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Platypus finance</a:t>
            </a:r>
            <a:r>
              <a:rPr lang="en-US" sz="1400"/>
              <a:t> - https://platypus.finance – decentralized exchange, AMM for stableswap. Lower Slippage. Simpler UX.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ACryptoS</a:t>
            </a:r>
            <a:r>
              <a:rPr lang="en-US" sz="1400"/>
              <a:t> - https://docs.acryptos.com - a yield farming optimizer on the Binance Smart Chain (BSC)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Defi Llama</a:t>
            </a:r>
            <a:r>
              <a:rPr lang="en-US" sz="1400"/>
              <a:t> - https://defillama.com - a multi-chain TVL stats dashboard, where data connectors are contributed by a community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Arrakis Finance</a:t>
            </a:r>
            <a:r>
              <a:rPr lang="en-US" sz="1400"/>
              <a:t> - https://www.arrakis.finance/ - web3 liquidity layer (automated community-owned protocol)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469CD-F847-CC08-33A0-C589F68CED74}"/>
              </a:ext>
            </a:extLst>
          </p:cNvPr>
          <p:cNvSpPr txBox="1"/>
          <p:nvPr/>
        </p:nvSpPr>
        <p:spPr>
          <a:xfrm>
            <a:off x="0" y="0"/>
            <a:ext cx="5393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Decentralized finance (DeFi)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31DBA-9ADF-E8AB-AE40-57957357B6DD}"/>
              </a:ext>
            </a:extLst>
          </p:cNvPr>
          <p:cNvSpPr txBox="1"/>
          <p:nvPr/>
        </p:nvSpPr>
        <p:spPr>
          <a:xfrm>
            <a:off x="27338" y="603365"/>
            <a:ext cx="78289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DeFi</a:t>
            </a:r>
            <a:r>
              <a:rPr lang="en-US" sz="1400"/>
              <a:t> - allows you to </a:t>
            </a:r>
            <a:r>
              <a:rPr lang="en-US" sz="1400" b="1">
                <a:solidFill>
                  <a:srgbClr val="00B050"/>
                </a:solidFill>
              </a:rPr>
              <a:t>stake, lend, borrow and trade</a:t>
            </a:r>
            <a:r>
              <a:rPr lang="en-US" sz="1400"/>
              <a:t> cryptocurrencies (similar how banks do that)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can </a:t>
            </a:r>
            <a:r>
              <a:rPr lang="en-US" sz="1400" b="1">
                <a:solidFill>
                  <a:srgbClr val="00B050"/>
                </a:solidFill>
              </a:rPr>
              <a:t>deposit</a:t>
            </a:r>
            <a:r>
              <a:rPr lang="en-US" sz="1400"/>
              <a:t> your cryptocurrency onto a </a:t>
            </a:r>
            <a:r>
              <a:rPr lang="en-US" sz="1400" b="1">
                <a:solidFill>
                  <a:srgbClr val="00B050"/>
                </a:solidFill>
              </a:rPr>
              <a:t>platform or protocol</a:t>
            </a:r>
            <a:r>
              <a:rPr lang="en-US" sz="1400"/>
              <a:t> that will pay you an APY (Annual Percentage Yield) for it. Most common deposits - Ethereum (ERC-20) token, or Ether (ETH), or a stablecoin like DAI or USDT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can do</a:t>
            </a:r>
            <a:r>
              <a:rPr lang="en-US" sz="1400" b="1">
                <a:solidFill>
                  <a:srgbClr val="00B050"/>
                </a:solidFill>
              </a:rPr>
              <a:t> liquidity mining (yield farming)</a:t>
            </a:r>
            <a:r>
              <a:rPr lang="en-US" sz="1400"/>
              <a:t>. You can </a:t>
            </a:r>
            <a:r>
              <a:rPr lang="en-US" sz="1400" b="1">
                <a:solidFill>
                  <a:srgbClr val="00B050"/>
                </a:solidFill>
              </a:rPr>
              <a:t>stake or trade rewards</a:t>
            </a:r>
            <a:r>
              <a:rPr lang="en-US" sz="1400"/>
              <a:t> that you get for depositing your crypto. Typically you are paid in native tokens of protocols or platforms you use. You can re-invest them, or trade on exchanges (DEXs like Uniswap)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can boost your returns with </a:t>
            </a:r>
            <a:r>
              <a:rPr lang="en-US" sz="1400" b="1">
                <a:solidFill>
                  <a:srgbClr val="00B050"/>
                </a:solidFill>
              </a:rPr>
              <a:t>borrowing and lending</a:t>
            </a:r>
            <a:r>
              <a:rPr lang="en-US" sz="1400"/>
              <a:t> (legal regulations apply 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can use</a:t>
            </a:r>
            <a:r>
              <a:rPr lang="en-US" sz="1400" b="1">
                <a:solidFill>
                  <a:srgbClr val="00B050"/>
                </a:solidFill>
              </a:rPr>
              <a:t> leverage/derivatives</a:t>
            </a:r>
            <a:r>
              <a:rPr lang="en-US" sz="1400"/>
              <a:t>, but this </a:t>
            </a:r>
            <a:r>
              <a:rPr lang="en-US" sz="1400" b="1">
                <a:solidFill>
                  <a:srgbClr val="00B050"/>
                </a:solidFill>
              </a:rPr>
              <a:t>multi-layered liquidity mining</a:t>
            </a:r>
            <a:r>
              <a:rPr lang="en-US" sz="1400"/>
              <a:t> increases the 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382D3-306C-5323-6F4D-5BFD67207853}"/>
              </a:ext>
            </a:extLst>
          </p:cNvPr>
          <p:cNvSpPr txBox="1"/>
          <p:nvPr/>
        </p:nvSpPr>
        <p:spPr>
          <a:xfrm>
            <a:off x="8501098" y="111280"/>
            <a:ext cx="3599396" cy="31085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Traditional Exchanges - </a:t>
            </a:r>
            <a:r>
              <a:rPr lang="en-US" sz="1400">
                <a:solidFill>
                  <a:srgbClr val="FF0000"/>
                </a:solidFill>
              </a:rPr>
              <a:t>Order-Book model</a:t>
            </a:r>
            <a:r>
              <a:rPr lang="en-US" sz="140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Buyers &amp; Sellers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Market Makers (Dealers) provide liquidity</a:t>
            </a:r>
          </a:p>
          <a:p>
            <a:endParaRPr lang="en-US" sz="1400"/>
          </a:p>
          <a:p>
            <a:r>
              <a:rPr lang="en-US" sz="1400"/>
              <a:t>DEFI – </a:t>
            </a:r>
            <a:r>
              <a:rPr lang="en-US" sz="1400" b="1">
                <a:solidFill>
                  <a:srgbClr val="FF0000"/>
                </a:solidFill>
              </a:rPr>
              <a:t>Liquidity Pools model</a:t>
            </a:r>
            <a:r>
              <a:rPr lang="en-US" sz="1400"/>
              <a:t> to facilitate swaps between coins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LPs (Liquidity Providers)</a:t>
            </a:r>
            <a:r>
              <a:rPr lang="en-US" sz="1400"/>
              <a:t> are compensated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Liquidity mining</a:t>
            </a:r>
            <a:r>
              <a:rPr lang="en-US" sz="1400"/>
              <a:t> - LPs are compensated more for providing liquidity where it is needed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Prices are adjusted automatically (</a:t>
            </a:r>
            <a:r>
              <a:rPr lang="en-US" sz="1400" b="1">
                <a:solidFill>
                  <a:srgbClr val="FF0000"/>
                </a:solidFill>
              </a:rPr>
              <a:t>AMM = Automatic Market Maker</a:t>
            </a:r>
            <a:r>
              <a:rPr lang="en-US" sz="1400"/>
              <a:t> algorithms)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larger the pool, the lesser </a:t>
            </a:r>
            <a:r>
              <a:rPr lang="en-US" sz="1400" b="1">
                <a:solidFill>
                  <a:srgbClr val="FF0000"/>
                </a:solidFill>
              </a:rPr>
              <a:t>slippage</a:t>
            </a:r>
            <a:r>
              <a:rPr lang="en-US" sz="1400"/>
              <a:t> (effect of a single trade on prices)</a:t>
            </a:r>
          </a:p>
        </p:txBody>
      </p:sp>
    </p:spTree>
    <p:extLst>
      <p:ext uri="{BB962C8B-B14F-4D97-AF65-F5344CB8AC3E}">
        <p14:creationId xmlns:p14="http://schemas.microsoft.com/office/powerpoint/2010/main" val="614671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2855</TotalTime>
  <Words>519</Words>
  <Application>Microsoft Macintosh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261</cp:revision>
  <dcterms:modified xsi:type="dcterms:W3CDTF">2022-04-30T01:08:33Z</dcterms:modified>
</cp:coreProperties>
</file>