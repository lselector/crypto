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4" r:id="rId1"/>
  </p:sldMasterIdLst>
  <p:notesMasterIdLst>
    <p:notesMasterId r:id="rId4"/>
  </p:notesMasterIdLst>
  <p:sldIdLst>
    <p:sldId id="314" r:id="rId2"/>
    <p:sldId id="294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673"/>
    <p:restoredTop sz="92357"/>
  </p:normalViewPr>
  <p:slideViewPr>
    <p:cSldViewPr snapToGrid="0" snapToObjects="1">
      <p:cViewPr varScale="1">
        <p:scale>
          <a:sx n="56" d="100"/>
          <a:sy n="56" d="100"/>
        </p:scale>
        <p:origin x="208" y="1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92342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8381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42699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74756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65155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25274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175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51413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741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6428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4327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250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www.youtube.com/watch?v=J3cQNpOR_a0" TargetMode="External"/><Relationship Id="rId7" Type="http://schemas.openxmlformats.org/officeDocument/2006/relationships/hyperlink" Target="https://bitpay.com/blog/bitpay-supports-lightning-network-payments/amp/" TargetMode="External"/><Relationship Id="rId12" Type="http://schemas.openxmlformats.org/officeDocument/2006/relationships/hyperlink" Target="https://ethereum.org/en/developers/docs/scaling/sidechain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oinbase.com/learn/crypto-basics/what-is-lightning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en.wikipedia.org/wiki/Lightning_Network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www.youtube.com/watch?v=XCSfoiD8wUA" TargetMode="Externa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en.wikipedia.org/wiki/Lightning_Network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en.m.wikipedia.org/wiki/Litecoin" TargetMode="Externa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36929E-1DCE-8C0B-503F-CE2CB5C81BFD}"/>
              </a:ext>
            </a:extLst>
          </p:cNvPr>
          <p:cNvSpPr txBox="1"/>
          <p:nvPr/>
        </p:nvSpPr>
        <p:spPr>
          <a:xfrm>
            <a:off x="0" y="644122"/>
            <a:ext cx="897555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Lightning Network is a "layer 2" payment protocol layered on top of a blockchain-based cryptocurrency such as bitcoin or litecoin.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Lightning Network allows users to send or receive Bitcoin quickly and cheaply by moving transactions off of the main blockchain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Lightning Network uses smart contracts to establish off-blockchain payment channels between pairs of users. Once these payment channels are established, funds can be transferred between them almost instantly.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2015 - Original paper by Joseph Poon and Thaddeus Dryja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Good videos: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3"/>
              </a:rPr>
              <a:t>https://www.youtube.com/watch?v=J3cQNpOR_a0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4"/>
              </a:rPr>
              <a:t>https://www.youtube.com/watch?v=XCSfoiD8wUA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Wikipedia - </a:t>
            </a:r>
            <a:r>
              <a:rPr lang="en-US" sz="1400">
                <a:hlinkClick r:id="rId5"/>
              </a:rPr>
              <a:t>https://en.wikipedia.org/wiki/Lightning_Network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Coinbase - </a:t>
            </a:r>
            <a:r>
              <a:rPr lang="en-US" sz="1400">
                <a:hlinkClick r:id="rId6"/>
              </a:rPr>
              <a:t>https://www.coinbase.com/learn/crypto-basics/what-is-lightning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BitPay - </a:t>
            </a:r>
            <a:r>
              <a:rPr lang="en-US" sz="1400">
                <a:hlinkClick r:id="rId7"/>
              </a:rPr>
              <a:t>https://bitpay.com/blog/bitpay-supports-lightning-network-payments/amp/</a:t>
            </a:r>
            <a:r>
              <a:rPr lang="en-US" sz="140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A4111-4981-B99A-8F37-7EEDE1A3BEEF}"/>
              </a:ext>
            </a:extLst>
          </p:cNvPr>
          <p:cNvSpPr txBox="1"/>
          <p:nvPr/>
        </p:nvSpPr>
        <p:spPr>
          <a:xfrm>
            <a:off x="0" y="0"/>
            <a:ext cx="4186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Lightning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85A5C-73CA-AA1B-975D-BE7EC6698CC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5284" y="0"/>
            <a:ext cx="1796716" cy="1796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FD85C6-2077-C2A4-D2AC-4C6250DD74C2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3200" y="5146837"/>
            <a:ext cx="2520730" cy="1622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6EBCDD-4838-A50D-3E9F-40ACE1E8F1F1}"/>
              </a:ext>
            </a:extLst>
          </p:cNvPr>
          <p:cNvSpPr txBox="1"/>
          <p:nvPr/>
        </p:nvSpPr>
        <p:spPr>
          <a:xfrm>
            <a:off x="0" y="3918807"/>
            <a:ext cx="3891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Ethereum Sidechains</a:t>
            </a:r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82EA42-C63B-1564-3822-1290019063DA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9958" y="2311100"/>
            <a:ext cx="1368372" cy="16077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FC536D-B96D-D537-2161-6F5671B7DACF}"/>
              </a:ext>
            </a:extLst>
          </p:cNvPr>
          <p:cNvSpPr txBox="1"/>
          <p:nvPr/>
        </p:nvSpPr>
        <p:spPr>
          <a:xfrm>
            <a:off x="8619958" y="3995007"/>
            <a:ext cx="136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Joseph Poon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60C16C-7C30-1DFE-7569-CB527C9FF583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4288" y="2311100"/>
            <a:ext cx="1249515" cy="16107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D42520-9E8F-C545-B4A9-89114AC4D461}"/>
              </a:ext>
            </a:extLst>
          </p:cNvPr>
          <p:cNvSpPr txBox="1"/>
          <p:nvPr/>
        </p:nvSpPr>
        <p:spPr>
          <a:xfrm>
            <a:off x="10161694" y="3946426"/>
            <a:ext cx="167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Thaddeus Dryja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E1E8F-1728-5B2F-0EFC-174BDDBD6E67}"/>
              </a:ext>
            </a:extLst>
          </p:cNvPr>
          <p:cNvSpPr txBox="1"/>
          <p:nvPr/>
        </p:nvSpPr>
        <p:spPr>
          <a:xfrm>
            <a:off x="0" y="4442027"/>
            <a:ext cx="54660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Sidechains are similar to Lightning Network – but for Ethereum: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12"/>
              </a:rPr>
              <a:t>https://ethereum.org/en/developers/docs/scaling/sidechains/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sidechain is a separate blockchain which runs in parallel to </a:t>
            </a:r>
            <a:br>
              <a:rPr lang="en-US" sz="1400"/>
            </a:br>
            <a:r>
              <a:rPr lang="en-US" sz="1400"/>
              <a:t>Ethereum Mainnet and operates independently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It has its own consensus algorithm (e.g. proof-of-authority, </a:t>
            </a:r>
            <a:br>
              <a:rPr lang="en-US" sz="1400"/>
            </a:br>
            <a:r>
              <a:rPr lang="en-US" sz="1400"/>
              <a:t>Delegated proof-of-stake, Byzantine fault tolerance)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It is connected to Mainnet by a two-way bridge</a:t>
            </a:r>
          </a:p>
        </p:txBody>
      </p:sp>
    </p:spTree>
    <p:extLst>
      <p:ext uri="{BB962C8B-B14F-4D97-AF65-F5344CB8AC3E}">
        <p14:creationId xmlns:p14="http://schemas.microsoft.com/office/powerpoint/2010/main" val="304471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E4D131-7508-F647-A392-A18116EF40E4}"/>
              </a:ext>
            </a:extLst>
          </p:cNvPr>
          <p:cNvSpPr txBox="1"/>
          <p:nvPr/>
        </p:nvSpPr>
        <p:spPr>
          <a:xfrm>
            <a:off x="1" y="508647"/>
            <a:ext cx="4490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hlinkClick r:id="rId2"/>
              </a:rPr>
              <a:t>https://en.wikipedia.org/wiki/Lightning_Network</a:t>
            </a: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96AE3-BE62-1A46-A8CB-DB50C13DC99A}"/>
              </a:ext>
            </a:extLst>
          </p:cNvPr>
          <p:cNvSpPr txBox="1"/>
          <p:nvPr/>
        </p:nvSpPr>
        <p:spPr>
          <a:xfrm>
            <a:off x="2" y="-4313"/>
            <a:ext cx="3159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Lightning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FFDCD7-CF6C-9140-B888-87776FBFBA83}"/>
              </a:ext>
            </a:extLst>
          </p:cNvPr>
          <p:cNvSpPr txBox="1"/>
          <p:nvPr/>
        </p:nvSpPr>
        <p:spPr>
          <a:xfrm>
            <a:off x="104745" y="1273954"/>
            <a:ext cx="776183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Lightning Network (LN) is a "layer 2" payment protocol layered on top of a blockchain-based cryptocurrency such as </a:t>
            </a:r>
            <a:r>
              <a:rPr lang="en-US" sz="1400" b="1">
                <a:solidFill>
                  <a:srgbClr val="00B050"/>
                </a:solidFill>
              </a:rPr>
              <a:t>bitcoin</a:t>
            </a:r>
            <a:r>
              <a:rPr lang="en-US" sz="1400"/>
              <a:t> or </a:t>
            </a:r>
            <a:r>
              <a:rPr lang="en-US" sz="1400" b="1">
                <a:solidFill>
                  <a:srgbClr val="00B050"/>
                </a:solidFill>
              </a:rPr>
              <a:t>litecoin</a:t>
            </a:r>
            <a:r>
              <a:rPr lang="en-US" sz="1400"/>
              <a:t>. </a:t>
            </a:r>
          </a:p>
          <a:p>
            <a:endParaRPr lang="en-US" sz="1400"/>
          </a:p>
          <a:p>
            <a:r>
              <a:rPr lang="en-US" sz="1400"/>
              <a:t>It is intended to enable fast transactions among participating nodes and has been proposed as a solution to the bitcoin scalability problem</a:t>
            </a:r>
          </a:p>
          <a:p>
            <a:endParaRPr lang="en-US" sz="1400"/>
          </a:p>
          <a:p>
            <a:r>
              <a:rPr lang="en-US" sz="1400"/>
              <a:t>Cryptocurrency exchanges such as </a:t>
            </a:r>
            <a:r>
              <a:rPr lang="en-US" sz="1400" b="1">
                <a:solidFill>
                  <a:srgbClr val="00B050"/>
                </a:solidFill>
              </a:rPr>
              <a:t>Bitfinex</a:t>
            </a:r>
            <a:r>
              <a:rPr lang="en-US" sz="1400"/>
              <a:t> use Lightning Network to enable deposits and withdrawals.</a:t>
            </a:r>
          </a:p>
          <a:p>
            <a:endParaRPr lang="en-US" sz="1400"/>
          </a:p>
          <a:p>
            <a:r>
              <a:rPr lang="en-US" sz="1400" b="1">
                <a:solidFill>
                  <a:srgbClr val="00B050"/>
                </a:solidFill>
              </a:rPr>
              <a:t>Laszlo Hanyecz</a:t>
            </a:r>
            <a:r>
              <a:rPr lang="en-US" sz="1400"/>
              <a:t>, who gained fame in the cryptocurrency community for paying </a:t>
            </a:r>
            <a:r>
              <a:rPr lang="en-US" sz="1400" b="1">
                <a:solidFill>
                  <a:srgbClr val="FF0000"/>
                </a:solidFill>
              </a:rPr>
              <a:t>10,000 BTC</a:t>
            </a:r>
            <a:r>
              <a:rPr lang="en-US" sz="1400"/>
              <a:t> for two pizzas in 2010, bought two more pizzas in 2018 using Lightning Network and paid </a:t>
            </a:r>
            <a:r>
              <a:rPr lang="en-US" sz="1400" b="1">
                <a:solidFill>
                  <a:srgbClr val="FF0000"/>
                </a:solidFill>
              </a:rPr>
              <a:t>0.00649 BTC</a:t>
            </a:r>
            <a:r>
              <a:rPr lang="en-US" sz="1400"/>
              <a:t>.</a:t>
            </a:r>
          </a:p>
          <a:p>
            <a:endParaRPr lang="en-US" sz="1400"/>
          </a:p>
          <a:p>
            <a:r>
              <a:rPr lang="en-US" sz="1400"/>
              <a:t>Zion (The Bitcoin Social Network) utilizes the Lightning Network running LND (LN Daemon) to send content peer-to-peer through channels.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B0B57F-5F21-C74C-AA63-39E97B09964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00901" y="674711"/>
            <a:ext cx="2026635" cy="2228149"/>
          </a:xfrm>
          <a:prstGeom prst="rect">
            <a:avLst/>
          </a:prstGeom>
        </p:spPr>
      </p:pic>
      <p:pic>
        <p:nvPicPr>
          <p:cNvPr id="1028" name="Picture 4" descr="10 Years On, Laszlo Hanyecz Has No Regrets About His $45M Bitcoin Pizzas -  CoinDesk">
            <a:extLst>
              <a:ext uri="{FF2B5EF4-FFF2-40B4-BE49-F238E27FC236}">
                <a16:creationId xmlns:a16="http://schemas.microsoft.com/office/drawing/2014/main" id="{99ACE604-8E98-B64B-8769-A09521AA71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600899" y="3493381"/>
            <a:ext cx="2026636" cy="1621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3F2D1B-1755-C64C-AC38-5A8A78F14C16}"/>
              </a:ext>
            </a:extLst>
          </p:cNvPr>
          <p:cNvSpPr txBox="1"/>
          <p:nvPr/>
        </p:nvSpPr>
        <p:spPr>
          <a:xfrm>
            <a:off x="9721611" y="2932582"/>
            <a:ext cx="1798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Laszlo Hanyecz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7D84C-59BA-1C4E-B325-53C56ED86372}"/>
              </a:ext>
            </a:extLst>
          </p:cNvPr>
          <p:cNvSpPr txBox="1"/>
          <p:nvPr/>
        </p:nvSpPr>
        <p:spPr>
          <a:xfrm>
            <a:off x="150471" y="5219618"/>
            <a:ext cx="7037407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Note about </a:t>
            </a:r>
            <a:r>
              <a:rPr lang="en-US" sz="1400" b="1">
                <a:solidFill>
                  <a:srgbClr val="00B050"/>
                </a:solidFill>
              </a:rPr>
              <a:t>Litecoin </a:t>
            </a:r>
            <a:r>
              <a:rPr lang="en-US" sz="1400"/>
              <a:t>:  Litecoin (2011) is a bitcoin fork (faster block generation, larger max number of coins, different hashing algorithm, etc.) </a:t>
            </a:r>
            <a:r>
              <a:rPr lang="en-US" sz="1400">
                <a:hlinkClick r:id="rId5"/>
              </a:rPr>
              <a:t>https://en.m.wikipedia.org/wiki/Litecoin</a:t>
            </a:r>
            <a:endParaRPr lang="en-US" sz="140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22AF8C81-FFD1-5046-883E-D70FEB14AAE1}"/>
              </a:ext>
            </a:extLst>
          </p:cNvPr>
          <p:cNvSpPr/>
          <p:nvPr/>
        </p:nvSpPr>
        <p:spPr>
          <a:xfrm rot="20262202">
            <a:off x="8126089" y="2938589"/>
            <a:ext cx="1110559" cy="3983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884162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2830</TotalTime>
  <Words>433</Words>
  <Application>Microsoft Macintosh PowerPoint</Application>
  <PresentationFormat>Widescreen</PresentationFormat>
  <Paragraphs>29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265</cp:revision>
  <dcterms:modified xsi:type="dcterms:W3CDTF">2022-05-03T01:57:52Z</dcterms:modified>
</cp:coreProperties>
</file>